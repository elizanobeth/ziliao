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642938"/>
            <a:ext cx="182132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1" kern="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ANTHROPIC ENTERPRISE CASES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705470" y="642938"/>
            <a:ext cx="196704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1" kern="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EVIDENCE-BASED RESEARCH DECK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85788" y="1226939"/>
            <a:ext cx="5429250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3300" b="1" spc="-2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Anthropic</a:t>
            </a:r>
            <a:r>
              <a:rPr lang="en-US" sz="3300" b="1" spc="-2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3300" b="1" spc="-2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To B 案例研究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585788" y="2329923"/>
            <a:ext cx="5429250" cy="279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F3A45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标杆客户与供应链相关落地案例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85788" y="2823902"/>
            <a:ext cx="5429250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Manus AI｜2026-06-11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372225" y="1348383"/>
            <a:ext cx="2143125" cy="5014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4050" b="1" spc="-4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16</a:t>
            </a:r>
            <a:endParaRPr lang="en-US" sz="4050" dirty="0"/>
          </a:p>
        </p:txBody>
      </p:sp>
      <p:sp>
        <p:nvSpPr>
          <p:cNvPr id="9" name="Text 6"/>
          <p:cNvSpPr/>
          <p:nvPr/>
        </p:nvSpPr>
        <p:spPr>
          <a:xfrm>
            <a:off x="6372225" y="1949881"/>
            <a:ext cx="2143125" cy="559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浅色模板</a:t>
            </a:r>
            <a:r>
              <a:rPr lang="en-US" sz="900" b="1" dirty="0">
                <a:solidFill>
                  <a:srgbClr val="113B5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
</a:t>
            </a:r>
            <a:r>
              <a:rPr lang="en-US" sz="900" b="1" dirty="0">
                <a:solidFill>
                  <a:srgbClr val="113B5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可考来源</a:t>
            </a:r>
            <a:r>
              <a:rPr lang="en-US" sz="900" b="1" dirty="0">
                <a:solidFill>
                  <a:srgbClr val="113B5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
</a:t>
            </a:r>
            <a:r>
              <a:rPr lang="en-US" sz="900" b="1" dirty="0">
                <a:solidFill>
                  <a:srgbClr val="113B5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案例分层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372225" y="2580624"/>
            <a:ext cx="21431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官方客户案例，官方合作公告与第三方生态案例分别标注，避免证据强度混同。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00038"/>
            <a:ext cx="822960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EA5C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METHODOLOGY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457200" y="519708"/>
            <a:ext cx="8229600" cy="279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spc="-1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研究口径：只采用可考来源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57200" y="1099049"/>
            <a:ext cx="2500313" cy="1189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9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本报告优先采用 </a:t>
            </a:r>
            <a:r>
              <a:rPr lang="en-US" sz="900" b="1" dirty="0">
                <a:solidFill>
                  <a:srgbClr val="113B5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Anthropic/Claude、SAP、Duvo</a:t>
            </a:r>
            <a:r>
              <a:rPr lang="en-US" sz="9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等官方页面，其次采用明确标</a:t>
            </a:r>
            <a:r>
              <a:rPr lang="en-US" sz="9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注为第三方新闻稿的公开信息。供应链部分</a:t>
            </a:r>
            <a:r>
              <a:rPr lang="en-US" sz="9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区分已实施客户案例、官方合作/计划集成案</a:t>
            </a:r>
            <a:r>
              <a:rPr lang="en-US" sz="9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例与第三方生态案例。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328988" y="1099049"/>
            <a:ext cx="562821" cy="210741"/>
          </a:xfrm>
          <a:prstGeom prst="rect">
            <a:avLst/>
          </a:prstGeom>
          <a:noFill/>
          <a:ln/>
        </p:spPr>
        <p:txBody>
          <a:bodyPr wrap="none" lIns="8509" tIns="0" rIns="8509" bIns="51054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13B5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证据等级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891809" y="1099049"/>
            <a:ext cx="1600758" cy="210741"/>
          </a:xfrm>
          <a:prstGeom prst="rect">
            <a:avLst/>
          </a:prstGeom>
          <a:noFill/>
          <a:ln/>
        </p:spPr>
        <p:txBody>
          <a:bodyPr wrap="none" lIns="8509" tIns="0" rIns="8509" bIns="51054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13B5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纳入案例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492567" y="1099049"/>
            <a:ext cx="3194233" cy="210741"/>
          </a:xfrm>
          <a:prstGeom prst="rect">
            <a:avLst/>
          </a:prstGeom>
          <a:noFill/>
          <a:ln/>
        </p:spPr>
        <p:txBody>
          <a:bodyPr wrap="none" lIns="8509" tIns="0" rIns="8509" bIns="51054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13B5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使用方式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3336131" y="1390157"/>
            <a:ext cx="5357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官方已实施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91809" y="1309790"/>
            <a:ext cx="1600758" cy="314325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Slack、Notion、Duvo × Rohlik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492567" y="1309790"/>
            <a:ext cx="3194233" cy="314325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作为主要案例展开，引用公开指标与客户描述。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336131" y="1700910"/>
            <a:ext cx="4286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官方合作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891809" y="1624115"/>
            <a:ext cx="1600758" cy="310753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SAP × Anthropic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492567" y="1624115"/>
            <a:ext cx="3194233" cy="310753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作为供应链相关平台合作案例，说明能力方向但不夸大落地结果。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36131" y="2011663"/>
            <a:ext cx="5357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第三方生态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891809" y="1934868"/>
            <a:ext cx="1600758" cy="310753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GreenCore / TreeFree Diaper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492567" y="1934868"/>
            <a:ext cx="3194233" cy="310753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作为 MCP 与代理采购生态案例，明确来源边界。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57200" y="2431247"/>
            <a:ext cx="8229600" cy="262868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资料来自 Claude 客户故事页、Anthropic 官方新闻、SAP 官方新闻、Duvo 官方客户故事以及 PR Newswire 转载页面。[1] [2] [3] [4] [5]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8401050" y="4880967"/>
            <a:ext cx="28575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A93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/ 15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00038"/>
            <a:ext cx="822960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EA5C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ENTERPRISE PATH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457200" y="519708"/>
            <a:ext cx="8229600" cy="279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spc="-1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To B 路径：从模型到业务代理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57200" y="1013324"/>
            <a:ext cx="714375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Anthropic 的企业落地并不只表现为“聊天机器人”，而是围绕 </a:t>
            </a:r>
            <a:r>
              <a:rPr lang="en-US" sz="1000" b="1" dirty="0">
                <a:solidFill>
                  <a:srgbClr val="113B5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企业知识检索、协作工作流、软件工程、采购与供应链代理</a:t>
            </a:r>
            <a:r>
              <a:rPr lang="en-US" sz="10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等高频流程嵌入客户系统。[1] [2] [6]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1763418"/>
            <a:ext cx="2581266" cy="351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b="1" spc="-1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2172398"/>
            <a:ext cx="2581266" cy="21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模型推理与长上下文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2474221"/>
            <a:ext cx="2581266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处理长讨论、文档、邮件与系统页面，将非结构化企业知识转为可检索、可行动的信息。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281353" y="1763418"/>
            <a:ext cx="2581266" cy="351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b="1" spc="-1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281353" y="2172398"/>
            <a:ext cx="2581266" cy="21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工具与系统连接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281353" y="2474221"/>
            <a:ext cx="2581266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 MCP、Agent SDK 与 computer use，让代理跨 ERP、供应商门户、协作工具和业务系统执行任务。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105506" y="1763418"/>
            <a:ext cx="2581294" cy="351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b="1" spc="-1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105506" y="2172398"/>
            <a:ext cx="2581294" cy="21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企业治理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105506" y="2474221"/>
            <a:ext cx="2581294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 Zero Data Retention、人类审批、审计轨迹等机制，满足大型企业安全、合规和可追溯要求。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7200" y="3156449"/>
            <a:ext cx="192881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核心变化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28900" y="3156449"/>
            <a:ext cx="605790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Claude 从单次问答能力扩展为“可连接、可执行、可治理”的企业流程层，后续案例均围绕这一变化展开。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401050" y="4923830"/>
            <a:ext cx="28575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A93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/ 15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1463"/>
            <a:ext cx="822960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EA5C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PLAIN ANSWER · WHAT AI ACTUALLY DID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457200" y="476845"/>
            <a:ext cx="8229600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750" b="1" spc="-1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一页看懂：Claude 到底帮企业做什么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457200" y="956900"/>
            <a:ext cx="7772400" cy="35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不要把这些案例理解成“企业买了一个聊天机器人”。更准确地说，</a:t>
            </a:r>
            <a:r>
              <a:rPr lang="en-US" sz="8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Claude 被嵌入企业已有软件与业务系统，替员工读信息、总结、判断、生成材料、联络外部对象，并在规则内推进流程。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1454060"/>
            <a:ext cx="1181900" cy="257175"/>
          </a:xfrm>
          <a:prstGeom prst="rect">
            <a:avLst/>
          </a:prstGeom>
          <a:noFill/>
          <a:ln/>
        </p:spPr>
        <p:txBody>
          <a:bodyPr wrap="square" lIns="8509" tIns="0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案例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1639100" y="1454060"/>
            <a:ext cx="1874983" cy="257175"/>
          </a:xfrm>
          <a:prstGeom prst="rect">
            <a:avLst/>
          </a:prstGeom>
          <a:noFill/>
          <a:ln/>
        </p:spPr>
        <p:txBody>
          <a:bodyPr wrap="square" lIns="8509" tIns="0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原本卡在哪里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514083" y="1454060"/>
            <a:ext cx="3334150" cy="257175"/>
          </a:xfrm>
          <a:prstGeom prst="rect">
            <a:avLst/>
          </a:prstGeom>
          <a:noFill/>
          <a:ln/>
        </p:spPr>
        <p:txBody>
          <a:bodyPr wrap="square" lIns="8509" tIns="0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Claude / AI 具体做了什么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6848233" y="1454060"/>
            <a:ext cx="1838567" cy="257175"/>
          </a:xfrm>
          <a:prstGeom prst="rect">
            <a:avLst/>
          </a:prstGeom>
          <a:noFill/>
          <a:ln/>
        </p:spPr>
        <p:txBody>
          <a:bodyPr wrap="square" lIns="8509" tIns="0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产生什么结果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64344" y="1789816"/>
            <a:ext cx="1167612" cy="1396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Slack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64344" y="1965173"/>
            <a:ext cx="116761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企业协作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1639100" y="1711235"/>
            <a:ext cx="1874983" cy="560784"/>
          </a:xfrm>
          <a:prstGeom prst="rect">
            <a:avLst/>
          </a:prstGeom>
          <a:noFill/>
          <a:ln/>
        </p:spPr>
        <p:txBody>
          <a:bodyPr wrap="square" lIns="8509" tIns="85090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消息、线程、会议太多，员工找不到上下文。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521227" y="1786244"/>
            <a:ext cx="1955602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搜索、阅读、摘要、生成 recap 和会议笔记。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3521227" y="1786244"/>
            <a:ext cx="3280767" cy="275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Claude 把分散对话整理成可查询的组织知识。[7]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6848233" y="1711235"/>
            <a:ext cx="1838567" cy="560784"/>
          </a:xfrm>
          <a:prstGeom prst="rect">
            <a:avLst/>
          </a:prstGeom>
          <a:noFill/>
          <a:ln/>
        </p:spPr>
        <p:txBody>
          <a:bodyPr wrap="square" lIns="8509" tIns="85090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官方披露平均用户每周节省 97 分钟。[7]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64344" y="2347029"/>
            <a:ext cx="1167612" cy="1396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Notion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64344" y="2522386"/>
            <a:ext cx="116761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团队工作流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1639100" y="2272019"/>
            <a:ext cx="1874983" cy="557213"/>
          </a:xfrm>
          <a:prstGeom prst="rect">
            <a:avLst/>
          </a:prstGeom>
          <a:noFill/>
          <a:ln/>
        </p:spPr>
        <p:txBody>
          <a:bodyPr wrap="square" lIns="8509" tIns="85090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任务、文档、PRD、设计系统和审批分散。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3521227" y="2343457"/>
            <a:ext cx="3146822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从任务板触发 agents，读取上下文，并发生成原型、页面、文档和演示。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6668049" y="2343457"/>
            <a:ext cx="117872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[2]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6848233" y="2272019"/>
            <a:ext cx="1838567" cy="557213"/>
          </a:xfrm>
          <a:prstGeom prst="rect">
            <a:avLst/>
          </a:prstGeom>
          <a:noFill/>
          <a:ln/>
        </p:spPr>
        <p:txBody>
          <a:bodyPr wrap="square" lIns="8509" tIns="85090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30+ agent tasks 可并发；约 12 小时原型缩至约 20 分钟。[2]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64344" y="2904241"/>
            <a:ext cx="1167612" cy="1396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Duvo / Rohlik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64344" y="3079598"/>
            <a:ext cx="116761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供应链执行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1639100" y="2829232"/>
            <a:ext cx="1874983" cy="557213"/>
          </a:xfrm>
          <a:prstGeom prst="rect">
            <a:avLst/>
          </a:prstGeom>
          <a:noFill/>
          <a:ln/>
        </p:spPr>
        <p:txBody>
          <a:bodyPr wrap="square" lIns="8509" tIns="85090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采购与供应链流程跨 ERP、供应商门户、邮件和表格。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521227" y="2900669"/>
            <a:ext cx="3257550" cy="275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登录系统、核对订单/价格/日期、识别异常、发邮件跟进、升级给人类或写回系统。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3810549" y="3034754"/>
            <a:ext cx="117872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[3]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6848233" y="2829232"/>
            <a:ext cx="1838567" cy="557213"/>
          </a:xfrm>
          <a:prstGeom prst="rect">
            <a:avLst/>
          </a:prstGeom>
          <a:noFill/>
          <a:ln/>
        </p:spPr>
        <p:txBody>
          <a:bodyPr wrap="square" lIns="8509" tIns="85090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三个月内 €2.8M+ 年化节省；可得率 78%→93%。[3]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464344" y="3461454"/>
            <a:ext cx="1167612" cy="1396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SAP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64344" y="3636811"/>
            <a:ext cx="116761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核心系统平台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1639100" y="3386444"/>
            <a:ext cx="1874983" cy="557213"/>
          </a:xfrm>
          <a:prstGeom prst="rect">
            <a:avLst/>
          </a:prstGeom>
          <a:noFill/>
          <a:ln/>
        </p:spPr>
        <p:txBody>
          <a:bodyPr wrap="square" lIns="8509" tIns="85090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大型企业任务跨 S/4HANA、Ariba、HR 和外部系统。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3521227" y="3457882"/>
            <a:ext cx="3173611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作为 Joule agents 的推理能力，协调采购、供应链和业务系统中的动作。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6694838" y="3457882"/>
            <a:ext cx="117872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[5]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6848233" y="3386444"/>
            <a:ext cx="1838567" cy="557213"/>
          </a:xfrm>
          <a:prstGeom prst="rect">
            <a:avLst/>
          </a:prstGeom>
          <a:noFill/>
          <a:ln/>
        </p:spPr>
        <p:txBody>
          <a:bodyPr wrap="square" lIns="8509" tIns="85090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官方合作公告，属于平台集成路径，非单客户成效。[5]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464344" y="4018666"/>
            <a:ext cx="1167612" cy="1396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GreenCore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64344" y="4194023"/>
            <a:ext cx="116761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代理采购信号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1639100" y="3943657"/>
            <a:ext cx="1874983" cy="557213"/>
          </a:xfrm>
          <a:prstGeom prst="rect">
            <a:avLst/>
          </a:prstGeom>
          <a:noFill/>
          <a:ln/>
        </p:spPr>
        <p:txBody>
          <a:bodyPr wrap="square" lIns="8509" tIns="85090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商品合规信息不能被采购代理机器读取。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3521227" y="4015094"/>
            <a:ext cx="3103959" cy="275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通过 MCP registry 暴露机器可读合规信号，让 Claude 等系统检查 SKU eligibility。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4087369" y="4149179"/>
            <a:ext cx="117872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[8]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6848233" y="3943657"/>
            <a:ext cx="1838567" cy="557213"/>
          </a:xfrm>
          <a:prstGeom prst="rect">
            <a:avLst/>
          </a:prstGeom>
          <a:noFill/>
          <a:ln/>
        </p:spPr>
        <p:txBody>
          <a:bodyPr wrap="square" lIns="8509" tIns="85090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第三方生态信号，非 Anthropic 官方客户案例。[8]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457200" y="4725898"/>
            <a:ext cx="1643063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理解框架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2314575" y="4725898"/>
            <a:ext cx="6372225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Claude 的 B 端价值链：</a:t>
            </a: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读懂上下文 → 归纳判断 → 生成业务产物 → 连接系统并推进流程。越接近真实系统和审批流，业务价值越清晰。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8401050" y="4880967"/>
            <a:ext cx="28575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A93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 / 19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85750"/>
            <a:ext cx="822960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EA5C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FLAGSHIP CASES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457200" y="505420"/>
            <a:ext cx="8229600" cy="279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spc="-1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两个最具代表性的标杆案例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57200" y="1027612"/>
            <a:ext cx="7286625" cy="4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Slack 与 Notion 是 Anthropic To B 落地中最容易被企业用户理解的两类标杆：前者代表 </a:t>
            </a:r>
            <a:r>
              <a:rPr lang="en-US" sz="900" b="1" dirty="0">
                <a:solidFill>
                  <a:srgbClr val="113B5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企业协作知识入口</a:t>
            </a:r>
            <a:r>
              <a:rPr lang="en-US" sz="9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，后者代表 </a:t>
            </a:r>
            <a:r>
              <a:rPr lang="en-US" sz="900" b="1" dirty="0">
                <a:solidFill>
                  <a:srgbClr val="113B5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工作空间中的多代理协作</a:t>
            </a:r>
            <a:r>
              <a:rPr lang="en-US" sz="9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。[2] [7]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57200" y="1801983"/>
            <a:ext cx="657225" cy="352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2650" b="1" spc="-2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243013" y="1801983"/>
            <a:ext cx="31718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5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Slack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43013" y="2094877"/>
            <a:ext cx="317182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5E7484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企业协作消息中的组织知识检索与摘要层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2503856"/>
            <a:ext cx="8001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业务场景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385888" y="2503856"/>
            <a:ext cx="30289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搜索、频道/线程摘要、recap、huddles 会议笔记。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57200" y="2918194"/>
            <a:ext cx="8001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已披露效果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385888" y="2918194"/>
            <a:ext cx="30289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平均用户每周节省 97 分钟。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57200" y="3332531"/>
            <a:ext cx="8001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代表意义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385888" y="3332531"/>
            <a:ext cx="30289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Claude 成为企业组织知识检索与协作加速层。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729163" y="1801983"/>
            <a:ext cx="657225" cy="352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2650" b="1" spc="-2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02</a:t>
            </a:r>
            <a:endParaRPr lang="en-US" sz="2650" dirty="0"/>
          </a:p>
        </p:txBody>
      </p:sp>
      <p:sp>
        <p:nvSpPr>
          <p:cNvPr id="16" name="Text 13"/>
          <p:cNvSpPr/>
          <p:nvPr/>
        </p:nvSpPr>
        <p:spPr>
          <a:xfrm>
            <a:off x="5514975" y="1801983"/>
            <a:ext cx="31718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5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Notion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514975" y="2094877"/>
            <a:ext cx="317182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5E7484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团队工作空间中的可管理、多代理执行流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729163" y="2503856"/>
            <a:ext cx="8001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业务场景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5657850" y="2503856"/>
            <a:ext cx="30289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任务板触发 Claude session，并读取页面、设计系统、API 文档与 PRD。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729163" y="2918194"/>
            <a:ext cx="8001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已披露效果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5657850" y="2918194"/>
            <a:ext cx="30289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30+ agent tasks 可从同一任务板并发运行；12 小时原型缩至约 20 分钟。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729163" y="3332531"/>
            <a:ext cx="8001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代表意义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5657850" y="3332531"/>
            <a:ext cx="30289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Claude 从个人助手转为团队工作流中的可管理代理。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57200" y="4238002"/>
            <a:ext cx="1857375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共同特征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514600" y="4238002"/>
            <a:ext cx="617220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80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两者都不是简单问答，而是把 Claude 嵌入既有工作流，帮助用户处理日常工作中大量分散、上下文密集的信息。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401050" y="4880967"/>
            <a:ext cx="28575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A93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/ 15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85750"/>
            <a:ext cx="822960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EA5C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COMPANY PROFILES · FLAGSHIP CASES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457200" y="491133"/>
            <a:ext cx="8229600" cy="272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700" b="1" spc="-1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标杆案例企业背景：Slack 与 Notion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57200" y="977466"/>
            <a:ext cx="7750969" cy="36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6400"/>
              </a:lnSpc>
              <a:buNone/>
            </a:pP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在进入案例细节前，需要先理解被服务企业的业务属性：Slack 与 Notion 都是 </a:t>
            </a:r>
            <a:r>
              <a:rPr lang="en-US" sz="8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知识密集型协作平台</a:t>
            </a: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，因此 Claude 的长上下文、摘要、检索和代理执行能</a:t>
            </a: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力可以直接嵌入用户日常工作流。[2] [7]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1645797"/>
            <a:ext cx="585788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2550" b="1" spc="-2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01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171575" y="1645797"/>
            <a:ext cx="3243263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5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Slack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71575" y="1934394"/>
            <a:ext cx="32432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企业协作与组织知识入口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57200" y="2232645"/>
            <a:ext cx="785813" cy="372145"/>
          </a:xfrm>
          <a:prstGeom prst="rect">
            <a:avLst/>
          </a:prstGeom>
          <a:noFill/>
          <a:ln/>
        </p:spPr>
        <p:txBody>
          <a:bodyPr wrap="square" lIns="8509" tIns="85090" rIns="8509" bIns="8509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企业定位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243013" y="2232645"/>
            <a:ext cx="3171825" cy="372145"/>
          </a:xfrm>
          <a:prstGeom prst="rect">
            <a:avLst/>
          </a:prstGeom>
          <a:noFill/>
          <a:ln/>
        </p:spPr>
        <p:txBody>
          <a:bodyPr wrap="square" lIns="8509" tIns="85090" rIns="8509" bIns="8509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Slack 是面向企业团队的协作消息平台，核心资产是频道、线程、会议和工作流中积累的组织知识。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57200" y="2604790"/>
            <a:ext cx="785813" cy="375717"/>
          </a:xfrm>
          <a:prstGeom prst="rect">
            <a:avLst/>
          </a:prstGeom>
          <a:noFill/>
          <a:ln/>
        </p:spPr>
        <p:txBody>
          <a:bodyPr wrap="square" lIns="8509" tIns="85090" rIns="8509" bIns="8509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介入点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243013" y="2604790"/>
            <a:ext cx="3171825" cy="375717"/>
          </a:xfrm>
          <a:prstGeom prst="rect">
            <a:avLst/>
          </a:prstGeom>
          <a:noFill/>
          <a:ln/>
        </p:spPr>
        <p:txBody>
          <a:bodyPr wrap="square" lIns="8509" tIns="85090" rIns="8509" bIns="8509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Claude 被用于 Slack AI 的自然语言搜索、频道/线程摘要、recap 和 huddles 会议笔记。[7]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57200" y="2980506"/>
            <a:ext cx="785813" cy="375717"/>
          </a:xfrm>
          <a:prstGeom prst="rect">
            <a:avLst/>
          </a:prstGeom>
          <a:noFill/>
          <a:ln/>
        </p:spPr>
        <p:txBody>
          <a:bodyPr wrap="square" lIns="8509" tIns="85090" rIns="8509" bIns="8509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适配原因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243013" y="2980506"/>
            <a:ext cx="3171825" cy="375717"/>
          </a:xfrm>
          <a:prstGeom prst="rect">
            <a:avLst/>
          </a:prstGeom>
          <a:noFill/>
          <a:ln/>
        </p:spPr>
        <p:txBody>
          <a:bodyPr wrap="square" lIns="8509" tIns="85090" rIns="8509" bIns="8509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Slack 的信息以长对话和多上下文形式存在，适合用 Claude 做压缩、理解和组织记忆检索。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57200" y="3356223"/>
            <a:ext cx="785813" cy="375717"/>
          </a:xfrm>
          <a:prstGeom prst="rect">
            <a:avLst/>
          </a:prstGeom>
          <a:noFill/>
          <a:ln/>
        </p:spPr>
        <p:txBody>
          <a:bodyPr wrap="square" lIns="8509" tIns="85090" rIns="8509" bIns="8509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阅读重点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243013" y="3356223"/>
            <a:ext cx="3171825" cy="375717"/>
          </a:xfrm>
          <a:prstGeom prst="rect">
            <a:avLst/>
          </a:prstGeom>
          <a:noFill/>
          <a:ln/>
        </p:spPr>
        <p:txBody>
          <a:bodyPr wrap="square" lIns="8509" tIns="85090" rIns="8509" bIns="8509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该案例说明 Anthropic 如何服务“信息过载型企业协作场景”，并把 AI 嵌入员工每天使用的入口。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729163" y="1645797"/>
            <a:ext cx="585788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2550" b="1" spc="-2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02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5443538" y="1645797"/>
            <a:ext cx="3243263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5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Notion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443538" y="1934394"/>
            <a:ext cx="32432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团队工作空间与多代理协作场景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729163" y="2232645"/>
            <a:ext cx="785813" cy="372145"/>
          </a:xfrm>
          <a:prstGeom prst="rect">
            <a:avLst/>
          </a:prstGeom>
          <a:noFill/>
          <a:ln/>
        </p:spPr>
        <p:txBody>
          <a:bodyPr wrap="square" lIns="8509" tIns="85090" rIns="8509" bIns="8509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企业定位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5514975" y="2232645"/>
            <a:ext cx="3171825" cy="372145"/>
          </a:xfrm>
          <a:prstGeom prst="rect">
            <a:avLst/>
          </a:prstGeom>
          <a:noFill/>
          <a:ln/>
        </p:spPr>
        <p:txBody>
          <a:bodyPr wrap="square" lIns="8509" tIns="85090" rIns="8509" bIns="8509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Notion 是集文档、知识库、项目管理和团队工作空间于一体的生产力平台。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729163" y="2604790"/>
            <a:ext cx="785813" cy="375717"/>
          </a:xfrm>
          <a:prstGeom prst="rect">
            <a:avLst/>
          </a:prstGeom>
          <a:noFill/>
          <a:ln/>
        </p:spPr>
        <p:txBody>
          <a:bodyPr wrap="square" lIns="8509" tIns="85090" rIns="8509" bIns="8509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介入点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5514975" y="2604790"/>
            <a:ext cx="3171825" cy="375717"/>
          </a:xfrm>
          <a:prstGeom prst="rect">
            <a:avLst/>
          </a:prstGeom>
          <a:noFill/>
          <a:ln/>
        </p:spPr>
        <p:txBody>
          <a:bodyPr wrap="square" lIns="8509" tIns="85090" rIns="8509" bIns="8509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Claude Managed Agents 可从 Notion 任务板触发，读取页面、设计系统、API 文档与 PRD 并生成产物。[2]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729163" y="2980506"/>
            <a:ext cx="785813" cy="375717"/>
          </a:xfrm>
          <a:prstGeom prst="rect">
            <a:avLst/>
          </a:prstGeom>
          <a:noFill/>
          <a:ln/>
        </p:spPr>
        <p:txBody>
          <a:bodyPr wrap="square" lIns="8509" tIns="85090" rIns="8509" bIns="8509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适配原因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5514975" y="2980506"/>
            <a:ext cx="3171825" cy="375717"/>
          </a:xfrm>
          <a:prstGeom prst="rect">
            <a:avLst/>
          </a:prstGeom>
          <a:noFill/>
          <a:ln/>
        </p:spPr>
        <p:txBody>
          <a:bodyPr wrap="square" lIns="8509" tIns="85090" rIns="8509" bIns="8509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Notion 工作空间天然承载任务、上下文、审批与版本历史，适合作为 agent orchestration 的协作界面。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729163" y="3356223"/>
            <a:ext cx="785813" cy="375717"/>
          </a:xfrm>
          <a:prstGeom prst="rect">
            <a:avLst/>
          </a:prstGeom>
          <a:noFill/>
          <a:ln/>
        </p:spPr>
        <p:txBody>
          <a:bodyPr wrap="square" lIns="8509" tIns="85090" rIns="8509" bIns="8509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阅读重点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514975" y="3356223"/>
            <a:ext cx="3171825" cy="375717"/>
          </a:xfrm>
          <a:prstGeom prst="rect">
            <a:avLst/>
          </a:prstGeom>
          <a:noFill/>
          <a:ln/>
        </p:spPr>
        <p:txBody>
          <a:bodyPr wrap="square" lIns="8509" tIns="85090" rIns="8509" bIns="8509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该案例说明 Anthropic 如何服务“团队级代理执行场景”，让 AI 任务可分配、可并发、可审核。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57200" y="4396141"/>
            <a:ext cx="1571625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共同特征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2243138" y="4396141"/>
            <a:ext cx="6443663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企业自身已经拥有高频协作入口和大量上下文。</a:t>
            </a: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Claude 的价值不是替代这些平台，而是成为其内部的理解层、摘要层和执行层。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401050" y="4880967"/>
            <a:ext cx="28575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A93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 / 18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85750"/>
            <a:ext cx="822960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EA5C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FLAGSHIP CASE · SLACK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457200" y="491133"/>
            <a:ext cx="8229600" cy="272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700" b="1" spc="-1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Slack：Claude 把聊天记录变成可用知识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57200" y="977466"/>
            <a:ext cx="7772400" cy="372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6400"/>
              </a:lnSpc>
              <a:buNone/>
            </a:pP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Slack 的痛点不是“没有信息”，而是信息太多、太散。Claude 在 Slack AI 中做的核心工作，是</a:t>
            </a:r>
            <a:r>
              <a:rPr lang="en-US" sz="8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读懂企业对话并把它整理成可搜索、可摘要、可回顾的知识资产</a:t>
            </a: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。[7]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1685646"/>
            <a:ext cx="2357438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5E7484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BUSINESS PROBLEM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57200" y="1948179"/>
            <a:ext cx="2357438" cy="778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5200"/>
              </a:lnSpc>
              <a:buNone/>
            </a:pPr>
            <a:r>
              <a:rPr lang="en-US" sz="2950" b="1" spc="-3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信息</a:t>
            </a:r>
            <a:r>
              <a:rPr lang="en-US" sz="2950" b="1" spc="-3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2950" b="1" spc="-3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过载</a:t>
            </a:r>
            <a:endParaRPr lang="en-US" sz="2950" dirty="0"/>
          </a:p>
        </p:txBody>
      </p:sp>
      <p:sp>
        <p:nvSpPr>
          <p:cNvPr id="8" name="Text 5"/>
          <p:cNvSpPr/>
          <p:nvPr/>
        </p:nvSpPr>
        <p:spPr>
          <a:xfrm>
            <a:off x="457200" y="2870002"/>
            <a:ext cx="235743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10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平均用户每周节省 97 分钟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3152877"/>
            <a:ext cx="2178844" cy="484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800"/>
              </a:lnSpc>
              <a:buNone/>
            </a:pP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官方客户故事披露，Slack AI 使用 Claude 支持搜索、摘要、recap 与 huddles notes，帮助员工更快理解上下文。[7]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114675" y="1657071"/>
            <a:ext cx="5143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900" b="1" spc="-1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771900" y="1657071"/>
            <a:ext cx="49149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理解员工用自然语言提出的问题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771900" y="1864240"/>
            <a:ext cx="4914900" cy="1585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员工可以用日常语言询问项目、客户、决策或历史讨论，而不是手动翻找频道。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114675" y="2392877"/>
            <a:ext cx="5143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900" b="1" spc="-1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02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3771900" y="2392877"/>
            <a:ext cx="49149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检索频道、线程和历史消息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771900" y="2600046"/>
            <a:ext cx="4914900" cy="1585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Claude 读取 Slack 内的相关对话上下文，找到与问题有关的消息、讨论和会议记录。[7]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114675" y="3128683"/>
            <a:ext cx="5143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900" b="1" spc="-1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03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3771900" y="3128683"/>
            <a:ext cx="49149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压缩长对话，生成摘要和 recap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771900" y="3335852"/>
            <a:ext cx="4914900" cy="1585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将大量碎片化消息整理为频道摘要、线程摘要和工作进展回顾，让员工迅速补齐背景。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114675" y="3864490"/>
            <a:ext cx="5143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900" b="1" spc="-1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04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3771900" y="3864490"/>
            <a:ext cx="49149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输出会议笔记与可行动信息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771900" y="4071658"/>
            <a:ext cx="4914900" cy="1585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huddles notes 等场景中，AI 把同步讨论转成可复用记录，降低会后整理成本。[7]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57200" y="4743171"/>
            <a:ext cx="1357313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一句话总结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014538" y="4743171"/>
            <a:ext cx="6672263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Claude 帮 Slack 做的是“企业知识整理员”：从聊天噪音中找答案、写摘要、做回顾，让员工少翻记录。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8401050" y="4880967"/>
            <a:ext cx="28575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A93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 / 19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85750"/>
            <a:ext cx="822960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EA5C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FLAGSHIP CASE · NOTION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457200" y="491133"/>
            <a:ext cx="8229600" cy="272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700" b="1" spc="-1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Notion：Claude 把任务板变成代理工作台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57200" y="977466"/>
            <a:ext cx="7772400" cy="372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6400"/>
              </a:lnSpc>
              <a:buNone/>
            </a:pP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Notion 案例的重点不是“AI 写文字”，而是 </a:t>
            </a:r>
            <a:r>
              <a:rPr lang="en-US" sz="8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Claude Managed Agents 被放进团队工作空间，能够读取任务上下文、并发执行任务，并把产物交回团队审核</a:t>
            </a: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。[2]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1685646"/>
            <a:ext cx="2464594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5E7484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BUSINESS PROBLEM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57200" y="1948179"/>
            <a:ext cx="2464594" cy="756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750" b="1" spc="-3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任务</a:t>
            </a:r>
            <a:r>
              <a:rPr lang="en-US" sz="2750" b="1" spc="-3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2750" b="1" spc="-3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执行慢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457200" y="2847119"/>
            <a:ext cx="2464594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10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约 12 小时原型工作缩至约 20 分钟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3129995"/>
            <a:ext cx="2250281" cy="484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800"/>
              </a:lnSpc>
              <a:buNone/>
            </a:pP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官方案例称，30+ agent tasks 可从一个 Notion 任务板并发运行，适用于原型、网站、文档和演示等工作。[2]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221831" y="1657071"/>
            <a:ext cx="5143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900" b="1" spc="-1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879056" y="1657071"/>
            <a:ext cx="48077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从 Notion 任务板触发代理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879056" y="1864240"/>
            <a:ext cx="4807744" cy="1585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团队不是单独打开聊天窗口，而是在已有项目板中把任务交给 Claude Managed Agents。[2]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221831" y="2392877"/>
            <a:ext cx="5143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900" b="1" spc="-1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02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3879056" y="2392877"/>
            <a:ext cx="48077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读取页面、PRD、API 文档和设计系统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879056" y="2600046"/>
            <a:ext cx="4807744" cy="317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Claude 自动把任务周边资料读进去，理解需求、约束、风格和技术接口，而不是依赖人工重复粘贴上下文。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221831" y="3128683"/>
            <a:ext cx="5143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900" b="1" spc="-1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03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3879056" y="3128683"/>
            <a:ext cx="48077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并发生成可检查的业务产物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879056" y="3335852"/>
            <a:ext cx="4807744" cy="1585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多个 agents 可同时生成原型、网页、文档、演示或工作流草案，缩短从想法到初稿的时间。[2]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221831" y="3864490"/>
            <a:ext cx="5143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900" b="1" spc="-1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04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3879056" y="3864490"/>
            <a:ext cx="48077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把产物留在团队流程中供审核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879056" y="4071658"/>
            <a:ext cx="4807744" cy="1585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产物回到 Notion 工作空间，团队可以继续评论、修改、审批和追踪，而不是散落在个人对话中。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57200" y="4743171"/>
            <a:ext cx="1357313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一句话总结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014538" y="4743171"/>
            <a:ext cx="6672263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Claude 帮 Notion 做的是“团队代理执行员”：读任务上下文，批量生成初稿，并把成果放回协作流程。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8401050" y="4880967"/>
            <a:ext cx="28575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A93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 / 19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85750"/>
            <a:ext cx="822960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EA5C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SUPPLY CHAIN EVIDENCE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457200" y="491133"/>
            <a:ext cx="8229600" cy="272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700" b="1" spc="-1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供应链检索结论：核心案例是 Duvo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57200" y="1241785"/>
            <a:ext cx="235743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E7484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公开可考资料中的主案例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457200" y="1531107"/>
            <a:ext cx="2357438" cy="624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900" b="1" spc="-1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Duvo.ai</a:t>
            </a:r>
            <a:r>
              <a:rPr lang="en-US" sz="1900" b="1" spc="-1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1900" b="1" spc="-1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× Rohlik Group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7200" y="2269759"/>
            <a:ext cx="2357438" cy="183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最完整的已实施供应链案例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2595860"/>
            <a:ext cx="2171700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8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该案例同时覆盖采购、供应链计划、供应商确认、品类管理与年度谈判，并披露了节省金额、SKU 覆盖、可得率和入库确认改善等结果。[3] [4]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186113" y="1077478"/>
            <a:ext cx="1114425" cy="211382"/>
          </a:xfrm>
          <a:prstGeom prst="rect">
            <a:avLst/>
          </a:prstGeom>
          <a:noFill/>
          <a:ln/>
        </p:spPr>
        <p:txBody>
          <a:bodyPr wrap="none" lIns="8509" tIns="0" rIns="8509" bIns="68072" rtlCol="0" anchor="ctr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案例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300538" y="1077478"/>
            <a:ext cx="1571625" cy="211382"/>
          </a:xfrm>
          <a:prstGeom prst="rect">
            <a:avLst/>
          </a:prstGeom>
          <a:noFill/>
          <a:ln/>
        </p:spPr>
        <p:txBody>
          <a:bodyPr wrap="none" lIns="8509" tIns="0" rIns="8509" bIns="68072" rtlCol="0" anchor="ctr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供应链关联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872163" y="1077478"/>
            <a:ext cx="1153716" cy="211382"/>
          </a:xfrm>
          <a:prstGeom prst="rect">
            <a:avLst/>
          </a:prstGeom>
          <a:noFill/>
          <a:ln/>
        </p:spPr>
        <p:txBody>
          <a:bodyPr wrap="none" lIns="8509" tIns="0" rIns="8509" bIns="68072" rtlCol="0" anchor="ctr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证据强度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7025878" y="1077478"/>
            <a:ext cx="1660922" cy="211382"/>
          </a:xfrm>
          <a:prstGeom prst="rect">
            <a:avLst/>
          </a:prstGeom>
          <a:noFill/>
          <a:ln/>
        </p:spPr>
        <p:txBody>
          <a:bodyPr wrap="none" lIns="8509" tIns="0" rIns="8509" bIns="68072" rtlCol="0" anchor="ctr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报告处理方式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186113" y="1288861"/>
            <a:ext cx="1114425" cy="521354"/>
          </a:xfrm>
          <a:prstGeom prst="rect">
            <a:avLst/>
          </a:prstGeom>
          <a:noFill/>
          <a:ln/>
        </p:spPr>
        <p:txBody>
          <a:bodyPr wrap="square" lIns="8509" tIns="93599" rIns="8509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Duvo × Rohlik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4300538" y="1288861"/>
            <a:ext cx="1571625" cy="521354"/>
          </a:xfrm>
          <a:prstGeom prst="rect">
            <a:avLst/>
          </a:prstGeom>
          <a:noFill/>
          <a:ln/>
        </p:spPr>
        <p:txBody>
          <a:bodyPr wrap="square" lIns="8509" tIns="93599" rIns="8509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采购、供应链计划、供应商确认、品类管理。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879306" y="1372800"/>
            <a:ext cx="111978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高：官方已实施客户案例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7025878" y="1288861"/>
            <a:ext cx="1660922" cy="521354"/>
          </a:xfrm>
          <a:prstGeom prst="rect">
            <a:avLst/>
          </a:prstGeom>
          <a:noFill/>
          <a:ln/>
        </p:spPr>
        <p:txBody>
          <a:bodyPr wrap="square" lIns="8509" tIns="93599" rIns="8509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作为核心供应链落地案例详细展开，引用 Anthropic/Claude 与 Duvo 官方客户故事。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186113" y="1810215"/>
            <a:ext cx="1114425" cy="517782"/>
          </a:xfrm>
          <a:prstGeom prst="rect">
            <a:avLst/>
          </a:prstGeom>
          <a:noFill/>
          <a:ln/>
        </p:spPr>
        <p:txBody>
          <a:bodyPr wrap="square" lIns="8509" tIns="93599" rIns="8509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SAP × Anthropic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300538" y="1810215"/>
            <a:ext cx="1571625" cy="517782"/>
          </a:xfrm>
          <a:prstGeom prst="rect">
            <a:avLst/>
          </a:prstGeom>
          <a:noFill/>
          <a:ln/>
        </p:spPr>
        <p:txBody>
          <a:bodyPr wrap="square" lIns="8509" tIns="93599" rIns="8509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SAP Ariba、S/4HANA、采购与供应链 agents。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879306" y="1890582"/>
            <a:ext cx="113942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00" b="1" dirty="0">
                <a:solidFill>
                  <a:srgbClr val="2A7793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中高：SAP 官方合作公告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7025878" y="1810215"/>
            <a:ext cx="1660922" cy="517782"/>
          </a:xfrm>
          <a:prstGeom prst="rect">
            <a:avLst/>
          </a:prstGeom>
          <a:noFill/>
          <a:ln/>
        </p:spPr>
        <p:txBody>
          <a:bodyPr wrap="square" lIns="8509" tIns="93599" rIns="8509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作为平台合作案例，强调“计划/将”集成，不表述为已披露终端客户成效。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186113" y="2327997"/>
            <a:ext cx="1114425" cy="373763"/>
          </a:xfrm>
          <a:prstGeom prst="rect">
            <a:avLst/>
          </a:prstGeom>
          <a:noFill/>
          <a:ln/>
        </p:spPr>
        <p:txBody>
          <a:bodyPr wrap="square" lIns="8509" tIns="93599" rIns="8509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GreenCore / TreeFree Diaper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300538" y="2327997"/>
            <a:ext cx="1571625" cy="373763"/>
          </a:xfrm>
          <a:prstGeom prst="rect">
            <a:avLst/>
          </a:prstGeom>
          <a:noFill/>
          <a:ln/>
        </p:spPr>
        <p:txBody>
          <a:bodyPr wrap="square" lIns="8509" tIns="93599" rIns="8509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CPG SKU 可被 AI procurement agents 发现与验证。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879306" y="2408365"/>
            <a:ext cx="91618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00" b="1" dirty="0">
                <a:solidFill>
                  <a:srgbClr val="5E7484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中低：第三方新闻稿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7025878" y="2327997"/>
            <a:ext cx="1660922" cy="373763"/>
          </a:xfrm>
          <a:prstGeom prst="rect">
            <a:avLst/>
          </a:prstGeom>
          <a:noFill/>
          <a:ln/>
        </p:spPr>
        <p:txBody>
          <a:bodyPr wrap="square" lIns="8509" tIns="93599" rIns="8509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作为 MCP 生态与代理采购趋势案例，并明确来源边界。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57200" y="4006416"/>
            <a:ext cx="1314450" cy="335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证据边界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971675" y="4006416"/>
            <a:ext cx="6715125" cy="335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9600"/>
              </a:lnSpc>
              <a:buNone/>
            </a:pP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供应链部分不把所有“相关”信息等同处理：</a:t>
            </a:r>
            <a:r>
              <a:rPr lang="en-US" sz="700" b="1" dirty="0">
                <a:solidFill>
                  <a:srgbClr val="113B5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Duvo × Rohlik</a:t>
            </a: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是公开资料中指标最完整的已实施案例；</a:t>
            </a:r>
            <a:r>
              <a:rPr lang="en-US" sz="700" b="1" dirty="0">
                <a:solidFill>
                  <a:srgbClr val="113B5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SAP × Anthropic</a:t>
            </a: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是官方平台合作与计划集</a:t>
            </a: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成；</a:t>
            </a:r>
            <a:r>
              <a:rPr lang="en-US" sz="700" b="1" dirty="0">
                <a:solidFill>
                  <a:srgbClr val="113B5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GreenCore</a:t>
            </a: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则属于第三方生态新闻稿，应作为趋势信号而非 Anthropic 官方客户成效。[3] [4] [5] [8]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8401050" y="4880967"/>
            <a:ext cx="28575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A93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 / 15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85750"/>
            <a:ext cx="822960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EA5C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COMPANY PROFILES · SUPPLY CHAIN CASES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457200" y="491133"/>
            <a:ext cx="8229600" cy="272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700" b="1" spc="-1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供应链相关企业背景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57200" y="977466"/>
            <a:ext cx="7750969" cy="356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800"/>
              </a:lnSpc>
              <a:buNone/>
            </a:pP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供应链部分涉及的企业角色不同：</a:t>
            </a:r>
            <a:r>
              <a:rPr lang="en-US" sz="8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Duvo.ai</a:t>
            </a: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是基于 Claude 构建供应链代理的平台方，</a:t>
            </a:r>
            <a:r>
              <a:rPr lang="en-US" sz="8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Rohlik Group</a:t>
            </a: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是已披露实施成效的终端企业，</a:t>
            </a:r>
            <a:r>
              <a:rPr lang="en-US" sz="8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SAP</a:t>
            </a: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是企业核心系</a:t>
            </a: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统平台合作方，</a:t>
            </a:r>
            <a:r>
              <a:rPr lang="en-US" sz="8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GreenCore/TreeFree Diaper</a:t>
            </a: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是代理采购生态信号。[3] [4] [5] [8]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1505490"/>
            <a:ext cx="1371600" cy="257175"/>
          </a:xfrm>
          <a:prstGeom prst="rect">
            <a:avLst/>
          </a:prstGeom>
          <a:noFill/>
          <a:ln/>
        </p:spPr>
        <p:txBody>
          <a:bodyPr wrap="square" lIns="8509" tIns="0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企业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1828800" y="1505490"/>
            <a:ext cx="2157413" cy="257175"/>
          </a:xfrm>
          <a:prstGeom prst="rect">
            <a:avLst/>
          </a:prstGeom>
          <a:noFill/>
          <a:ln/>
        </p:spPr>
        <p:txBody>
          <a:bodyPr wrap="square" lIns="8509" tIns="0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企业背景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986213" y="1505490"/>
            <a:ext cx="1728788" cy="257175"/>
          </a:xfrm>
          <a:prstGeom prst="rect">
            <a:avLst/>
          </a:prstGeom>
          <a:noFill/>
          <a:ln/>
        </p:spPr>
        <p:txBody>
          <a:bodyPr wrap="square" lIns="8509" tIns="0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案例角色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715000" y="1505490"/>
            <a:ext cx="1585913" cy="257175"/>
          </a:xfrm>
          <a:prstGeom prst="rect">
            <a:avLst/>
          </a:prstGeom>
          <a:noFill/>
          <a:ln/>
        </p:spPr>
        <p:txBody>
          <a:bodyPr wrap="square" lIns="8509" tIns="0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与 Anthropic / Claude 的关系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300913" y="1505490"/>
            <a:ext cx="1385888" cy="257175"/>
          </a:xfrm>
          <a:prstGeom prst="rect">
            <a:avLst/>
          </a:prstGeom>
          <a:noFill/>
          <a:ln/>
        </p:spPr>
        <p:txBody>
          <a:bodyPr wrap="square" lIns="8509" tIns="0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证据处理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64344" y="1848390"/>
            <a:ext cx="1357313" cy="151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Duvo.ai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64344" y="2042973"/>
            <a:ext cx="135731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AI agents for retail &amp; CPG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1828800" y="1762665"/>
            <a:ext cx="2157413" cy="653653"/>
          </a:xfrm>
          <a:prstGeom prst="rect">
            <a:avLst/>
          </a:prstGeom>
          <a:noFill/>
          <a:ln/>
        </p:spPr>
        <p:txBody>
          <a:bodyPr wrap="square" lIns="8509" tIns="93599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面向大型零售与 CPG 企业构建运营代理，覆盖采购、供应链计划、品类管理与供应商流程。[3]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986213" y="1762665"/>
            <a:ext cx="1728788" cy="653653"/>
          </a:xfrm>
          <a:prstGeom prst="rect">
            <a:avLst/>
          </a:prstGeom>
          <a:noFill/>
          <a:ln/>
        </p:spPr>
        <p:txBody>
          <a:bodyPr wrap="square" lIns="8509" tIns="93599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方案提供方，使用 Claude Platform、MCP、Agent SDK 与 computer use 构建跨系统 agents。[3]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5715000" y="1762665"/>
            <a:ext cx="1585913" cy="653653"/>
          </a:xfrm>
          <a:prstGeom prst="rect">
            <a:avLst/>
          </a:prstGeom>
          <a:noFill/>
          <a:ln/>
        </p:spPr>
        <p:txBody>
          <a:bodyPr wrap="square" lIns="8509" tIns="93599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Anthropic 服务的生态/平台客户之一，其产品能力建立在 Claude 上。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7308056" y="1843032"/>
            <a:ext cx="9822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高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7406283" y="1843032"/>
            <a:ext cx="112692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：Claude 官方客户故事。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64344" y="2498471"/>
            <a:ext cx="1357313" cy="151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Rohlik Group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64344" y="2693054"/>
            <a:ext cx="135731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European online grocer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1828800" y="2416318"/>
            <a:ext cx="2157413" cy="650081"/>
          </a:xfrm>
          <a:prstGeom prst="rect">
            <a:avLst/>
          </a:prstGeom>
          <a:noFill/>
          <a:ln/>
        </p:spPr>
        <p:txBody>
          <a:bodyPr wrap="square" lIns="8509" tIns="93599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欧洲在线杂货零售商；Claude 官方案例称其营收超过 15 亿欧元。[3]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3986213" y="2416318"/>
            <a:ext cx="1728788" cy="650081"/>
          </a:xfrm>
          <a:prstGeom prst="rect">
            <a:avLst/>
          </a:prstGeom>
          <a:noFill/>
          <a:ln/>
        </p:spPr>
        <p:txBody>
          <a:bodyPr wrap="square" lIns="8509" tIns="93599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Duvo 方案的终端实施企业，公开披露供应链计划、入库确认和年度谈判结果。[3] [4]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715000" y="2416318"/>
            <a:ext cx="1585913" cy="650081"/>
          </a:xfrm>
          <a:prstGeom prst="rect">
            <a:avLst/>
          </a:prstGeom>
          <a:noFill/>
          <a:ln/>
        </p:spPr>
        <p:txBody>
          <a:bodyPr wrap="square" lIns="8509" tIns="93599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 Duvo 使用 Claude 驱动的供应链与采购代理能力。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7308056" y="2493113"/>
            <a:ext cx="9822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高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7406283" y="2493113"/>
            <a:ext cx="98226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：已实施且披露指标。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464344" y="3148552"/>
            <a:ext cx="1357313" cy="151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SAP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64344" y="3343135"/>
            <a:ext cx="1357313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Enterprise applications platform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1828800" y="3066399"/>
            <a:ext cx="2157413" cy="650081"/>
          </a:xfrm>
          <a:prstGeom prst="rect">
            <a:avLst/>
          </a:prstGeom>
          <a:noFill/>
          <a:ln/>
        </p:spPr>
        <p:txBody>
          <a:bodyPr wrap="square" lIns="8509" tIns="93599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全球企业应用与业务系统平台，覆盖财务、采购、人力、供应链等核心流程。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3986213" y="3066399"/>
            <a:ext cx="1728788" cy="650081"/>
          </a:xfrm>
          <a:prstGeom prst="rect">
            <a:avLst/>
          </a:prstGeom>
          <a:noFill/>
          <a:ln/>
        </p:spPr>
        <p:txBody>
          <a:bodyPr wrap="square" lIns="8509" tIns="93599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平台合作方，计划将 Claude 接入 SAP Business AI Platform、Joule agents、Ariba 与 S/4HANA 等系统。[5]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5715000" y="3066399"/>
            <a:ext cx="1585913" cy="650081"/>
          </a:xfrm>
          <a:prstGeom prst="rect">
            <a:avLst/>
          </a:prstGeom>
          <a:noFill/>
          <a:ln/>
        </p:spPr>
        <p:txBody>
          <a:bodyPr wrap="square" lIns="8509" tIns="93599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Anthropic 的官方企业平台合作对象。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7308056" y="3143194"/>
            <a:ext cx="19645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中高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7504509" y="3143194"/>
            <a:ext cx="78581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：官方合作公告。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464344" y="3798633"/>
            <a:ext cx="1357313" cy="151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GreenCore / TreeFree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64344" y="3993217"/>
            <a:ext cx="135731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CPG supply chain signal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1828800" y="3716480"/>
            <a:ext cx="2157413" cy="650081"/>
          </a:xfrm>
          <a:prstGeom prst="rect">
            <a:avLst/>
          </a:prstGeom>
          <a:noFill/>
          <a:ln/>
        </p:spPr>
        <p:txBody>
          <a:bodyPr wrap="square" lIns="8509" tIns="93599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新闻稿涉及 TreeFree Diaper / TreeFree Core，定位为可被 AI systems 发现和验证的 CPG SKU。[8]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3986213" y="3716480"/>
            <a:ext cx="1728788" cy="650081"/>
          </a:xfrm>
          <a:prstGeom prst="rect">
            <a:avLst/>
          </a:prstGeom>
          <a:noFill/>
          <a:ln/>
        </p:spPr>
        <p:txBody>
          <a:bodyPr wrap="square" lIns="8509" tIns="93599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代理采购生态案例，展示商品数据如何进入 MCP registry 与机器可读合规信号。[8]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715000" y="3716480"/>
            <a:ext cx="1585913" cy="650081"/>
          </a:xfrm>
          <a:prstGeom prst="rect">
            <a:avLst/>
          </a:prstGeom>
          <a:noFill/>
          <a:ln/>
        </p:spPr>
        <p:txBody>
          <a:bodyPr wrap="square" lIns="8509" tIns="93599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非 Anthropic 官方客户故事，而是提到 Claude 可作为 AI systems 之一读取信号。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7308056" y="3793275"/>
            <a:ext cx="19645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中低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7504509" y="3793275"/>
            <a:ext cx="78581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：第三方新闻稿。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457200" y="4634452"/>
            <a:ext cx="1500188" cy="316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关系澄清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2171700" y="4634452"/>
            <a:ext cx="6515100" cy="316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8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“Anthropic 服务的企业”并非单一类型。</a:t>
            </a: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Slack、Notion、Duvo 属于官方客户案例；Rohlik 是通过 Duvo 方案体现的终端企业；SAP 是平台合</a:t>
            </a: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作方；GreenCore/TreeFree Diaper 是与 Claude/MCP 生态相关的第三方趋势案例。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8401050" y="4880967"/>
            <a:ext cx="28575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A93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 / 18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85750"/>
            <a:ext cx="822960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EA5C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SUPPLY CHAIN CASE · DUVO.AI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457200" y="491133"/>
            <a:ext cx="8229600" cy="272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700" b="1" spc="-1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Duvo：Claude 代理替人跑跨系统供应链流程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57200" y="977466"/>
            <a:ext cx="7772400" cy="363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800"/>
              </a:lnSpc>
              <a:buNone/>
            </a:pP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Duvo 的价值在于把 Claude 从“回答问题”升级成“执行供应链任务”：</a:t>
            </a:r>
            <a:r>
              <a:rPr lang="en-US" sz="8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它可以读取企业数据、操作遗留系统、联系供应商、判断异常，并把需要人工确认的事项升级出来</a:t>
            </a: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。[3]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1669349"/>
            <a:ext cx="2357438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5E7484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BUSINESS PROBLEM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57200" y="1931882"/>
            <a:ext cx="2357438" cy="728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650" b="1" spc="-2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系统</a:t>
            </a:r>
            <a:r>
              <a:rPr lang="en-US" sz="2650" b="1" spc="-2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2650" b="1" spc="-2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割裂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457200" y="2788518"/>
            <a:ext cx="2143125" cy="651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80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Duvo 官方客户故事称，其使用 </a:t>
            </a:r>
            <a:r>
              <a:rPr lang="en-US" sz="750" b="1" dirty="0">
                <a:solidFill>
                  <a:srgbClr val="113B5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Claude Platform、MCP、Agent SDK 与 computer use</a:t>
            </a:r>
            <a:r>
              <a:rPr lang="en-US" sz="80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构建跨系统 agents，服务零售与 CPG 的</a:t>
            </a:r>
            <a:r>
              <a:rPr lang="en-US" sz="80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采购、供应链计划和品类管理流程。[3]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114675" y="1640774"/>
            <a:ext cx="3714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586163" y="1640774"/>
            <a:ext cx="2207419" cy="1568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登录供应商门户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586163" y="1833349"/>
            <a:ext cx="2207419" cy="291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 computer use 操作网页或遗留系统，进入人工原本需要打开的供应商门户。[3]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007894" y="1640774"/>
            <a:ext cx="3714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79381" y="1640774"/>
            <a:ext cx="2207419" cy="1568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读取订单与交付状态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79381" y="1833349"/>
            <a:ext cx="2207419" cy="291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抓取采购订单、交付日期、数量、入库确认和供应商回复等运营信息。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3114675" y="2433731"/>
            <a:ext cx="3714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586163" y="2433731"/>
            <a:ext cx="2207419" cy="1568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与 ERP / SAP 数据核对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586163" y="2626305"/>
            <a:ext cx="2207419" cy="291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把门户、邮件、表格中的信息与企业系统数据交叉比对，发现不一致。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007894" y="2433731"/>
            <a:ext cx="3714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479381" y="2433731"/>
            <a:ext cx="2207419" cy="1568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识别异常与节省机会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479381" y="2626305"/>
            <a:ext cx="2207419" cy="291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检查价格、数量、交期、服务水平和合同条款，找出需要行动的异常。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3114675" y="3226687"/>
            <a:ext cx="3714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586163" y="3226687"/>
            <a:ext cx="2207419" cy="1568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自动外联供应商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586163" y="3419261"/>
            <a:ext cx="2207419" cy="291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在规则范围内发送邮件或跟进请求，让供应商确认价格、库存、入库或合同事项。[3]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007894" y="3226687"/>
            <a:ext cx="3714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479381" y="3226687"/>
            <a:ext cx="2207419" cy="1568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升级人工或写回系统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479381" y="3419261"/>
            <a:ext cx="2207419" cy="291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低风险动作可推进；高风险事项交给人类审批，并保留审计记录。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57200" y="4176806"/>
            <a:ext cx="1500188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一句话总结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171700" y="4176806"/>
            <a:ext cx="6515100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Claude 在这里像“供应链运营专员”：它不只读报告，还会跨系统核对、联系供应商并推进流程。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8401050" y="4880967"/>
            <a:ext cx="28575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A93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/ 19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85750"/>
            <a:ext cx="822960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EA5C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IMPLEMENTED RESULTS · ROHLIK GROUP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457200" y="491133"/>
            <a:ext cx="8229600" cy="272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700" b="1" spc="-1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Rohlik：AI 不是报表，而是供应链执行动作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57200" y="977466"/>
            <a:ext cx="7772400" cy="361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800"/>
              </a:lnSpc>
              <a:buNone/>
            </a:pP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Rohlik 的案例最能说明 Anthropic/Claude 在供应链里的实际价值：</a:t>
            </a:r>
            <a:r>
              <a:rPr lang="en-US" sz="8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AI 代理把原本人工做不完的价格监测、供应商确认、入库跟进和计划核对变成可持续执行的流程</a:t>
            </a: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。[3]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1452804"/>
            <a:ext cx="1533088" cy="278606"/>
          </a:xfrm>
          <a:prstGeom prst="rect">
            <a:avLst/>
          </a:prstGeom>
          <a:noFill/>
          <a:ln/>
        </p:spPr>
        <p:txBody>
          <a:bodyPr wrap="square" lIns="8509" tIns="0" rIns="8509" bIns="51054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业务场景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990288" y="1452804"/>
            <a:ext cx="2762483" cy="278606"/>
          </a:xfrm>
          <a:prstGeom prst="rect">
            <a:avLst/>
          </a:prstGeom>
          <a:noFill/>
          <a:ln/>
        </p:spPr>
        <p:txBody>
          <a:bodyPr wrap="square" lIns="8509" tIns="0" rIns="8509" bIns="51054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Claude / Duvo 代理具体做了什么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752770" y="1452804"/>
            <a:ext cx="2292418" cy="278606"/>
          </a:xfrm>
          <a:prstGeom prst="rect">
            <a:avLst/>
          </a:prstGeom>
          <a:noFill/>
          <a:ln/>
        </p:spPr>
        <p:txBody>
          <a:bodyPr wrap="square" lIns="8509" tIns="0" rIns="8509" bIns="51054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为什么能产生价值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7045189" y="1452804"/>
            <a:ext cx="1641611" cy="278606"/>
          </a:xfrm>
          <a:prstGeom prst="rect">
            <a:avLst/>
          </a:prstGeom>
          <a:noFill/>
          <a:ln/>
        </p:spPr>
        <p:txBody>
          <a:bodyPr wrap="square" lIns="8509" tIns="0" rIns="8509" bIns="51054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公开结果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64344" y="1795704"/>
            <a:ext cx="1518800" cy="151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价格监测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997432" y="1792132"/>
            <a:ext cx="2700338" cy="284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持续读取供应商价格与订单数据，识别价格差异，并向供应商发起外联。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497494" y="1932133"/>
            <a:ext cx="12323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[3]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752770" y="1731411"/>
            <a:ext cx="2292418" cy="639366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过去人工无法高频覆盖所有供应商和 SKU，异常会漏掉。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7052332" y="1795704"/>
            <a:ext cx="1627324" cy="151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9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首周 €1.45M 年化节省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052332" y="1943853"/>
            <a:ext cx="12323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[3]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64344" y="2431498"/>
            <a:ext cx="1518800" cy="151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供应链计划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997432" y="2427926"/>
            <a:ext cx="2732484" cy="284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核对 SKU、供应商、库存、交期与需求信息，提前发现缺货和计划风险。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2497494" y="2567927"/>
            <a:ext cx="12323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[3]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752770" y="2370776"/>
            <a:ext cx="2292418" cy="635794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代理可以跨系统持续检查，不依赖人工临时巡检。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7052332" y="2431498"/>
            <a:ext cx="1627324" cy="151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9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可得率 78%→93%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052332" y="2579647"/>
            <a:ext cx="72330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两周内改善。[3]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64344" y="3067292"/>
            <a:ext cx="1518800" cy="151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入库确认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997432" y="3063720"/>
            <a:ext cx="2600325" cy="284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追踪供应商确认、交付状态和入库信息，提醒或推动确认动作。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2197457" y="3203721"/>
            <a:ext cx="12323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[3]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752770" y="3006570"/>
            <a:ext cx="2292418" cy="635794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把分散在门户、邮件和 ERP 中的状态汇总到同一流程。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7052332" y="3067292"/>
            <a:ext cx="1627324" cy="151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9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入库确认 52%→90%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052332" y="3215441"/>
            <a:ext cx="12323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[3]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64344" y="3703086"/>
            <a:ext cx="1518800" cy="151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异常升级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997432" y="3699514"/>
            <a:ext cx="270033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对低风险问题自动跟进，对需要判断的异常升级给人类审批。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752770" y="3642364"/>
            <a:ext cx="2292418" cy="635794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既提高自动化覆盖率，又保留人工控制边界。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052332" y="3703086"/>
            <a:ext cx="1627324" cy="1517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9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三个月 €2.8M+ 年化节省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52332" y="3851235"/>
            <a:ext cx="12323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[3]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457200" y="4446036"/>
            <a:ext cx="1464469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一句话总结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2064544" y="4446036"/>
            <a:ext cx="6622256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Claude 帮 Rohlik 做的是“可规模化的供应链跟进”：把人做不过来的重复核对和供应商沟通变成代理持续执行。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8401050" y="4880967"/>
            <a:ext cx="28575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A93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 / 19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85750"/>
            <a:ext cx="822960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EA5C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PROCUREMENT NEGOTIATION · ROHLIK / DUVO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457200" y="491133"/>
            <a:ext cx="8229600" cy="272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700" b="1" spc="-1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年度谈判：Claude 代理把采购流程拆成可执行步骤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57200" y="977466"/>
            <a:ext cx="7772400" cy="1805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800"/>
              </a:lnSpc>
              <a:buNone/>
            </a:pP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年度供应商谈判不是单纯“写合同”。AI 代理需要</a:t>
            </a:r>
            <a:r>
              <a:rPr lang="en-US" sz="8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汇总数据、读取邮件条款、校验谈判边界、生成合同、路由审批，并把最终价格写回 ERP</a:t>
            </a: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。[4]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1508029"/>
            <a:ext cx="152016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b="1" spc="-2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57200" y="1922366"/>
            <a:ext cx="1520168" cy="1594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汇总供应商表现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2153227"/>
            <a:ext cx="1428750" cy="437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读取销售、毛利、服务水平、供货稳定性等数据，形成谈判依据。[4]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134530" y="1508029"/>
            <a:ext cx="152019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b="1" spc="-2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2134530" y="1922366"/>
            <a:ext cx="1520196" cy="1594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提取邮件条款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134530" y="2153227"/>
            <a:ext cx="1428750" cy="437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从供应商邮件和历史沟通中识别价格、折扣、数量、期限等关键条款。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3811888" y="1508029"/>
            <a:ext cx="152019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b="1" spc="-2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03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3811888" y="1922366"/>
            <a:ext cx="1520196" cy="1594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校验内部边界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11888" y="2153227"/>
            <a:ext cx="1428750" cy="437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对照采购规则和审批阈值，判断哪些条款可自动推进，哪些需要升级。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5489246" y="1508029"/>
            <a:ext cx="152019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b="1" spc="-2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04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5489246" y="1922366"/>
            <a:ext cx="1520196" cy="1594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生成合同与材料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489246" y="2153227"/>
            <a:ext cx="1428750" cy="437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把谈判结果转成合同、审批材料或供应商确认文本，减少人工整理。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7166604" y="1508029"/>
            <a:ext cx="152019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b="1" spc="-2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05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7166604" y="1922366"/>
            <a:ext cx="1520196" cy="1594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审批后写回 ERP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166604" y="2153227"/>
            <a:ext cx="1428750" cy="291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路由给人类审批，并将最终价格或条款写回企业系统。[4]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57200" y="3622579"/>
            <a:ext cx="2571750" cy="210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400" b="1" spc="-1" kern="0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70–80%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57200" y="3882600"/>
            <a:ext cx="2571750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0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年度谈判流程自动化比例。[4]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3286125" y="3622579"/>
            <a:ext cx="2571750" cy="210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400" b="1" spc="-1" kern="0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约 1 个月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286125" y="3882600"/>
            <a:ext cx="2571750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0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谈判周期缩短幅度。[4]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115050" y="3622579"/>
            <a:ext cx="2571750" cy="210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400" b="1" spc="-1" kern="0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约 60 FTE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115050" y="3882600"/>
            <a:ext cx="2571750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0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从重复流程转向战略工作。[4]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57200" y="4244029"/>
            <a:ext cx="1357313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一句话总结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014538" y="4244029"/>
            <a:ext cx="6672263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Claude 帮采购团队做的是“谈判流程助理”：把数据准备、条款整理、合同生成和系统写回串起来。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8401050" y="4880967"/>
            <a:ext cx="28575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A93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/ 19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85750"/>
            <a:ext cx="822960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EA5C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PLATFORM PARTNERSHIP · SAP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457200" y="491133"/>
            <a:ext cx="8229600" cy="272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700" b="1" spc="-1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SAP：Claude 的作用是让企业代理会“跨系统办事”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57200" y="977466"/>
            <a:ext cx="7772400" cy="361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800"/>
              </a:lnSpc>
              <a:buNone/>
            </a:pP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SAP 合作公告的重点是：Claude 将作为 SAP Business AI Platform 的推理与代理能力，被 Joule agents 调用，帮助企业在采购、供应链、财务、人力等</a:t>
            </a: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核心流程中</a:t>
            </a:r>
            <a:r>
              <a:rPr lang="en-US" sz="8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协调多个系统的动作</a:t>
            </a: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。[5]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1595679"/>
            <a:ext cx="2357438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5E7484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WHAT THIS MEANS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57200" y="1815350"/>
            <a:ext cx="2357438" cy="728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650" b="1" spc="-2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核心</a:t>
            </a:r>
            <a:r>
              <a:rPr lang="en-US" sz="2650" b="1" spc="-2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2650" b="1" spc="-2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系统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457200" y="2629123"/>
            <a:ext cx="2178844" cy="484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8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注意证据边界：</a:t>
            </a: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这是 SAP 与 Anthropic 的官方</a:t>
            </a: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合作公告，不是某个客户已经披露的单点 ROI </a:t>
            </a: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案例。因此应表述为“平台集成路径”。[5]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114675" y="1552817"/>
            <a:ext cx="1143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Joule agents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114675" y="1774273"/>
            <a:ext cx="114300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用户入口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4429125" y="1552817"/>
            <a:ext cx="42576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业务用户通过 SAP 的 Joule / Joule agents 发起任务，例如采购处理、供应链调整或跨部门流程协调。[5]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114675" y="2217186"/>
            <a:ext cx="1143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Claude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114675" y="2438642"/>
            <a:ext cx="114300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推理与代理能力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4429125" y="2217186"/>
            <a:ext cx="42576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Claude 负责理解复杂业务上下文、推断下一步动作、生成业务材料，并帮助 agent 决定该调用哪些系统或流程。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114675" y="2881554"/>
            <a:ext cx="1143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SAP 系统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114675" y="3103011"/>
            <a:ext cx="114300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执行环境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4429125" y="2881554"/>
            <a:ext cx="42576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公告提到 SAP S/4HANA、SAP Ariba、SAP SuccessFactors 等系统，代表采购、ERP、人力等企业核心流程。[5]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114675" y="3545923"/>
            <a:ext cx="1143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MCP 连接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114675" y="3767379"/>
            <a:ext cx="114300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外部系统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4429125" y="3545923"/>
            <a:ext cx="42576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 MCP，agents 可连接 SAP 外部工具和数据源，让 Claude 的动作不局限于单一应用。[5] [6]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57200" y="4288873"/>
            <a:ext cx="1500188" cy="31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供应链动作示例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171700" y="4288873"/>
            <a:ext cx="6515100" cy="31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SAP 公告提到的场景包括：当供应链中断时，agent 可帮助企业在运输途中</a:t>
            </a:r>
            <a:r>
              <a:rPr lang="en-US" sz="700" b="1" dirty="0">
                <a:solidFill>
                  <a:srgbClr val="113B5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重路由供应商订单</a:t>
            </a: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。这体现的是“理解事件—查找替代方案—协调系统</a:t>
            </a: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动作”的能力，而不只是生成文字。[5]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8401050" y="4880967"/>
            <a:ext cx="28575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A93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 / 19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85750"/>
            <a:ext cx="822960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EA5C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SUPPLY CHAIN ECOSYSTEM · GREENCORE / TREEFREE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457200" y="491133"/>
            <a:ext cx="8229600" cy="272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700" b="1" spc="-1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GreenCore：AI 采购代理如何判断一个 SKU 能不能买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57200" y="977466"/>
            <a:ext cx="7772400" cy="361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800"/>
              </a:lnSpc>
              <a:buNone/>
            </a:pP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这个案例不是 Anthropic 官方客户故事，而是第三方新闻稿中的生态信号。它说明未来采购代理可能怎样使用 Claude/MCP：</a:t>
            </a:r>
            <a:r>
              <a:rPr lang="en-US" sz="8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不是人工读商品手册，而是 AI 直接读取机器可验证的 SKU 合规信号</a:t>
            </a: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。[8]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1659973"/>
            <a:ext cx="2393156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5E7484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EVIDENCE BOUNDARY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57200" y="1908218"/>
            <a:ext cx="2393156" cy="728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650" b="1" spc="-2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生态</a:t>
            </a:r>
            <a:r>
              <a:rPr lang="en-US" sz="2650" b="1" spc="-2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2650" b="1" spc="-2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信号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457200" y="2750567"/>
            <a:ext cx="2178844" cy="62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32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不能表述为 Anthropic 已披露落地收益。</a:t>
            </a: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该新</a:t>
            </a: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闻稿称 TreeFree Diaper SKU 通过 MCP registry </a:t>
            </a: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 Claude 等 AI systems 可实时检查 </a:t>
            </a: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eligibility。[8]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150394" y="1624254"/>
            <a:ext cx="5143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spc="-1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807619" y="1624254"/>
            <a:ext cx="4879181" cy="165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9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采购代理发现商品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807619" y="1825563"/>
            <a:ext cx="4879181" cy="1522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采购代理在商品目录或 registry 中发现 TreeFree Diaper / TreeFree Core 相关 SKU。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150394" y="2324342"/>
            <a:ext cx="5143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spc="-1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807619" y="2324342"/>
            <a:ext cx="4879181" cy="165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9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读取机器可读合规信号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807619" y="2525650"/>
            <a:ext cx="4879181" cy="1522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商品不只提供人工 PDF，而是通过 MCP registry 暴露可被 AI systems 读取的合规、资格和供应链信息。[8]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150394" y="3024429"/>
            <a:ext cx="5143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spc="-1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807619" y="3024429"/>
            <a:ext cx="4879181" cy="165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9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实时检查 eligibility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807619" y="3225738"/>
            <a:ext cx="4879181" cy="1522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Claude 等系统可据此判断商品是否符合采购政策、合规要求或供应商资格。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150394" y="3724517"/>
            <a:ext cx="5143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spc="-1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807619" y="3724517"/>
            <a:ext cx="4879181" cy="165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9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进入采购判断流程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807619" y="3925825"/>
            <a:ext cx="4879181" cy="1522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若条件满足，代理可以继续比较商品、发起审批或进入采购流程；若不满足则过滤掉。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57200" y="4588911"/>
            <a:ext cx="1464469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一句话总结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135981" y="4588911"/>
            <a:ext cx="6550819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这个案例展示的是“AI 可读商品数据”：Claude 这类代理将来可自动验证 SKU 合规性，但本页只作为趋势信号处理。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8401050" y="4880967"/>
            <a:ext cx="28575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A93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 / 19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85750"/>
            <a:ext cx="822960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EA5C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INFRASTRUCTURE LAYER · MCP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457200" y="491133"/>
            <a:ext cx="8229600" cy="272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700" b="1" spc="-1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MCP 是供应链代理的连接层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57200" y="977466"/>
            <a:ext cx="7715250" cy="36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6400"/>
              </a:lnSpc>
              <a:buNone/>
            </a:pP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Anthropic 将 Model Context Protocol 定义为开放标准，用于在 </a:t>
            </a:r>
            <a:r>
              <a:rPr lang="en-US" sz="8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AI assistants</a:t>
            </a: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与数据所在系统之间建立安全的双向连接，目标是用统一协议替代碎片化</a:t>
            </a: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集成。[6]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1660085"/>
            <a:ext cx="235743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OPEN STANDARD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7200" y="1933333"/>
            <a:ext cx="2357438" cy="1080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450" b="1" spc="-2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MCP</a:t>
            </a:r>
            <a:r>
              <a:rPr lang="en-US" sz="2450" b="1" spc="-2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2450" b="1" spc="-2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连接</a:t>
            </a:r>
            <a:r>
              <a:rPr lang="en-US" sz="2450" b="1" spc="-2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
</a:t>
            </a:r>
            <a:r>
              <a:rPr lang="en-US" sz="2450" b="1" spc="-2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业务系统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457200" y="3170597"/>
            <a:ext cx="2143125" cy="522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4400"/>
              </a:lnSpc>
              <a:buNone/>
            </a:pP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供应链代理的难点不只是推理，而是能否稳定访问 ERP、供应商门户、邮件、表格和第三方平台中的真实上下文。[6]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3186113" y="1510066"/>
            <a:ext cx="1228725" cy="219670"/>
          </a:xfrm>
          <a:prstGeom prst="rect">
            <a:avLst/>
          </a:prstGeom>
          <a:noFill/>
          <a:ln/>
        </p:spPr>
        <p:txBody>
          <a:bodyPr wrap="none" lIns="8509" tIns="0" rIns="8509" bIns="68072" rtlCol="0" anchor="ctr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供应链意义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414838" y="1510066"/>
            <a:ext cx="4271963" cy="219670"/>
          </a:xfrm>
          <a:prstGeom prst="rect">
            <a:avLst/>
          </a:prstGeom>
          <a:noFill/>
          <a:ln/>
        </p:spPr>
        <p:txBody>
          <a:bodyPr wrap="none" lIns="8509" tIns="0" rIns="8509" bIns="68072" rtlCol="0" anchor="ctr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具体解释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186113" y="1729736"/>
            <a:ext cx="1228725" cy="403957"/>
          </a:xfrm>
          <a:prstGeom prst="rect">
            <a:avLst/>
          </a:prstGeom>
          <a:noFill/>
          <a:ln/>
        </p:spPr>
        <p:txBody>
          <a:bodyPr wrap="square" lIns="8509" tIns="102108" rIns="8509" bIns="8509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连接异构系统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414838" y="1729736"/>
            <a:ext cx="4271963" cy="403957"/>
          </a:xfrm>
          <a:prstGeom prst="rect">
            <a:avLst/>
          </a:prstGeom>
          <a:noFill/>
          <a:ln/>
        </p:spPr>
        <p:txBody>
          <a:bodyPr wrap="square" lIns="8509" tIns="102108" rIns="8509" bIns="8509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供应链常跨 ERP、供应商门户、邮件、表格与第三方平台；MCP 提供统一连接思路，让代理能读取关键业务上下文。[6]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186113" y="2133693"/>
            <a:ext cx="1228725" cy="400385"/>
          </a:xfrm>
          <a:prstGeom prst="rect">
            <a:avLst/>
          </a:prstGeom>
          <a:noFill/>
          <a:ln/>
        </p:spPr>
        <p:txBody>
          <a:bodyPr wrap="square" lIns="8509" tIns="102108" rIns="8509" bIns="8509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支持代理行动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4414838" y="2133693"/>
            <a:ext cx="4271963" cy="400385"/>
          </a:xfrm>
          <a:prstGeom prst="rect">
            <a:avLst/>
          </a:prstGeom>
          <a:noFill/>
          <a:ln/>
        </p:spPr>
        <p:txBody>
          <a:bodyPr wrap="square" lIns="8509" tIns="102108" rIns="8509" bIns="8509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代理不只是回答问题，还可通过工具连接执行查询、更新、审批推进和工作流触发，使供应链任务进入可执行状态。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186113" y="2534078"/>
            <a:ext cx="1228725" cy="400385"/>
          </a:xfrm>
          <a:prstGeom prst="rect">
            <a:avLst/>
          </a:prstGeom>
          <a:noFill/>
          <a:ln/>
        </p:spPr>
        <p:txBody>
          <a:bodyPr wrap="square" lIns="8509" tIns="102108" rIns="8509" bIns="8509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降低集成碎片化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414838" y="2534078"/>
            <a:ext cx="4271963" cy="400385"/>
          </a:xfrm>
          <a:prstGeom prst="rect">
            <a:avLst/>
          </a:prstGeom>
          <a:noFill/>
          <a:ln/>
        </p:spPr>
        <p:txBody>
          <a:bodyPr wrap="square" lIns="8509" tIns="102108" rIns="8509" bIns="8509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企业不必为每个数据源维护完全独立的定制连接器，可围绕标准协议构建更可持续的系统连接架构。[6]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186113" y="2934463"/>
            <a:ext cx="1228725" cy="400385"/>
          </a:xfrm>
          <a:prstGeom prst="rect">
            <a:avLst/>
          </a:prstGeom>
          <a:noFill/>
          <a:ln/>
        </p:spPr>
        <p:txBody>
          <a:bodyPr wrap="square" lIns="8509" tIns="102108" rIns="8509" bIns="8509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生态中立化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414838" y="2934463"/>
            <a:ext cx="4271963" cy="400385"/>
          </a:xfrm>
          <a:prstGeom prst="rect">
            <a:avLst/>
          </a:prstGeom>
          <a:noFill/>
          <a:ln/>
        </p:spPr>
        <p:txBody>
          <a:bodyPr wrap="square" lIns="8509" tIns="102108" rIns="8509" bIns="8509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Anthropic 后续将 MCP 捐赠给 Linux Foundation 旗下 Agentic AI Foundation，并称 MCP 已被多个主流 AI 产品采用。[9]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57200" y="4196116"/>
            <a:ext cx="1357313" cy="32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治理提醒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014538" y="4196116"/>
            <a:ext cx="6672263" cy="32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6400"/>
              </a:lnSpc>
              <a:buNone/>
            </a:pP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Claude 文档提示，远程 MCP server 可由第三方提供，Anthropic 不拥有、不运营、不背书这些第三方服务；企业连接前需要评估服务器可信度、安全实践与服务条款。[10]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8401050" y="4880967"/>
            <a:ext cx="28575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A93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/ 15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85750"/>
            <a:ext cx="822960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EA5C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CROSS-CASE COMPARISON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457200" y="491133"/>
            <a:ext cx="8229600" cy="272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700" b="1" spc="-1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横向比较：Claude 的价值来自“读懂后去行动”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57200" y="977466"/>
            <a:ext cx="7772400" cy="361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800"/>
              </a:lnSpc>
              <a:buNone/>
            </a:pP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把所有案例放在一起看，Anthropic 的 B 端落地不是单一聊天功能，而是让 Claude 进入企业上下文后，</a:t>
            </a:r>
            <a:r>
              <a:rPr lang="en-US" sz="8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读信息、做判断、生成产物、连接系统并推动流程</a:t>
            </a:r>
            <a:r>
              <a:rPr lang="en-US" sz="8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1395654"/>
            <a:ext cx="1216223" cy="257175"/>
          </a:xfrm>
          <a:prstGeom prst="rect">
            <a:avLst/>
          </a:prstGeom>
          <a:noFill/>
          <a:ln/>
        </p:spPr>
        <p:txBody>
          <a:bodyPr wrap="square" lIns="8509" tIns="0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案例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1673423" y="1395654"/>
            <a:ext cx="1762441" cy="257175"/>
          </a:xfrm>
          <a:prstGeom prst="rect">
            <a:avLst/>
          </a:prstGeom>
          <a:noFill/>
          <a:ln/>
        </p:spPr>
        <p:txBody>
          <a:bodyPr wrap="square" lIns="8509" tIns="0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AI 读取什么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435865" y="1395654"/>
            <a:ext cx="1689608" cy="257175"/>
          </a:xfrm>
          <a:prstGeom prst="rect">
            <a:avLst/>
          </a:prstGeom>
          <a:noFill/>
          <a:ln/>
        </p:spPr>
        <p:txBody>
          <a:bodyPr wrap="square" lIns="8509" tIns="0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AI 判断什么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125473" y="1395654"/>
            <a:ext cx="1798858" cy="257175"/>
          </a:xfrm>
          <a:prstGeom prst="rect">
            <a:avLst/>
          </a:prstGeom>
          <a:noFill/>
          <a:ln/>
        </p:spPr>
        <p:txBody>
          <a:bodyPr wrap="square" lIns="8509" tIns="0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AI 生成什么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924331" y="1395654"/>
            <a:ext cx="1762469" cy="257175"/>
          </a:xfrm>
          <a:prstGeom prst="rect">
            <a:avLst/>
          </a:prstGeom>
          <a:noFill/>
          <a:ln/>
        </p:spPr>
        <p:txBody>
          <a:bodyPr wrap="square" lIns="8509" tIns="0" rIns="8509" bIns="8509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AI 推动什么流程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64344" y="1702836"/>
            <a:ext cx="1201936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8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Slack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680567" y="1697478"/>
            <a:ext cx="9822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读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778794" y="1697478"/>
            <a:ext cx="137517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频道、线程、会议和历史消息。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443008" y="1697478"/>
            <a:ext cx="19645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判断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3639462" y="1697478"/>
            <a:ext cx="117871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哪些讨论与用户问题相关。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5132617" y="1697478"/>
            <a:ext cx="19645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生成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5329070" y="1697478"/>
            <a:ext cx="113764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摘要、recap、会议笔记。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931475" y="1697478"/>
            <a:ext cx="39290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帮助员工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7324381" y="1697478"/>
            <a:ext cx="78581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更快找到上下文。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64344" y="2245761"/>
            <a:ext cx="1201936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8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Notion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680567" y="2240403"/>
            <a:ext cx="9822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读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1680567" y="2240403"/>
            <a:ext cx="1739503" cy="27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任务板、页面、PRD、API 文档、设计系统。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3443008" y="2240403"/>
            <a:ext cx="19645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判断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3639462" y="2240403"/>
            <a:ext cx="127694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任务目标、约束和产出格式。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5132617" y="2240403"/>
            <a:ext cx="19645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生成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5329070" y="2240403"/>
            <a:ext cx="117871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原型、网站、文档、演示。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6931475" y="2240403"/>
            <a:ext cx="29468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把产物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7226154" y="2240403"/>
            <a:ext cx="98226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放回团队审核协作流。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464344" y="2788686"/>
            <a:ext cx="1201936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8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Duvo / Rohlik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680567" y="2783328"/>
            <a:ext cx="9822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读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1680567" y="2783328"/>
            <a:ext cx="1655564" cy="27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ERP、供应商门户、邮件、订单和价格。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3443008" y="2783328"/>
            <a:ext cx="19645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判断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3443008" y="2783328"/>
            <a:ext cx="1571625" cy="27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异常、风险、节省机会和是否升级。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5132617" y="2783328"/>
            <a:ext cx="19645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生成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5329070" y="2783328"/>
            <a:ext cx="15716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供应商邮件、确认请求、合同材料。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6931475" y="2783328"/>
            <a:ext cx="19645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推进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7127928" y="2783328"/>
            <a:ext cx="137517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采购、入库、计划和谈判流程。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64344" y="3331611"/>
            <a:ext cx="1201936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8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SAP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680567" y="3326253"/>
            <a:ext cx="9822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读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1778794" y="3326253"/>
            <a:ext cx="16287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SAP 核心系统与 MCP 外部连接数据。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3443008" y="3326253"/>
            <a:ext cx="19645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判断</a:t>
            </a:r>
            <a:endParaRPr lang="en-US" sz="650" dirty="0"/>
          </a:p>
        </p:txBody>
      </p:sp>
      <p:sp>
        <p:nvSpPr>
          <p:cNvPr id="42" name="Text 39"/>
          <p:cNvSpPr/>
          <p:nvPr/>
        </p:nvSpPr>
        <p:spPr>
          <a:xfrm>
            <a:off x="3639462" y="3326253"/>
            <a:ext cx="137517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跨系统任务下一步应调用什么。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5132617" y="3326253"/>
            <a:ext cx="19645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生成</a:t>
            </a:r>
            <a:endParaRPr lang="en-US" sz="650" dirty="0"/>
          </a:p>
        </p:txBody>
      </p:sp>
      <p:sp>
        <p:nvSpPr>
          <p:cNvPr id="44" name="Text 41"/>
          <p:cNvSpPr/>
          <p:nvPr/>
        </p:nvSpPr>
        <p:spPr>
          <a:xfrm>
            <a:off x="5329070" y="3326253"/>
            <a:ext cx="147339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业务说明、流程建议、执行指令。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6931475" y="3326253"/>
            <a:ext cx="19645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协调</a:t>
            </a:r>
            <a:endParaRPr lang="en-US" sz="650" dirty="0"/>
          </a:p>
        </p:txBody>
      </p:sp>
      <p:sp>
        <p:nvSpPr>
          <p:cNvPr id="46" name="Text 43"/>
          <p:cNvSpPr/>
          <p:nvPr/>
        </p:nvSpPr>
        <p:spPr>
          <a:xfrm>
            <a:off x="7127928" y="3326253"/>
            <a:ext cx="11876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Joule agents 和企业应用。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464344" y="3874536"/>
            <a:ext cx="1201936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8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GreenCore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1680567" y="3869178"/>
            <a:ext cx="9822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读</a:t>
            </a:r>
            <a:endParaRPr lang="en-US" sz="650" dirty="0"/>
          </a:p>
        </p:txBody>
      </p:sp>
      <p:sp>
        <p:nvSpPr>
          <p:cNvPr id="49" name="Text 46"/>
          <p:cNvSpPr/>
          <p:nvPr/>
        </p:nvSpPr>
        <p:spPr>
          <a:xfrm>
            <a:off x="1778794" y="3869178"/>
            <a:ext cx="14644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SKU 合规信号和 eligibility 数据。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3443008" y="3869178"/>
            <a:ext cx="19645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判断</a:t>
            </a:r>
            <a:endParaRPr lang="en-US" sz="650" dirty="0"/>
          </a:p>
        </p:txBody>
      </p:sp>
      <p:sp>
        <p:nvSpPr>
          <p:cNvPr id="51" name="Text 48"/>
          <p:cNvSpPr/>
          <p:nvPr/>
        </p:nvSpPr>
        <p:spPr>
          <a:xfrm>
            <a:off x="3639462" y="3869178"/>
            <a:ext cx="108049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商品是否满足采购条件。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5132617" y="3869178"/>
            <a:ext cx="19645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生成</a:t>
            </a:r>
            <a:endParaRPr lang="en-US" sz="650" dirty="0"/>
          </a:p>
        </p:txBody>
      </p:sp>
      <p:sp>
        <p:nvSpPr>
          <p:cNvPr id="53" name="Text 50"/>
          <p:cNvSpPr/>
          <p:nvPr/>
        </p:nvSpPr>
        <p:spPr>
          <a:xfrm>
            <a:off x="5329070" y="3869178"/>
            <a:ext cx="68758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合规检查结果。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6931475" y="3869178"/>
            <a:ext cx="19645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6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支持</a:t>
            </a:r>
            <a:endParaRPr lang="en-US" sz="650" dirty="0"/>
          </a:p>
        </p:txBody>
      </p:sp>
      <p:sp>
        <p:nvSpPr>
          <p:cNvPr id="55" name="Text 52"/>
          <p:cNvSpPr/>
          <p:nvPr/>
        </p:nvSpPr>
        <p:spPr>
          <a:xfrm>
            <a:off x="7127928" y="3869178"/>
            <a:ext cx="68758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代理采购筛选。</a:t>
            </a:r>
            <a:endParaRPr lang="en-US" sz="700" dirty="0"/>
          </a:p>
        </p:txBody>
      </p:sp>
      <p:sp>
        <p:nvSpPr>
          <p:cNvPr id="56" name="Text 53"/>
          <p:cNvSpPr/>
          <p:nvPr/>
        </p:nvSpPr>
        <p:spPr>
          <a:xfrm>
            <a:off x="457200" y="4553192"/>
            <a:ext cx="1428750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最终判断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2100263" y="4553192"/>
            <a:ext cx="6586538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越靠近系统与流程，AI 价值越大。</a:t>
            </a: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Slack/Notion 主要提升知识和产出效率；Duvo/Rohlik 已进入采购与供应链执行；SAP 代表未来平台级入口。</a:t>
            </a:r>
            <a:endParaRPr lang="en-US" sz="700" dirty="0"/>
          </a:p>
        </p:txBody>
      </p:sp>
      <p:sp>
        <p:nvSpPr>
          <p:cNvPr id="58" name="Text 55"/>
          <p:cNvSpPr/>
          <p:nvPr/>
        </p:nvSpPr>
        <p:spPr>
          <a:xfrm>
            <a:off x="8401050" y="4880967"/>
            <a:ext cx="28575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A93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17 / 19</a:t>
            </a:r>
            <a:endParaRPr lang="en-US" sz="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85750"/>
            <a:ext cx="822960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EA5C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ENTERPRISE IMPLICATIONS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457200" y="491133"/>
            <a:ext cx="8229600" cy="272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700" b="1" spc="-1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对企业落地的启示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57200" y="977466"/>
            <a:ext cx="7715250" cy="376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Anthropic 的 To B 案例说明，企业 AI 价值通常不来自单点问答，而来自 </a:t>
            </a:r>
            <a:r>
              <a:rPr lang="en-US" sz="8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高上下文、跨系统、可治理</a:t>
            </a:r>
            <a:r>
              <a:rPr lang="en-US" sz="9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的工作流。供应链场景尤其适合代理化，因</a:t>
            </a:r>
            <a:r>
              <a:rPr lang="en-US" sz="90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为它长期存在系统割裂、异常多、人工追踪密集和长尾动作无人处理的问题。[3] [4] [6]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1646802"/>
            <a:ext cx="614363" cy="1014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2350" b="1" spc="-2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01</a:t>
            </a:r>
            <a:endParaRPr lang="en-US" sz="2350" dirty="0"/>
          </a:p>
        </p:txBody>
      </p:sp>
      <p:sp>
        <p:nvSpPr>
          <p:cNvPr id="7" name="Text 4"/>
          <p:cNvSpPr/>
          <p:nvPr/>
        </p:nvSpPr>
        <p:spPr>
          <a:xfrm>
            <a:off x="1200150" y="1646802"/>
            <a:ext cx="324326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从高频痛点切入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200150" y="1896833"/>
            <a:ext cx="3243263" cy="331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优先选择供应商确认、价格监测、订单异常、合同条款抽取等 </a:t>
            </a:r>
            <a:r>
              <a:rPr lang="en-US" sz="7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重复但高价值</a:t>
            </a: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的场景，而不是一开始追求全流程自动化。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700588" y="1646802"/>
            <a:ext cx="614363" cy="1014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2350" b="1" spc="-2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02</a:t>
            </a:r>
            <a:endParaRPr lang="en-US" sz="2350" dirty="0"/>
          </a:p>
        </p:txBody>
      </p:sp>
      <p:sp>
        <p:nvSpPr>
          <p:cNvPr id="10" name="Text 7"/>
          <p:cNvSpPr/>
          <p:nvPr/>
        </p:nvSpPr>
        <p:spPr>
          <a:xfrm>
            <a:off x="5443538" y="1646802"/>
            <a:ext cx="324326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明确人类审批边界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43538" y="1896833"/>
            <a:ext cx="3243263" cy="331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对高风险动作保留 </a:t>
            </a:r>
            <a:r>
              <a:rPr lang="en-US" sz="7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human-in-the-loop</a:t>
            </a: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，将升级规则、审批权限和审</a:t>
            </a: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计轨迹设计进流程，而不是事后补治理。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57200" y="2939821"/>
            <a:ext cx="614363" cy="1014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2350" b="1" spc="-2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03</a:t>
            </a:r>
            <a:endParaRPr lang="en-US" sz="2350" dirty="0"/>
          </a:p>
        </p:txBody>
      </p:sp>
      <p:sp>
        <p:nvSpPr>
          <p:cNvPr id="13" name="Text 10"/>
          <p:cNvSpPr/>
          <p:nvPr/>
        </p:nvSpPr>
        <p:spPr>
          <a:xfrm>
            <a:off x="1200150" y="2939821"/>
            <a:ext cx="324326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重视系统连接能力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200150" y="3189852"/>
            <a:ext cx="3243263" cy="331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评估 MCP、Agent SDK、computer use 或既有 ERP connector 能否覆盖真实流程，尤其是门户、邮件、表格和遗留系统。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700588" y="2939821"/>
            <a:ext cx="614363" cy="1014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2350" b="1" spc="-2" kern="0" dirty="0">
                <a:solidFill>
                  <a:srgbClr val="A7C7D7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04</a:t>
            </a:r>
            <a:endParaRPr lang="en-US" sz="2350" dirty="0"/>
          </a:p>
        </p:txBody>
      </p:sp>
      <p:sp>
        <p:nvSpPr>
          <p:cNvPr id="16" name="Text 13"/>
          <p:cNvSpPr/>
          <p:nvPr/>
        </p:nvSpPr>
        <p:spPr>
          <a:xfrm>
            <a:off x="5443538" y="2939821"/>
            <a:ext cx="324326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分层看待外部证据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43538" y="3189852"/>
            <a:ext cx="3243263" cy="331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区分已实施客户案例、平台合作公告与生态新闻稿，避免把不同证据等级的公开信息直接外推到采购决策。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57200" y="4232839"/>
            <a:ext cx="1500188" cy="335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落地判断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171700" y="4232839"/>
            <a:ext cx="6515100" cy="335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9600"/>
              </a:lnSpc>
              <a:buNone/>
            </a:pPr>
            <a:r>
              <a:rPr lang="en-US" sz="700" b="1" dirty="0">
                <a:solidFill>
                  <a:srgbClr val="113B5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先小闭环、再扩系统、最后规模化治理。</a:t>
            </a: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企业应从可量化的运营动作入手，用真实数据验证节省、准确性与风险边界，再逐步把代理能力扩展</a:t>
            </a:r>
            <a:r>
              <a:rPr lang="en-US" sz="75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到跨系统工作流。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8401050" y="4880967"/>
            <a:ext cx="28575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A93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 / 15</a:t>
            </a:r>
            <a:endParaRPr lang="en-US" sz="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85750"/>
            <a:ext cx="822960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EA5C6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REFERENCES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457200" y="491133"/>
            <a:ext cx="8229600" cy="272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700" b="1" spc="-1" kern="0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参考来源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57200" y="970322"/>
            <a:ext cx="7715250" cy="1716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本页列出演示中使用的主要可考来源。为避免证据强度混同，官方客户故事、官方合作公告、官方技术新闻、产品文档与第三方新闻稿分别标注。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1391971"/>
            <a:ext cx="3964781" cy="1639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官方客户案例与合作公告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" y="1613064"/>
            <a:ext cx="328613" cy="303833"/>
          </a:xfrm>
          <a:prstGeom prst="rect">
            <a:avLst/>
          </a:prstGeom>
          <a:noFill/>
          <a:ln/>
        </p:spPr>
        <p:txBody>
          <a:bodyPr wrap="square" lIns="8509" tIns="59563" rIns="8509" bIns="8509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[1]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792956" y="1657713"/>
            <a:ext cx="82688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Claude Customers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792956" y="1657713"/>
            <a:ext cx="3548658" cy="253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，Anthropic / Claude 官方客户案例索引；用于确认公开企业案例范围与案例入口。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457200" y="1916897"/>
            <a:ext cx="328613" cy="307404"/>
          </a:xfrm>
          <a:prstGeom prst="rect">
            <a:avLst/>
          </a:prstGeom>
          <a:noFill/>
          <a:ln/>
        </p:spPr>
        <p:txBody>
          <a:bodyPr wrap="square" lIns="8509" tIns="59563" rIns="8509" bIns="8509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[2]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792956" y="1965117"/>
            <a:ext cx="102155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Notion customer story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792956" y="1965117"/>
            <a:ext cx="3545086" cy="253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，Claude 官方客户故事；用于 Notion Managed Agents、任务板、并发 agent tasks 与原型效率信息。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457200" y="2224301"/>
            <a:ext cx="328613" cy="307404"/>
          </a:xfrm>
          <a:prstGeom prst="rect">
            <a:avLst/>
          </a:prstGeom>
          <a:noFill/>
          <a:ln/>
        </p:spPr>
        <p:txBody>
          <a:bodyPr wrap="square" lIns="8509" tIns="59563" rIns="8509" bIns="8509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[3]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792956" y="2272522"/>
            <a:ext cx="106263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Duvo.ai customer story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792956" y="2272522"/>
            <a:ext cx="3471863" cy="253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，Claude 官方客户故事；用于 Duvo 架构、Rohlik 供应链计划、价格监测、供应商外联与量化结果。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457200" y="2531706"/>
            <a:ext cx="328613" cy="307404"/>
          </a:xfrm>
          <a:prstGeom prst="rect">
            <a:avLst/>
          </a:prstGeom>
          <a:noFill/>
          <a:ln/>
        </p:spPr>
        <p:txBody>
          <a:bodyPr wrap="square" lIns="8509" tIns="59563" rIns="8509" bIns="8509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[4]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792956" y="2579926"/>
            <a:ext cx="163056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Annual negotiations customer story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792956" y="2579926"/>
            <a:ext cx="3541514" cy="253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，Duvo 官方客户故事；用于 Rohlik 年度供应商谈判、70–80% 自动化、合同生成、审批与 ERP 写回。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457200" y="2839110"/>
            <a:ext cx="328613" cy="428960"/>
          </a:xfrm>
          <a:prstGeom prst="rect">
            <a:avLst/>
          </a:prstGeom>
          <a:noFill/>
          <a:ln/>
        </p:spPr>
        <p:txBody>
          <a:bodyPr wrap="square" lIns="8509" tIns="59563" rIns="8509" bIns="8509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[5]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792956" y="2887331"/>
            <a:ext cx="336827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SAP News: SAP and Anthropic to bring Claude to SAP Business AI Platform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792956" y="2887331"/>
            <a:ext cx="3598664" cy="375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，SAP 官方新闻；用于 SAP Business AI Platform、Joule agents、Ariba、S/4HANA 与供应链示例。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4722019" y="1391971"/>
            <a:ext cx="3964781" cy="1639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技术标准、文档与生态补充来源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722019" y="1613064"/>
            <a:ext cx="328613" cy="303833"/>
          </a:xfrm>
          <a:prstGeom prst="rect">
            <a:avLst/>
          </a:prstGeom>
          <a:noFill/>
          <a:ln/>
        </p:spPr>
        <p:txBody>
          <a:bodyPr wrap="square" lIns="8509" tIns="59563" rIns="8509" bIns="8509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[6]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5057775" y="1657713"/>
            <a:ext cx="184665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Anthropic News: Model Context Protocol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5057775" y="1657713"/>
            <a:ext cx="3523655" cy="253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，Anthropic 官方新闻；用于 MCP 作为 AI assistants 与数据系统安全双向连接开放标准的定义。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4722019" y="1916897"/>
            <a:ext cx="328613" cy="307404"/>
          </a:xfrm>
          <a:prstGeom prst="rect">
            <a:avLst/>
          </a:prstGeom>
          <a:noFill/>
          <a:ln/>
        </p:spPr>
        <p:txBody>
          <a:bodyPr wrap="square" lIns="8509" tIns="59563" rIns="8509" bIns="8509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[7]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5057775" y="1965117"/>
            <a:ext cx="96083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Slack customer story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5057775" y="1965117"/>
            <a:ext cx="3545086" cy="253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，Claude 官方客户故事；用于 Slack AI、搜索、摘要、recaps、huddles notes 与每周节省 97 分钟信息。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4722019" y="2224301"/>
            <a:ext cx="328613" cy="307404"/>
          </a:xfrm>
          <a:prstGeom prst="rect">
            <a:avLst/>
          </a:prstGeom>
          <a:noFill/>
          <a:ln/>
        </p:spPr>
        <p:txBody>
          <a:bodyPr wrap="square" lIns="8509" tIns="59563" rIns="8509" bIns="8509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[8]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5057775" y="2272522"/>
            <a:ext cx="276463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Morningstar / GlobeNewswire: TreeFree Diaper AI-ready SKU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5057775" y="2272522"/>
            <a:ext cx="3493294" cy="253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，第三方转载新闻稿；用于 GreenCore / TreeFree Diaper、MCP registry 与代理采购趋势信号。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4722019" y="2531706"/>
            <a:ext cx="328613" cy="307404"/>
          </a:xfrm>
          <a:prstGeom prst="rect">
            <a:avLst/>
          </a:prstGeom>
          <a:noFill/>
          <a:ln/>
        </p:spPr>
        <p:txBody>
          <a:bodyPr wrap="square" lIns="8509" tIns="59563" rIns="8509" bIns="8509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[9]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5057775" y="2579926"/>
            <a:ext cx="158234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Anthropic / MCP ecosystem update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5057775" y="2579926"/>
            <a:ext cx="3430786" cy="253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，Anthropic 官方相关信息；用于 MCP 捐赠至 Linux Foundation 旗下 Agentic AI Foundation 与生态采用信息。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4722019" y="2839110"/>
            <a:ext cx="328613" cy="307404"/>
          </a:xfrm>
          <a:prstGeom prst="rect">
            <a:avLst/>
          </a:prstGeom>
          <a:noFill/>
          <a:ln/>
        </p:spPr>
        <p:txBody>
          <a:bodyPr wrap="square" lIns="8509" tIns="59563" rIns="8509" bIns="8509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00" b="1" dirty="0">
                <a:solidFill>
                  <a:srgbClr val="0EA5C6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[10]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5057775" y="2887331"/>
            <a:ext cx="2591395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0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Claude Docs: MCP connector and remote server guidance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5057775" y="2887331"/>
            <a:ext cx="3545086" cy="253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650" dirty="0">
                <a:solidFill>
                  <a:srgbClr val="2F3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，Claude 官方文档；用于第三方 MCP server 风险、可信度、安全实践与服务条款提示。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457200" y="3507386"/>
            <a:ext cx="1357313" cy="293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13B5B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证据分层原则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2014538" y="3507386"/>
            <a:ext cx="6672263" cy="293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1600"/>
              </a:lnSpc>
              <a:buNone/>
            </a:pPr>
            <a:r>
              <a:rPr lang="en-US" sz="650" b="1" dirty="0">
                <a:solidFill>
                  <a:srgbClr val="113B5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已实施客户案例</a:t>
            </a:r>
            <a:r>
              <a:rPr lang="en-US" sz="70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用于描述业务流程和量化效果；</a:t>
            </a:r>
            <a:r>
              <a:rPr lang="en-US" sz="650" b="1" dirty="0">
                <a:solidFill>
                  <a:srgbClr val="113B5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官方平台合作公告</a:t>
            </a:r>
            <a:r>
              <a:rPr lang="en-US" sz="70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用于描述计划集成与平台方向；</a:t>
            </a:r>
            <a:r>
              <a:rPr lang="en-US" sz="650" b="1" dirty="0">
                <a:solidFill>
                  <a:srgbClr val="113B5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第三方新闻稿</a:t>
            </a:r>
            <a:r>
              <a:rPr lang="en-US" sz="70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仅作为生态趋势信号，不外推为 Anthropic </a:t>
            </a:r>
            <a:r>
              <a:rPr lang="en-US" sz="700" dirty="0">
                <a:solidFill>
                  <a:srgbClr val="5E74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官方客户成效。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8401050" y="4880967"/>
            <a:ext cx="285750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7A93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 / 15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2026-06-10T17:17:14Z</dcterms:created>
  <dcterms:modified xsi:type="dcterms:W3CDTF">2026-06-10T17:17:14Z</dcterms:modified>
</cp:coreProperties>
</file>