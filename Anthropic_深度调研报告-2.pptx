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564356"/>
            <a:ext cx="8286750" cy="107156"/>
          </a:xfrm>
          <a:prstGeom prst="rect">
            <a:avLst/>
          </a:prstGeom>
          <a:noFill/>
          <a:ln/>
        </p:spPr>
        <p:txBody>
          <a:bodyPr wrap="square" lIns="0" tIns="0" rIns="0" bIns="0" rtlCol="0" anchor="t">
            <a:spAutoFit/>
          </a:bodyPr>
          <a:lstStyle/>
          <a:p>
            <a:pPr algn="l" indent="0" marL="0">
              <a:buNone/>
            </a:pPr>
            <a:r>
              <a:rPr lang="en-US" sz="650" b="1" spc="3" kern="0" dirty="0">
                <a:solidFill>
                  <a:srgbClr val="0B8F5A"/>
                </a:solidFill>
                <a:latin typeface="Inter ExtraBold" pitchFamily="34" charset="0"/>
                <a:ea typeface="Inter ExtraBold" pitchFamily="34" charset="-122"/>
                <a:cs typeface="Inter ExtraBold" pitchFamily="34" charset="-120"/>
              </a:rPr>
              <a:t>ANTHROPIC DEEP RESEARCH</a:t>
            </a:r>
            <a:endParaRPr lang="en-US" sz="650" dirty="0"/>
          </a:p>
        </p:txBody>
      </p:sp>
      <p:sp>
        <p:nvSpPr>
          <p:cNvPr id="4" name="Text 1"/>
          <p:cNvSpPr/>
          <p:nvPr/>
        </p:nvSpPr>
        <p:spPr>
          <a:xfrm>
            <a:off x="428625" y="828675"/>
            <a:ext cx="4929188" cy="912391"/>
          </a:xfrm>
          <a:prstGeom prst="rect">
            <a:avLst/>
          </a:prstGeom>
          <a:noFill/>
          <a:ln/>
        </p:spPr>
        <p:txBody>
          <a:bodyPr wrap="square" lIns="0" tIns="0" rIns="0" bIns="0" rtlCol="0" anchor="t">
            <a:spAutoFit/>
          </a:bodyPr>
          <a:lstStyle/>
          <a:p>
            <a:pPr algn="l" indent="0" marL="0">
              <a:lnSpc>
                <a:spcPct val="82400"/>
              </a:lnSpc>
              <a:buNone/>
            </a:pPr>
            <a:r>
              <a:rPr lang="en-US" sz="3200" b="1" spc="-1" kern="0" dirty="0">
                <a:solidFill>
                  <a:srgbClr val="102033"/>
                </a:solidFill>
                <a:latin typeface="Inter Bold" pitchFamily="34" charset="0"/>
                <a:ea typeface="Inter Bold" pitchFamily="34" charset="-122"/>
                <a:cs typeface="Inter Bold" pitchFamily="34" charset="-120"/>
              </a:rPr>
              <a:t>Anthropic</a:t>
            </a:r>
            <a:r>
              <a:rPr lang="en-US" sz="3200" b="1" spc="-1" kern="0" dirty="0">
                <a:solidFill>
                  <a:srgbClr val="102033"/>
                </a:solidFill>
                <a:latin typeface="Inter Bold" pitchFamily="34" charset="0"/>
                <a:ea typeface="Inter Bold" pitchFamily="34" charset="-122"/>
                <a:cs typeface="Inter Bold" pitchFamily="34" charset="-120"/>
              </a:rPr>
              <a:t>
</a:t>
            </a:r>
            <a:r>
              <a:rPr lang="en-US" sz="3200" b="1" spc="-1" kern="0" dirty="0">
                <a:solidFill>
                  <a:srgbClr val="102033"/>
                </a:solidFill>
                <a:latin typeface="Inter Bold" pitchFamily="34" charset="0"/>
                <a:ea typeface="Inter Bold" pitchFamily="34" charset="-122"/>
                <a:cs typeface="Inter Bold" pitchFamily="34" charset="-120"/>
              </a:rPr>
              <a:t>深度调研报告</a:t>
            </a:r>
            <a:endParaRPr lang="en-US" sz="3200" dirty="0"/>
          </a:p>
        </p:txBody>
      </p:sp>
      <p:sp>
        <p:nvSpPr>
          <p:cNvPr id="5" name="Text 2"/>
          <p:cNvSpPr/>
          <p:nvPr/>
        </p:nvSpPr>
        <p:spPr>
          <a:xfrm>
            <a:off x="428625" y="1941091"/>
            <a:ext cx="4643438" cy="455749"/>
          </a:xfrm>
          <a:prstGeom prst="rect">
            <a:avLst/>
          </a:prstGeom>
          <a:noFill/>
          <a:ln/>
        </p:spPr>
        <p:txBody>
          <a:bodyPr wrap="square" lIns="0" tIns="0" rIns="0" bIns="0" rtlCol="0" anchor="t">
            <a:spAutoFit/>
          </a:bodyPr>
          <a:lstStyle/>
          <a:p>
            <a:pPr algn="l" indent="0" marL="0">
              <a:lnSpc>
                <a:spcPct val="116000"/>
              </a:lnSpc>
              <a:buNone/>
            </a:pPr>
            <a:r>
              <a:rPr lang="en-US" sz="1150" dirty="0">
                <a:solidFill>
                  <a:srgbClr val="4B5F73"/>
                </a:solidFill>
                <a:latin typeface="Inter" pitchFamily="34" charset="0"/>
                <a:ea typeface="Inter" pitchFamily="34" charset="-122"/>
                <a:cs typeface="Inter" pitchFamily="34" charset="-120"/>
              </a:rPr>
              <a:t>重点覆盖创始团队、公司治理、核心技术架构、完整产品体系、To B 产品策略，以及供应链行业近似落地路径。</a:t>
            </a:r>
            <a:endParaRPr lang="en-US" sz="1150" dirty="0"/>
          </a:p>
        </p:txBody>
      </p:sp>
      <p:sp>
        <p:nvSpPr>
          <p:cNvPr id="6" name="Text 3"/>
          <p:cNvSpPr/>
          <p:nvPr/>
        </p:nvSpPr>
        <p:spPr>
          <a:xfrm>
            <a:off x="5929313" y="1078706"/>
            <a:ext cx="2643188" cy="226814"/>
          </a:xfrm>
          <a:prstGeom prst="rect">
            <a:avLst/>
          </a:prstGeom>
          <a:noFill/>
          <a:ln/>
        </p:spPr>
        <p:txBody>
          <a:bodyPr wrap="square" lIns="0" tIns="0" rIns="0" bIns="0" rtlCol="0" anchor="t">
            <a:spAutoFit/>
          </a:bodyPr>
          <a:lstStyle/>
          <a:p>
            <a:pPr algn="l" indent="0" marL="0">
              <a:buNone/>
            </a:pPr>
            <a:r>
              <a:rPr lang="en-US" sz="1100" b="1" dirty="0">
                <a:solidFill>
                  <a:srgbClr val="1E63FF"/>
                </a:solidFill>
                <a:latin typeface="Inter Bold" pitchFamily="34" charset="0"/>
                <a:ea typeface="Inter Bold" pitchFamily="34" charset="-122"/>
                <a:cs typeface="Inter Bold" pitchFamily="34" charset="-120"/>
              </a:rPr>
              <a:t>研究范围</a:t>
            </a:r>
            <a:endParaRPr lang="en-US" sz="1100" dirty="0"/>
          </a:p>
        </p:txBody>
      </p:sp>
      <p:sp>
        <p:nvSpPr>
          <p:cNvPr id="7" name="Text 4"/>
          <p:cNvSpPr/>
          <p:nvPr/>
        </p:nvSpPr>
        <p:spPr>
          <a:xfrm>
            <a:off x="5929313" y="1526977"/>
            <a:ext cx="2643188" cy="155377"/>
          </a:xfrm>
          <a:prstGeom prst="rect">
            <a:avLst/>
          </a:prstGeom>
          <a:noFill/>
          <a:ln/>
        </p:spPr>
        <p:txBody>
          <a:bodyPr wrap="none" lIns="0" tIns="0" rIns="0" bIns="0" rtlCol="0" anchor="t">
            <a:spAutoFit/>
          </a:bodyPr>
          <a:lstStyle/>
          <a:p>
            <a:pPr algn="l" indent="0" marL="0">
              <a:lnSpc>
                <a:spcPct val="116000"/>
              </a:lnSpc>
              <a:buNone/>
            </a:pPr>
            <a:r>
              <a:rPr lang="en-US" sz="750" b="1" dirty="0">
                <a:solidFill>
                  <a:srgbClr val="102033"/>
                </a:solidFill>
                <a:latin typeface="Inter Bold" pitchFamily="34" charset="0"/>
                <a:ea typeface="Inter Bold" pitchFamily="34" charset="-122"/>
                <a:cs typeface="Inter Bold" pitchFamily="34" charset="-120"/>
              </a:rPr>
              <a:t>产品全景</a:t>
            </a:r>
            <a:endParaRPr lang="en-US" sz="750" dirty="0"/>
          </a:p>
        </p:txBody>
      </p:sp>
      <p:sp>
        <p:nvSpPr>
          <p:cNvPr id="8" name="Text 5"/>
          <p:cNvSpPr/>
          <p:nvPr/>
        </p:nvSpPr>
        <p:spPr>
          <a:xfrm>
            <a:off x="5929313" y="1721644"/>
            <a:ext cx="2233175" cy="119658"/>
          </a:xfrm>
          <a:prstGeom prst="rect">
            <a:avLst/>
          </a:prstGeom>
          <a:noFill/>
          <a:ln/>
        </p:spPr>
        <p:txBody>
          <a:bodyPr wrap="none" lIns="0" tIns="0" rIns="0" bIns="0" rtlCol="0" anchor="t">
            <a:spAutoFit/>
          </a:bodyPr>
          <a:lstStyle/>
          <a:p>
            <a:pPr algn="l" indent="0" marL="0">
              <a:lnSpc>
                <a:spcPct val="116000"/>
              </a:lnSpc>
              <a:buNone/>
            </a:pPr>
            <a:r>
              <a:rPr lang="en-US" sz="800" dirty="0">
                <a:solidFill>
                  <a:srgbClr val="4B5F73"/>
                </a:solidFill>
                <a:latin typeface="Inter" pitchFamily="34" charset="0"/>
                <a:ea typeface="Inter" pitchFamily="34" charset="-122"/>
                <a:cs typeface="Inter" pitchFamily="34" charset="-120"/>
              </a:rPr>
              <a:t>Claude、模型、Enterprise、Platform、Code、</a:t>
            </a:r>
            <a:endParaRPr lang="en-US" sz="800" dirty="0"/>
          </a:p>
        </p:txBody>
      </p:sp>
      <p:sp>
        <p:nvSpPr>
          <p:cNvPr id="9" name="Text 6"/>
          <p:cNvSpPr/>
          <p:nvPr/>
        </p:nvSpPr>
        <p:spPr>
          <a:xfrm>
            <a:off x="5929313" y="1877020"/>
            <a:ext cx="1821879" cy="119658"/>
          </a:xfrm>
          <a:prstGeom prst="rect">
            <a:avLst/>
          </a:prstGeom>
          <a:noFill/>
          <a:ln/>
        </p:spPr>
        <p:txBody>
          <a:bodyPr wrap="none" lIns="0" tIns="0" rIns="0" bIns="0" rtlCol="0" anchor="t">
            <a:spAutoFit/>
          </a:bodyPr>
          <a:lstStyle/>
          <a:p>
            <a:pPr algn="l" indent="0" marL="0">
              <a:lnSpc>
                <a:spcPct val="116000"/>
              </a:lnSpc>
              <a:buNone/>
            </a:pPr>
            <a:r>
              <a:rPr lang="en-US" sz="800" dirty="0">
                <a:solidFill>
                  <a:srgbClr val="4B5F73"/>
                </a:solidFill>
                <a:latin typeface="Inter" pitchFamily="34" charset="0"/>
                <a:ea typeface="Inter" pitchFamily="34" charset="-122"/>
                <a:cs typeface="Inter" pitchFamily="34" charset="-120"/>
              </a:rPr>
              <a:t>Cowork、Security、连接器与云渠道。</a:t>
            </a:r>
            <a:endParaRPr lang="en-US" sz="800" dirty="0"/>
          </a:p>
        </p:txBody>
      </p:sp>
      <p:sp>
        <p:nvSpPr>
          <p:cNvPr id="10" name="Text 7"/>
          <p:cNvSpPr/>
          <p:nvPr/>
        </p:nvSpPr>
        <p:spPr>
          <a:xfrm>
            <a:off x="5929313" y="2193131"/>
            <a:ext cx="2643188" cy="155377"/>
          </a:xfrm>
          <a:prstGeom prst="rect">
            <a:avLst/>
          </a:prstGeom>
          <a:noFill/>
          <a:ln/>
        </p:spPr>
        <p:txBody>
          <a:bodyPr wrap="none" lIns="0" tIns="0" rIns="0" bIns="0" rtlCol="0" anchor="t">
            <a:spAutoFit/>
          </a:bodyPr>
          <a:lstStyle/>
          <a:p>
            <a:pPr algn="l" indent="0" marL="0">
              <a:lnSpc>
                <a:spcPct val="116000"/>
              </a:lnSpc>
              <a:buNone/>
            </a:pPr>
            <a:r>
              <a:rPr lang="en-US" sz="750" b="1" dirty="0">
                <a:solidFill>
                  <a:srgbClr val="102033"/>
                </a:solidFill>
                <a:latin typeface="Inter Bold" pitchFamily="34" charset="0"/>
                <a:ea typeface="Inter Bold" pitchFamily="34" charset="-122"/>
                <a:cs typeface="Inter Bold" pitchFamily="34" charset="-120"/>
              </a:rPr>
              <a:t>To B 重点</a:t>
            </a:r>
            <a:endParaRPr lang="en-US" sz="750" dirty="0"/>
          </a:p>
        </p:txBody>
      </p:sp>
      <p:sp>
        <p:nvSpPr>
          <p:cNvPr id="11" name="Text 8"/>
          <p:cNvSpPr/>
          <p:nvPr/>
        </p:nvSpPr>
        <p:spPr>
          <a:xfrm>
            <a:off x="5929313" y="2387798"/>
            <a:ext cx="2464594" cy="119658"/>
          </a:xfrm>
          <a:prstGeom prst="rect">
            <a:avLst/>
          </a:prstGeom>
          <a:noFill/>
          <a:ln/>
        </p:spPr>
        <p:txBody>
          <a:bodyPr wrap="none" lIns="0" tIns="0" rIns="0" bIns="0" rtlCol="0" anchor="t">
            <a:spAutoFit/>
          </a:bodyPr>
          <a:lstStyle/>
          <a:p>
            <a:pPr algn="l" indent="0" marL="0">
              <a:lnSpc>
                <a:spcPct val="116000"/>
              </a:lnSpc>
              <a:buNone/>
            </a:pPr>
            <a:r>
              <a:rPr lang="en-US" sz="800" dirty="0">
                <a:solidFill>
                  <a:srgbClr val="4B5F73"/>
                </a:solidFill>
                <a:latin typeface="Inter" pitchFamily="34" charset="0"/>
                <a:ea typeface="Inter" pitchFamily="34" charset="-122"/>
                <a:cs typeface="Inter" pitchFamily="34" charset="-120"/>
              </a:rPr>
              <a:t>员工部署、平台内嵌、企业治理、采购合规、生态集</a:t>
            </a:r>
            <a:endParaRPr lang="en-US" sz="800" dirty="0"/>
          </a:p>
        </p:txBody>
      </p:sp>
      <p:sp>
        <p:nvSpPr>
          <p:cNvPr id="12" name="Text 9"/>
          <p:cNvSpPr/>
          <p:nvPr/>
        </p:nvSpPr>
        <p:spPr>
          <a:xfrm>
            <a:off x="5929313" y="2543175"/>
            <a:ext cx="214313" cy="119658"/>
          </a:xfrm>
          <a:prstGeom prst="rect">
            <a:avLst/>
          </a:prstGeom>
          <a:noFill/>
          <a:ln/>
        </p:spPr>
        <p:txBody>
          <a:bodyPr wrap="none" lIns="0" tIns="0" rIns="0" bIns="0" rtlCol="0" anchor="t">
            <a:spAutoFit/>
          </a:bodyPr>
          <a:lstStyle/>
          <a:p>
            <a:pPr algn="l" indent="0" marL="0">
              <a:lnSpc>
                <a:spcPct val="116000"/>
              </a:lnSpc>
              <a:buNone/>
            </a:pPr>
            <a:r>
              <a:rPr lang="en-US" sz="800" dirty="0">
                <a:solidFill>
                  <a:srgbClr val="4B5F73"/>
                </a:solidFill>
                <a:latin typeface="Inter" pitchFamily="34" charset="0"/>
                <a:ea typeface="Inter" pitchFamily="34" charset="-122"/>
                <a:cs typeface="Inter" pitchFamily="34" charset="-120"/>
              </a:rPr>
              <a:t>成。</a:t>
            </a:r>
            <a:endParaRPr lang="en-US" sz="800" dirty="0"/>
          </a:p>
        </p:txBody>
      </p:sp>
      <p:sp>
        <p:nvSpPr>
          <p:cNvPr id="13" name="Text 10"/>
          <p:cNvSpPr/>
          <p:nvPr/>
        </p:nvSpPr>
        <p:spPr>
          <a:xfrm>
            <a:off x="5929313" y="2859286"/>
            <a:ext cx="2643188" cy="155377"/>
          </a:xfrm>
          <a:prstGeom prst="rect">
            <a:avLst/>
          </a:prstGeom>
          <a:noFill/>
          <a:ln/>
        </p:spPr>
        <p:txBody>
          <a:bodyPr wrap="none" lIns="0" tIns="0" rIns="0" bIns="0" rtlCol="0" anchor="t">
            <a:spAutoFit/>
          </a:bodyPr>
          <a:lstStyle/>
          <a:p>
            <a:pPr algn="l" indent="0" marL="0">
              <a:lnSpc>
                <a:spcPct val="116000"/>
              </a:lnSpc>
              <a:buNone/>
            </a:pPr>
            <a:r>
              <a:rPr lang="en-US" sz="750" b="1" dirty="0">
                <a:solidFill>
                  <a:srgbClr val="102033"/>
                </a:solidFill>
                <a:latin typeface="Inter Bold" pitchFamily="34" charset="0"/>
                <a:ea typeface="Inter Bold" pitchFamily="34" charset="-122"/>
                <a:cs typeface="Inter Bold" pitchFamily="34" charset="-120"/>
              </a:rPr>
              <a:t>证据原则</a:t>
            </a:r>
            <a:endParaRPr lang="en-US" sz="750" dirty="0"/>
          </a:p>
        </p:txBody>
      </p:sp>
      <p:sp>
        <p:nvSpPr>
          <p:cNvPr id="14" name="Text 11"/>
          <p:cNvSpPr/>
          <p:nvPr/>
        </p:nvSpPr>
        <p:spPr>
          <a:xfrm>
            <a:off x="5929313" y="3053953"/>
            <a:ext cx="2643132" cy="119658"/>
          </a:xfrm>
          <a:prstGeom prst="rect">
            <a:avLst/>
          </a:prstGeom>
          <a:noFill/>
          <a:ln/>
        </p:spPr>
        <p:txBody>
          <a:bodyPr wrap="none" lIns="0" tIns="0" rIns="0" bIns="0" rtlCol="0" anchor="t">
            <a:spAutoFit/>
          </a:bodyPr>
          <a:lstStyle/>
          <a:p>
            <a:pPr algn="l" indent="0" marL="0">
              <a:lnSpc>
                <a:spcPct val="116000"/>
              </a:lnSpc>
              <a:buNone/>
            </a:pPr>
            <a:r>
              <a:rPr lang="en-US" sz="800" dirty="0">
                <a:solidFill>
                  <a:srgbClr val="4B5F73"/>
                </a:solidFill>
                <a:latin typeface="Inter" pitchFamily="34" charset="0"/>
                <a:ea typeface="Inter" pitchFamily="34" charset="-122"/>
                <a:cs typeface="Inter" pitchFamily="34" charset="-120"/>
              </a:rPr>
              <a:t>仅使用公开真实来源；供应链案例明确标注“直接证据”与</a:t>
            </a:r>
            <a:endParaRPr lang="en-US" sz="800" dirty="0"/>
          </a:p>
        </p:txBody>
      </p:sp>
      <p:sp>
        <p:nvSpPr>
          <p:cNvPr id="15" name="Text 12"/>
          <p:cNvSpPr/>
          <p:nvPr/>
        </p:nvSpPr>
        <p:spPr>
          <a:xfrm>
            <a:off x="5929313" y="3209330"/>
            <a:ext cx="607163" cy="119658"/>
          </a:xfrm>
          <a:prstGeom prst="rect">
            <a:avLst/>
          </a:prstGeom>
          <a:noFill/>
          <a:ln/>
        </p:spPr>
        <p:txBody>
          <a:bodyPr wrap="none" lIns="0" tIns="0" rIns="0" bIns="0" rtlCol="0" anchor="t">
            <a:spAutoFit/>
          </a:bodyPr>
          <a:lstStyle/>
          <a:p>
            <a:pPr algn="l" indent="0" marL="0">
              <a:lnSpc>
                <a:spcPct val="116000"/>
              </a:lnSpc>
              <a:buNone/>
            </a:pPr>
            <a:r>
              <a:rPr lang="en-US" sz="800" dirty="0">
                <a:solidFill>
                  <a:srgbClr val="4B5F73"/>
                </a:solidFill>
                <a:latin typeface="Inter" pitchFamily="34" charset="0"/>
                <a:ea typeface="Inter" pitchFamily="34" charset="-122"/>
                <a:cs typeface="Inter" pitchFamily="34" charset="-120"/>
              </a:rPr>
              <a:t>“能力映射”。</a:t>
            </a:r>
            <a:endParaRPr lang="en-US" sz="800" dirty="0"/>
          </a:p>
        </p:txBody>
      </p:sp>
      <p:sp>
        <p:nvSpPr>
          <p:cNvPr id="16" name="Text 13"/>
          <p:cNvSpPr/>
          <p:nvPr/>
        </p:nvSpPr>
        <p:spPr>
          <a:xfrm>
            <a:off x="428625" y="3961209"/>
            <a:ext cx="8286750" cy="241799"/>
          </a:xfrm>
          <a:prstGeom prst="rect">
            <a:avLst/>
          </a:prstGeom>
          <a:noFill/>
          <a:ln/>
        </p:spPr>
        <p:txBody>
          <a:bodyPr wrap="square" lIns="0" tIns="119126" rIns="0" bIns="0" rtlCol="0" anchor="t">
            <a:spAutoFit/>
          </a:bodyPr>
          <a:lstStyle/>
          <a:p>
            <a:pPr algn="l" indent="0" marL="0">
              <a:lnSpc>
                <a:spcPct val="116000"/>
              </a:lnSpc>
              <a:buNone/>
            </a:pPr>
            <a:r>
              <a:rPr lang="en-US" sz="650" dirty="0">
                <a:solidFill>
                  <a:srgbClr val="6B7A8A"/>
                </a:solidFill>
                <a:latin typeface="Inter" pitchFamily="34" charset="0"/>
                <a:ea typeface="Inter" pitchFamily="34" charset="-122"/>
                <a:cs typeface="Inter" pitchFamily="34" charset="-120"/>
              </a:rPr>
              <a:t>浅色模板版｜所有关键论断均在相关页面附来源索引，未公开披露的信息不作事实化推断。</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342900"/>
            <a:ext cx="8286750" cy="98227"/>
          </a:xfrm>
          <a:prstGeom prst="rect">
            <a:avLst/>
          </a:prstGeom>
          <a:noFill/>
          <a:ln/>
        </p:spPr>
        <p:txBody>
          <a:bodyPr wrap="square" lIns="0" tIns="0" rIns="0" bIns="0" rtlCol="0" anchor="t">
            <a:spAutoFit/>
          </a:bodyPr>
          <a:lstStyle/>
          <a:p>
            <a:pPr algn="l" indent="0" marL="0">
              <a:buNone/>
            </a:pPr>
            <a:r>
              <a:rPr lang="en-US" sz="600" b="1" spc="2" kern="0" dirty="0">
                <a:solidFill>
                  <a:srgbClr val="0B8F5A"/>
                </a:solidFill>
                <a:latin typeface="Inter ExtraBold" pitchFamily="34" charset="0"/>
                <a:ea typeface="Inter ExtraBold" pitchFamily="34" charset="-122"/>
                <a:cs typeface="Inter ExtraBold" pitchFamily="34" charset="-120"/>
              </a:rPr>
              <a:t>COMPANY SNAPSHOT</a:t>
            </a:r>
            <a:endParaRPr lang="en-US" sz="600" dirty="0"/>
          </a:p>
        </p:txBody>
      </p:sp>
      <p:sp>
        <p:nvSpPr>
          <p:cNvPr id="4" name="Text 1"/>
          <p:cNvSpPr/>
          <p:nvPr/>
        </p:nvSpPr>
        <p:spPr>
          <a:xfrm>
            <a:off x="428625" y="512564"/>
            <a:ext cx="8286750" cy="288010"/>
          </a:xfrm>
          <a:prstGeom prst="rect">
            <a:avLst/>
          </a:prstGeom>
          <a:noFill/>
          <a:ln/>
        </p:spPr>
        <p:txBody>
          <a:bodyPr wrap="none" lIns="0" tIns="0" rIns="0" bIns="0" rtlCol="0" anchor="t">
            <a:spAutoFit/>
          </a:bodyPr>
          <a:lstStyle/>
          <a:p>
            <a:pPr algn="l" indent="0" marL="0">
              <a:lnSpc>
                <a:spcPct val="89600"/>
              </a:lnSpc>
              <a:buNone/>
            </a:pPr>
            <a:r>
              <a:rPr lang="en-US" sz="1800" b="1" dirty="0">
                <a:solidFill>
                  <a:srgbClr val="102033"/>
                </a:solidFill>
                <a:latin typeface="Inter Bold" pitchFamily="34" charset="0"/>
                <a:ea typeface="Inter Bold" pitchFamily="34" charset="-122"/>
                <a:cs typeface="Inter Bold" pitchFamily="34" charset="-120"/>
              </a:rPr>
              <a:t>公司画像：安全优先的企业 AI 平台公司</a:t>
            </a:r>
            <a:endParaRPr lang="en-US" sz="1800" dirty="0"/>
          </a:p>
        </p:txBody>
      </p:sp>
      <p:sp>
        <p:nvSpPr>
          <p:cNvPr id="5" name="Text 2"/>
          <p:cNvSpPr/>
          <p:nvPr/>
        </p:nvSpPr>
        <p:spPr>
          <a:xfrm>
            <a:off x="428625" y="886299"/>
            <a:ext cx="7715250" cy="165729"/>
          </a:xfrm>
          <a:prstGeom prst="rect">
            <a:avLst/>
          </a:prstGeom>
          <a:noFill/>
          <a:ln/>
        </p:spPr>
        <p:txBody>
          <a:bodyPr wrap="none" lIns="0" tIns="0" rIns="0" bIns="0" rtlCol="0" anchor="t">
            <a:spAutoFit/>
          </a:bodyPr>
          <a:lstStyle/>
          <a:p>
            <a:pPr algn="l" indent="0" marL="0">
              <a:lnSpc>
                <a:spcPct val="116000"/>
              </a:lnSpc>
              <a:buNone/>
            </a:pPr>
            <a:r>
              <a:rPr lang="en-US" sz="850" dirty="0">
                <a:solidFill>
                  <a:srgbClr val="4B5F73"/>
                </a:solidFill>
                <a:latin typeface="Inter" pitchFamily="34" charset="0"/>
                <a:ea typeface="Inter" pitchFamily="34" charset="-122"/>
                <a:cs typeface="Inter" pitchFamily="34" charset="-120"/>
              </a:rPr>
              <a:t>Anthropic 不是单一聊天机器人公司，而是围绕 Claude 模型、企业应用、开发者平台、安全治理和多云渠道构建的 AI 平台公司。</a:t>
            </a:r>
            <a:endParaRPr lang="en-US" sz="850" dirty="0"/>
          </a:p>
        </p:txBody>
      </p:sp>
      <p:sp>
        <p:nvSpPr>
          <p:cNvPr id="6" name="Text 3"/>
          <p:cNvSpPr/>
          <p:nvPr/>
        </p:nvSpPr>
        <p:spPr>
          <a:xfrm>
            <a:off x="428625" y="1373498"/>
            <a:ext cx="3071813" cy="438336"/>
          </a:xfrm>
          <a:prstGeom prst="rect">
            <a:avLst/>
          </a:prstGeom>
          <a:noFill/>
          <a:ln/>
        </p:spPr>
        <p:txBody>
          <a:bodyPr wrap="square" lIns="0" tIns="0" rIns="0" bIns="0" rtlCol="0" anchor="t">
            <a:spAutoFit/>
          </a:bodyPr>
          <a:lstStyle/>
          <a:p>
            <a:pPr algn="l" indent="0" marL="0">
              <a:lnSpc>
                <a:spcPct val="94400"/>
              </a:lnSpc>
              <a:buNone/>
            </a:pPr>
            <a:r>
              <a:rPr lang="en-US" sz="1300" b="1" dirty="0">
                <a:solidFill>
                  <a:srgbClr val="1E63FF"/>
                </a:solidFill>
                <a:latin typeface="Inter Bold" pitchFamily="34" charset="0"/>
                <a:ea typeface="Inter Bold" pitchFamily="34" charset="-122"/>
                <a:cs typeface="Inter Bold" pitchFamily="34" charset="-120"/>
              </a:rPr>
              <a:t>核心判断：以安全可信为品牌差异，以 Claude 为商业化载体</a:t>
            </a:r>
            <a:endParaRPr lang="en-US" sz="1300" dirty="0"/>
          </a:p>
        </p:txBody>
      </p:sp>
      <p:sp>
        <p:nvSpPr>
          <p:cNvPr id="7" name="Text 4"/>
          <p:cNvSpPr/>
          <p:nvPr/>
        </p:nvSpPr>
        <p:spPr>
          <a:xfrm>
            <a:off x="428625" y="1926134"/>
            <a:ext cx="3071813" cy="498277"/>
          </a:xfrm>
          <a:prstGeom prst="rect">
            <a:avLst/>
          </a:prstGeom>
          <a:noFill/>
          <a:ln/>
        </p:spPr>
        <p:txBody>
          <a:bodyPr wrap="square" lIns="0" tIns="0" rIns="0" bIns="0" rtlCol="0" anchor="t">
            <a:spAutoFit/>
          </a:bodyPr>
          <a:lstStyle/>
          <a:p>
            <a:pPr algn="l" indent="0" marL="0">
              <a:lnSpc>
                <a:spcPct val="124000"/>
              </a:lnSpc>
              <a:buNone/>
            </a:pPr>
            <a:r>
              <a:rPr lang="en-US" sz="800" dirty="0">
                <a:solidFill>
                  <a:srgbClr val="4B5F73"/>
                </a:solidFill>
                <a:latin typeface="Inter" pitchFamily="34" charset="0"/>
                <a:ea typeface="Inter" pitchFamily="34" charset="-122"/>
                <a:cs typeface="Inter" pitchFamily="34" charset="-120"/>
              </a:rPr>
              <a:t>Anthropic 将使命、安全研究、产品设计和企业治理连接在一起：一端通过 Claude 面向个人和企业提供 AI 助手、代码和流程自动化；另一端通过 API、云平台和连接器生态进入企业系统。</a:t>
            </a:r>
            <a:endParaRPr lang="en-US" sz="800" dirty="0"/>
          </a:p>
        </p:txBody>
      </p:sp>
      <p:sp>
        <p:nvSpPr>
          <p:cNvPr id="8" name="Text 5"/>
          <p:cNvSpPr/>
          <p:nvPr/>
        </p:nvSpPr>
        <p:spPr>
          <a:xfrm>
            <a:off x="3857625" y="1302060"/>
            <a:ext cx="928688" cy="414338"/>
          </a:xfrm>
          <a:prstGeom prst="rect">
            <a:avLst/>
          </a:prstGeom>
          <a:noFill/>
          <a:ln/>
        </p:spPr>
        <p:txBody>
          <a:bodyPr wrap="square" lIns="8509" tIns="102108" rIns="8509" bIns="8509" rtlCol="0" anchor="t">
            <a:spAutoFit/>
          </a:bodyPr>
          <a:lstStyle/>
          <a:p>
            <a:pPr algn="l" indent="0" marL="0">
              <a:lnSpc>
                <a:spcPct val="108000"/>
              </a:lnSpc>
              <a:buNone/>
            </a:pPr>
            <a:r>
              <a:rPr lang="en-US" sz="700" b="1" dirty="0">
                <a:solidFill>
                  <a:srgbClr val="102033"/>
                </a:solidFill>
                <a:latin typeface="Inter ExtraBold" pitchFamily="34" charset="0"/>
                <a:ea typeface="Inter ExtraBold" pitchFamily="34" charset="-122"/>
                <a:cs typeface="Inter ExtraBold" pitchFamily="34" charset="-120"/>
              </a:rPr>
              <a:t>成立时间</a:t>
            </a:r>
            <a:endParaRPr lang="en-US" sz="700" dirty="0"/>
          </a:p>
        </p:txBody>
      </p:sp>
      <p:sp>
        <p:nvSpPr>
          <p:cNvPr id="9" name="Text 6"/>
          <p:cNvSpPr/>
          <p:nvPr/>
        </p:nvSpPr>
        <p:spPr>
          <a:xfrm>
            <a:off x="4786313" y="1302060"/>
            <a:ext cx="3929063" cy="414338"/>
          </a:xfrm>
          <a:prstGeom prst="rect">
            <a:avLst/>
          </a:prstGeom>
          <a:noFill/>
          <a:ln/>
        </p:spPr>
        <p:txBody>
          <a:bodyPr wrap="square" lIns="8509" tIns="102108" rIns="8509" bIns="8509" rtlCol="0" anchor="t">
            <a:spAutoFit/>
          </a:bodyPr>
          <a:lstStyle/>
          <a:p>
            <a:pPr algn="l" indent="0" marL="0">
              <a:lnSpc>
                <a:spcPct val="108000"/>
              </a:lnSpc>
              <a:buNone/>
            </a:pPr>
            <a:r>
              <a:rPr lang="en-US" sz="750" dirty="0">
                <a:solidFill>
                  <a:srgbClr val="4B5F73"/>
                </a:solidFill>
                <a:latin typeface="Inter" pitchFamily="34" charset="0"/>
                <a:ea typeface="Inter" pitchFamily="34" charset="-122"/>
                <a:cs typeface="Inter" pitchFamily="34" charset="-120"/>
              </a:rPr>
              <a:t>2021 年，由 Dario Amodei、Daniela Amodei 等前 OpenAI 成员共同创立。</a:t>
            </a:r>
            <a:endParaRPr lang="en-US" sz="750" dirty="0"/>
          </a:p>
        </p:txBody>
      </p:sp>
      <p:sp>
        <p:nvSpPr>
          <p:cNvPr id="10" name="Text 7"/>
          <p:cNvSpPr/>
          <p:nvPr/>
        </p:nvSpPr>
        <p:spPr>
          <a:xfrm>
            <a:off x="3857625" y="1716398"/>
            <a:ext cx="928688" cy="414338"/>
          </a:xfrm>
          <a:prstGeom prst="rect">
            <a:avLst/>
          </a:prstGeom>
          <a:noFill/>
          <a:ln/>
        </p:spPr>
        <p:txBody>
          <a:bodyPr wrap="square" lIns="8509" tIns="102108" rIns="8509" bIns="8509" rtlCol="0" anchor="t">
            <a:spAutoFit/>
          </a:bodyPr>
          <a:lstStyle/>
          <a:p>
            <a:pPr algn="l" indent="0" marL="0">
              <a:lnSpc>
                <a:spcPct val="108000"/>
              </a:lnSpc>
              <a:buNone/>
            </a:pPr>
            <a:r>
              <a:rPr lang="en-US" sz="700" b="1" dirty="0">
                <a:solidFill>
                  <a:srgbClr val="102033"/>
                </a:solidFill>
                <a:latin typeface="Inter ExtraBold" pitchFamily="34" charset="0"/>
                <a:ea typeface="Inter ExtraBold" pitchFamily="34" charset="-122"/>
                <a:cs typeface="Inter ExtraBold" pitchFamily="34" charset="-120"/>
              </a:rPr>
              <a:t>法人形态</a:t>
            </a:r>
            <a:endParaRPr lang="en-US" sz="700" dirty="0"/>
          </a:p>
        </p:txBody>
      </p:sp>
      <p:sp>
        <p:nvSpPr>
          <p:cNvPr id="11" name="Text 8"/>
          <p:cNvSpPr/>
          <p:nvPr/>
        </p:nvSpPr>
        <p:spPr>
          <a:xfrm>
            <a:off x="4786313" y="1716398"/>
            <a:ext cx="3929063" cy="414338"/>
          </a:xfrm>
          <a:prstGeom prst="rect">
            <a:avLst/>
          </a:prstGeom>
          <a:noFill/>
          <a:ln/>
        </p:spPr>
        <p:txBody>
          <a:bodyPr wrap="square" lIns="8509" tIns="102108" rIns="8509" bIns="8509" rtlCol="0" anchor="t">
            <a:spAutoFit/>
          </a:bodyPr>
          <a:lstStyle/>
          <a:p>
            <a:pPr algn="l" indent="0" marL="0">
              <a:lnSpc>
                <a:spcPct val="108000"/>
              </a:lnSpc>
              <a:buNone/>
            </a:pPr>
            <a:r>
              <a:rPr lang="en-US" sz="750" dirty="0">
                <a:solidFill>
                  <a:srgbClr val="4B5F73"/>
                </a:solidFill>
                <a:latin typeface="Inter" pitchFamily="34" charset="0"/>
                <a:ea typeface="Inter" pitchFamily="34" charset="-122"/>
                <a:cs typeface="Inter" pitchFamily="34" charset="-120"/>
              </a:rPr>
              <a:t>Public Benefit Corporation，公开强调负责任开发与长期公共利益。</a:t>
            </a:r>
            <a:endParaRPr lang="en-US" sz="750" dirty="0"/>
          </a:p>
        </p:txBody>
      </p:sp>
      <p:sp>
        <p:nvSpPr>
          <p:cNvPr id="12" name="Text 9"/>
          <p:cNvSpPr/>
          <p:nvPr/>
        </p:nvSpPr>
        <p:spPr>
          <a:xfrm>
            <a:off x="3857625" y="2130735"/>
            <a:ext cx="928688" cy="414338"/>
          </a:xfrm>
          <a:prstGeom prst="rect">
            <a:avLst/>
          </a:prstGeom>
          <a:noFill/>
          <a:ln/>
        </p:spPr>
        <p:txBody>
          <a:bodyPr wrap="square" lIns="8509" tIns="102108" rIns="8509" bIns="8509" rtlCol="0" anchor="t">
            <a:spAutoFit/>
          </a:bodyPr>
          <a:lstStyle/>
          <a:p>
            <a:pPr algn="l" indent="0" marL="0">
              <a:lnSpc>
                <a:spcPct val="108000"/>
              </a:lnSpc>
              <a:buNone/>
            </a:pPr>
            <a:r>
              <a:rPr lang="en-US" sz="700" b="1" dirty="0">
                <a:solidFill>
                  <a:srgbClr val="102033"/>
                </a:solidFill>
                <a:latin typeface="Inter ExtraBold" pitchFamily="34" charset="0"/>
                <a:ea typeface="Inter ExtraBold" pitchFamily="34" charset="-122"/>
                <a:cs typeface="Inter ExtraBold" pitchFamily="34" charset="-120"/>
              </a:rPr>
              <a:t>使命</a:t>
            </a:r>
            <a:endParaRPr lang="en-US" sz="700" dirty="0"/>
          </a:p>
        </p:txBody>
      </p:sp>
      <p:sp>
        <p:nvSpPr>
          <p:cNvPr id="13" name="Text 10"/>
          <p:cNvSpPr/>
          <p:nvPr/>
        </p:nvSpPr>
        <p:spPr>
          <a:xfrm>
            <a:off x="4786313" y="2130735"/>
            <a:ext cx="3929063" cy="414338"/>
          </a:xfrm>
          <a:prstGeom prst="rect">
            <a:avLst/>
          </a:prstGeom>
          <a:noFill/>
          <a:ln/>
        </p:spPr>
        <p:txBody>
          <a:bodyPr wrap="square" lIns="8509" tIns="102108" rIns="8509" bIns="8509" rtlCol="0" anchor="t">
            <a:spAutoFit/>
          </a:bodyPr>
          <a:lstStyle/>
          <a:p>
            <a:pPr algn="l" indent="0" marL="0">
              <a:lnSpc>
                <a:spcPct val="108000"/>
              </a:lnSpc>
              <a:buNone/>
            </a:pPr>
            <a:r>
              <a:rPr lang="en-US" sz="750" dirty="0">
                <a:solidFill>
                  <a:srgbClr val="4B5F73"/>
                </a:solidFill>
                <a:latin typeface="Inter" pitchFamily="34" charset="0"/>
                <a:ea typeface="Inter" pitchFamily="34" charset="-122"/>
                <a:cs typeface="Inter" pitchFamily="34" charset="-120"/>
              </a:rPr>
              <a:t>研究并构建可靠、可解释、可 steer 的 AI 系统。</a:t>
            </a:r>
            <a:endParaRPr lang="en-US" sz="750" dirty="0"/>
          </a:p>
        </p:txBody>
      </p:sp>
      <p:sp>
        <p:nvSpPr>
          <p:cNvPr id="14" name="Text 11"/>
          <p:cNvSpPr/>
          <p:nvPr/>
        </p:nvSpPr>
        <p:spPr>
          <a:xfrm>
            <a:off x="3857625" y="2545073"/>
            <a:ext cx="928688" cy="414338"/>
          </a:xfrm>
          <a:prstGeom prst="rect">
            <a:avLst/>
          </a:prstGeom>
          <a:noFill/>
          <a:ln/>
        </p:spPr>
        <p:txBody>
          <a:bodyPr wrap="square" lIns="8509" tIns="102108" rIns="8509" bIns="8509" rtlCol="0" anchor="t">
            <a:spAutoFit/>
          </a:bodyPr>
          <a:lstStyle/>
          <a:p>
            <a:pPr algn="l" indent="0" marL="0">
              <a:lnSpc>
                <a:spcPct val="108000"/>
              </a:lnSpc>
              <a:buNone/>
            </a:pPr>
            <a:r>
              <a:rPr lang="en-US" sz="700" b="1" dirty="0">
                <a:solidFill>
                  <a:srgbClr val="102033"/>
                </a:solidFill>
                <a:latin typeface="Inter ExtraBold" pitchFamily="34" charset="0"/>
                <a:ea typeface="Inter ExtraBold" pitchFamily="34" charset="-122"/>
                <a:cs typeface="Inter ExtraBold" pitchFamily="34" charset="-120"/>
              </a:rPr>
              <a:t>主产品</a:t>
            </a:r>
            <a:endParaRPr lang="en-US" sz="700" dirty="0"/>
          </a:p>
        </p:txBody>
      </p:sp>
      <p:sp>
        <p:nvSpPr>
          <p:cNvPr id="15" name="Text 12"/>
          <p:cNvSpPr/>
          <p:nvPr/>
        </p:nvSpPr>
        <p:spPr>
          <a:xfrm>
            <a:off x="4786313" y="2545073"/>
            <a:ext cx="3929063" cy="414338"/>
          </a:xfrm>
          <a:prstGeom prst="rect">
            <a:avLst/>
          </a:prstGeom>
          <a:noFill/>
          <a:ln/>
        </p:spPr>
        <p:txBody>
          <a:bodyPr wrap="square" lIns="8509" tIns="102108" rIns="8509" bIns="8509" rtlCol="0" anchor="t">
            <a:spAutoFit/>
          </a:bodyPr>
          <a:lstStyle/>
          <a:p>
            <a:pPr algn="l" indent="0" marL="0">
              <a:lnSpc>
                <a:spcPct val="108000"/>
              </a:lnSpc>
              <a:buNone/>
            </a:pPr>
            <a:r>
              <a:rPr lang="en-US" sz="750" dirty="0">
                <a:solidFill>
                  <a:srgbClr val="4B5F73"/>
                </a:solidFill>
                <a:latin typeface="Inter" pitchFamily="34" charset="0"/>
                <a:ea typeface="Inter" pitchFamily="34" charset="-122"/>
                <a:cs typeface="Inter" pitchFamily="34" charset="-120"/>
              </a:rPr>
              <a:t>Claude 模型族、Claude.ai、Claude Enterprise、Claude Platform、Claude Code、Cowork、Security。</a:t>
            </a:r>
            <a:endParaRPr lang="en-US" sz="750" dirty="0"/>
          </a:p>
        </p:txBody>
      </p:sp>
      <p:sp>
        <p:nvSpPr>
          <p:cNvPr id="16" name="Text 13"/>
          <p:cNvSpPr/>
          <p:nvPr/>
        </p:nvSpPr>
        <p:spPr>
          <a:xfrm>
            <a:off x="3857625" y="2959410"/>
            <a:ext cx="928688" cy="414338"/>
          </a:xfrm>
          <a:prstGeom prst="rect">
            <a:avLst/>
          </a:prstGeom>
          <a:noFill/>
          <a:ln/>
        </p:spPr>
        <p:txBody>
          <a:bodyPr wrap="square" lIns="8509" tIns="102108" rIns="8509" bIns="8509" rtlCol="0" anchor="t">
            <a:spAutoFit/>
          </a:bodyPr>
          <a:lstStyle/>
          <a:p>
            <a:pPr algn="l" indent="0" marL="0">
              <a:lnSpc>
                <a:spcPct val="108000"/>
              </a:lnSpc>
              <a:buNone/>
            </a:pPr>
            <a:r>
              <a:rPr lang="en-US" sz="700" b="1" dirty="0">
                <a:solidFill>
                  <a:srgbClr val="102033"/>
                </a:solidFill>
                <a:latin typeface="Inter ExtraBold" pitchFamily="34" charset="0"/>
                <a:ea typeface="Inter ExtraBold" pitchFamily="34" charset="-122"/>
                <a:cs typeface="Inter ExtraBold" pitchFamily="34" charset="-120"/>
              </a:rPr>
              <a:t>生态伙伴</a:t>
            </a:r>
            <a:endParaRPr lang="en-US" sz="700" dirty="0"/>
          </a:p>
        </p:txBody>
      </p:sp>
      <p:sp>
        <p:nvSpPr>
          <p:cNvPr id="17" name="Text 14"/>
          <p:cNvSpPr/>
          <p:nvPr/>
        </p:nvSpPr>
        <p:spPr>
          <a:xfrm>
            <a:off x="4786313" y="2959410"/>
            <a:ext cx="3929063" cy="414338"/>
          </a:xfrm>
          <a:prstGeom prst="rect">
            <a:avLst/>
          </a:prstGeom>
          <a:noFill/>
          <a:ln/>
        </p:spPr>
        <p:txBody>
          <a:bodyPr wrap="square" lIns="8509" tIns="102108" rIns="8509" bIns="8509" rtlCol="0" anchor="t">
            <a:spAutoFit/>
          </a:bodyPr>
          <a:lstStyle/>
          <a:p>
            <a:pPr algn="l" indent="0" marL="0">
              <a:lnSpc>
                <a:spcPct val="108000"/>
              </a:lnSpc>
              <a:buNone/>
            </a:pPr>
            <a:r>
              <a:rPr lang="en-US" sz="750" dirty="0">
                <a:solidFill>
                  <a:srgbClr val="4B5F73"/>
                </a:solidFill>
                <a:latin typeface="Inter" pitchFamily="34" charset="0"/>
                <a:ea typeface="Inter" pitchFamily="34" charset="-122"/>
                <a:cs typeface="Inter" pitchFamily="34" charset="-120"/>
              </a:rPr>
              <a:t>Amazon、Google Cloud、Microsoft 等云渠道支持企业采购、算力和治理。</a:t>
            </a:r>
            <a:endParaRPr lang="en-US" sz="750" dirty="0"/>
          </a:p>
        </p:txBody>
      </p:sp>
      <p:sp>
        <p:nvSpPr>
          <p:cNvPr id="18" name="Text 15"/>
          <p:cNvSpPr/>
          <p:nvPr/>
        </p:nvSpPr>
        <p:spPr>
          <a:xfrm>
            <a:off x="428625" y="3648782"/>
            <a:ext cx="2638416" cy="133080"/>
          </a:xfrm>
          <a:prstGeom prst="rect">
            <a:avLst/>
          </a:prstGeom>
          <a:noFill/>
          <a:ln/>
        </p:spPr>
        <p:txBody>
          <a:bodyPr wrap="none" lIns="0" tIns="0" rIns="0" bIns="0" rtlCol="0" anchor="t">
            <a:spAutoFit/>
          </a:bodyPr>
          <a:lstStyle/>
          <a:p>
            <a:pPr algn="l" indent="0" marL="0">
              <a:lnSpc>
                <a:spcPct val="110400"/>
              </a:lnSpc>
              <a:buNone/>
            </a:pPr>
            <a:r>
              <a:rPr lang="en-US" sz="650" b="1" dirty="0">
                <a:solidFill>
                  <a:srgbClr val="0B8F5A"/>
                </a:solidFill>
                <a:latin typeface="Inter Bold" pitchFamily="34" charset="0"/>
                <a:ea typeface="Inter Bold" pitchFamily="34" charset="-122"/>
                <a:cs typeface="Inter Bold" pitchFamily="34" charset="-120"/>
              </a:rPr>
              <a:t>技术定位</a:t>
            </a:r>
            <a:endParaRPr lang="en-US" sz="650" dirty="0"/>
          </a:p>
        </p:txBody>
      </p:sp>
      <p:sp>
        <p:nvSpPr>
          <p:cNvPr id="19" name="Text 16"/>
          <p:cNvSpPr/>
          <p:nvPr/>
        </p:nvSpPr>
        <p:spPr>
          <a:xfrm>
            <a:off x="428625" y="3822939"/>
            <a:ext cx="2326407" cy="107156"/>
          </a:xfrm>
          <a:prstGeom prst="rect">
            <a:avLst/>
          </a:prstGeom>
          <a:noFill/>
          <a:ln/>
        </p:spPr>
        <p:txBody>
          <a:bodyPr wrap="none" lIns="0" tIns="0" rIns="0" bIns="0" rtlCol="0" anchor="t">
            <a:spAutoFit/>
          </a:bodyPr>
          <a:lstStyle/>
          <a:p>
            <a:pPr algn="l" indent="0" marL="0">
              <a:lnSpc>
                <a:spcPct val="110400"/>
              </a:lnSpc>
              <a:buNone/>
            </a:pPr>
            <a:r>
              <a:rPr lang="en-US" sz="700" dirty="0">
                <a:solidFill>
                  <a:srgbClr val="4B5F73"/>
                </a:solidFill>
                <a:latin typeface="Inter" pitchFamily="34" charset="0"/>
                <a:ea typeface="Inter" pitchFamily="34" charset="-122"/>
                <a:cs typeface="Inter" pitchFamily="34" charset="-120"/>
              </a:rPr>
              <a:t>Frontier model + safety alignment + agentic platform。</a:t>
            </a:r>
            <a:endParaRPr lang="en-US" sz="700" dirty="0"/>
          </a:p>
        </p:txBody>
      </p:sp>
      <p:sp>
        <p:nvSpPr>
          <p:cNvPr id="20" name="Text 17"/>
          <p:cNvSpPr/>
          <p:nvPr/>
        </p:nvSpPr>
        <p:spPr>
          <a:xfrm>
            <a:off x="3252778" y="3648782"/>
            <a:ext cx="2638416" cy="133080"/>
          </a:xfrm>
          <a:prstGeom prst="rect">
            <a:avLst/>
          </a:prstGeom>
          <a:noFill/>
          <a:ln/>
        </p:spPr>
        <p:txBody>
          <a:bodyPr wrap="none" lIns="0" tIns="0" rIns="0" bIns="0" rtlCol="0" anchor="t">
            <a:spAutoFit/>
          </a:bodyPr>
          <a:lstStyle/>
          <a:p>
            <a:pPr algn="l" indent="0" marL="0">
              <a:lnSpc>
                <a:spcPct val="110400"/>
              </a:lnSpc>
              <a:buNone/>
            </a:pPr>
            <a:r>
              <a:rPr lang="en-US" sz="650" b="1" dirty="0">
                <a:solidFill>
                  <a:srgbClr val="0B8F5A"/>
                </a:solidFill>
                <a:latin typeface="Inter Bold" pitchFamily="34" charset="0"/>
                <a:ea typeface="Inter Bold" pitchFamily="34" charset="-122"/>
                <a:cs typeface="Inter Bold" pitchFamily="34" charset="-120"/>
              </a:rPr>
              <a:t>商业定位</a:t>
            </a:r>
            <a:endParaRPr lang="en-US" sz="650" dirty="0"/>
          </a:p>
        </p:txBody>
      </p:sp>
      <p:sp>
        <p:nvSpPr>
          <p:cNvPr id="21" name="Text 18"/>
          <p:cNvSpPr/>
          <p:nvPr/>
        </p:nvSpPr>
        <p:spPr>
          <a:xfrm>
            <a:off x="3252778" y="3822939"/>
            <a:ext cx="2207502" cy="107156"/>
          </a:xfrm>
          <a:prstGeom prst="rect">
            <a:avLst/>
          </a:prstGeom>
          <a:noFill/>
          <a:ln/>
        </p:spPr>
        <p:txBody>
          <a:bodyPr wrap="none" lIns="0" tIns="0" rIns="0" bIns="0" rtlCol="0" anchor="t">
            <a:spAutoFit/>
          </a:bodyPr>
          <a:lstStyle/>
          <a:p>
            <a:pPr algn="l" indent="0" marL="0">
              <a:lnSpc>
                <a:spcPct val="110400"/>
              </a:lnSpc>
              <a:buNone/>
            </a:pPr>
            <a:r>
              <a:rPr lang="en-US" sz="700" dirty="0">
                <a:solidFill>
                  <a:srgbClr val="4B5F73"/>
                </a:solidFill>
                <a:latin typeface="Inter" pitchFamily="34" charset="0"/>
                <a:ea typeface="Inter" pitchFamily="34" charset="-122"/>
                <a:cs typeface="Inter" pitchFamily="34" charset="-120"/>
              </a:rPr>
              <a:t>个人订阅、企业席位、API 消耗、云渠道采购并行。</a:t>
            </a:r>
            <a:endParaRPr lang="en-US" sz="700" dirty="0"/>
          </a:p>
        </p:txBody>
      </p:sp>
      <p:sp>
        <p:nvSpPr>
          <p:cNvPr id="22" name="Text 19"/>
          <p:cNvSpPr/>
          <p:nvPr/>
        </p:nvSpPr>
        <p:spPr>
          <a:xfrm>
            <a:off x="6076931" y="3648782"/>
            <a:ext cx="2638444" cy="133080"/>
          </a:xfrm>
          <a:prstGeom prst="rect">
            <a:avLst/>
          </a:prstGeom>
          <a:noFill/>
          <a:ln/>
        </p:spPr>
        <p:txBody>
          <a:bodyPr wrap="none" lIns="0" tIns="0" rIns="0" bIns="0" rtlCol="0" anchor="t">
            <a:spAutoFit/>
          </a:bodyPr>
          <a:lstStyle/>
          <a:p>
            <a:pPr algn="l" indent="0" marL="0">
              <a:lnSpc>
                <a:spcPct val="110400"/>
              </a:lnSpc>
              <a:buNone/>
            </a:pPr>
            <a:r>
              <a:rPr lang="en-US" sz="650" b="1" dirty="0">
                <a:solidFill>
                  <a:srgbClr val="0B8F5A"/>
                </a:solidFill>
                <a:latin typeface="Inter Bold" pitchFamily="34" charset="0"/>
                <a:ea typeface="Inter Bold" pitchFamily="34" charset="-122"/>
                <a:cs typeface="Inter Bold" pitchFamily="34" charset="-120"/>
              </a:rPr>
              <a:t>行业机会</a:t>
            </a:r>
            <a:endParaRPr lang="en-US" sz="650" dirty="0"/>
          </a:p>
        </p:txBody>
      </p:sp>
      <p:sp>
        <p:nvSpPr>
          <p:cNvPr id="23" name="Text 20"/>
          <p:cNvSpPr/>
          <p:nvPr/>
        </p:nvSpPr>
        <p:spPr>
          <a:xfrm>
            <a:off x="6076931" y="3822939"/>
            <a:ext cx="2507456" cy="107156"/>
          </a:xfrm>
          <a:prstGeom prst="rect">
            <a:avLst/>
          </a:prstGeom>
          <a:noFill/>
          <a:ln/>
        </p:spPr>
        <p:txBody>
          <a:bodyPr wrap="none" lIns="0" tIns="0" rIns="0" bIns="0" rtlCol="0" anchor="t">
            <a:spAutoFit/>
          </a:bodyPr>
          <a:lstStyle/>
          <a:p>
            <a:pPr algn="l" indent="0" marL="0">
              <a:lnSpc>
                <a:spcPct val="110400"/>
              </a:lnSpc>
              <a:buNone/>
            </a:pPr>
            <a:r>
              <a:rPr lang="en-US" sz="700" dirty="0">
                <a:solidFill>
                  <a:srgbClr val="4B5F73"/>
                </a:solidFill>
                <a:latin typeface="Inter" pitchFamily="34" charset="0"/>
                <a:ea typeface="Inter" pitchFamily="34" charset="-122"/>
                <a:cs typeface="Inter" pitchFamily="34" charset="-120"/>
              </a:rPr>
              <a:t>知识工作、工程组织、合规行业、运营自动化和数据密集流</a:t>
            </a:r>
            <a:endParaRPr lang="en-US" sz="700" dirty="0"/>
          </a:p>
        </p:txBody>
      </p:sp>
      <p:sp>
        <p:nvSpPr>
          <p:cNvPr id="24" name="Text 21"/>
          <p:cNvSpPr/>
          <p:nvPr/>
        </p:nvSpPr>
        <p:spPr>
          <a:xfrm>
            <a:off x="6076931" y="3956019"/>
            <a:ext cx="192881" cy="107156"/>
          </a:xfrm>
          <a:prstGeom prst="rect">
            <a:avLst/>
          </a:prstGeom>
          <a:noFill/>
          <a:ln/>
        </p:spPr>
        <p:txBody>
          <a:bodyPr wrap="none" lIns="0" tIns="0" rIns="0" bIns="0" rtlCol="0" anchor="t">
            <a:spAutoFit/>
          </a:bodyPr>
          <a:lstStyle/>
          <a:p>
            <a:pPr algn="l" indent="0" marL="0">
              <a:lnSpc>
                <a:spcPct val="110400"/>
              </a:lnSpc>
              <a:buNone/>
            </a:pPr>
            <a:r>
              <a:rPr lang="en-US" sz="700" dirty="0">
                <a:solidFill>
                  <a:srgbClr val="4B5F73"/>
                </a:solidFill>
                <a:latin typeface="Inter" pitchFamily="34" charset="0"/>
                <a:ea typeface="Inter" pitchFamily="34" charset="-122"/>
                <a:cs typeface="Inter" pitchFamily="34" charset="-120"/>
              </a:rPr>
              <a:t>程。</a:t>
            </a:r>
            <a:endParaRPr lang="en-US" sz="700" dirty="0"/>
          </a:p>
        </p:txBody>
      </p:sp>
      <p:sp>
        <p:nvSpPr>
          <p:cNvPr id="25" name="Text 22"/>
          <p:cNvSpPr/>
          <p:nvPr/>
        </p:nvSpPr>
        <p:spPr>
          <a:xfrm>
            <a:off x="428625" y="4205185"/>
            <a:ext cx="8286750" cy="159283"/>
          </a:xfrm>
          <a:prstGeom prst="rect">
            <a:avLst/>
          </a:prstGeom>
          <a:noFill/>
          <a:ln/>
        </p:spPr>
        <p:txBody>
          <a:bodyPr wrap="square" lIns="0" tIns="59563" rIns="0" bIns="0" rtlCol="0" anchor="t">
            <a:spAutoFit/>
          </a:bodyPr>
          <a:lstStyle/>
          <a:p>
            <a:pPr algn="l" indent="0" marL="0">
              <a:lnSpc>
                <a:spcPct val="104000"/>
              </a:lnSpc>
              <a:buNone/>
            </a:pPr>
            <a:r>
              <a:rPr lang="en-US" sz="550" dirty="0">
                <a:solidFill>
                  <a:srgbClr val="6B7A8A"/>
                </a:solidFill>
                <a:latin typeface="Inter" pitchFamily="34" charset="0"/>
                <a:ea typeface="Inter" pitchFamily="34" charset="-122"/>
                <a:cs typeface="Inter" pitchFamily="34" charset="-120"/>
              </a:rPr>
              <a:t>来源：Anthropic Company https://www.anthropic.com/company；Claude Product https://claude.com/product/overview；Anthropic News / Funding and Cloud Partner pages。</a:t>
            </a:r>
            <a:endParaRPr lang="en-US" sz="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328613"/>
            <a:ext cx="8286750" cy="98227"/>
          </a:xfrm>
          <a:prstGeom prst="rect">
            <a:avLst/>
          </a:prstGeom>
          <a:noFill/>
          <a:ln/>
        </p:spPr>
        <p:txBody>
          <a:bodyPr wrap="square" lIns="0" tIns="0" rIns="0" bIns="0" rtlCol="0" anchor="t">
            <a:spAutoFit/>
          </a:bodyPr>
          <a:lstStyle/>
          <a:p>
            <a:pPr algn="l" indent="0" marL="0">
              <a:buNone/>
            </a:pPr>
            <a:r>
              <a:rPr lang="en-US" sz="600" b="1" spc="2" kern="0" dirty="0">
                <a:solidFill>
                  <a:srgbClr val="0B8F5A"/>
                </a:solidFill>
                <a:latin typeface="Inter ExtraBold" pitchFamily="34" charset="0"/>
                <a:ea typeface="Inter ExtraBold" pitchFamily="34" charset="-122"/>
                <a:cs typeface="Inter ExtraBold" pitchFamily="34" charset="-120"/>
              </a:rPr>
              <a:t>FOUNDERS</a:t>
            </a:r>
            <a:endParaRPr lang="en-US" sz="600" dirty="0"/>
          </a:p>
        </p:txBody>
      </p:sp>
      <p:sp>
        <p:nvSpPr>
          <p:cNvPr id="4" name="Text 1"/>
          <p:cNvSpPr/>
          <p:nvPr/>
        </p:nvSpPr>
        <p:spPr>
          <a:xfrm>
            <a:off x="428625" y="498277"/>
            <a:ext cx="8286750" cy="275034"/>
          </a:xfrm>
          <a:prstGeom prst="rect">
            <a:avLst/>
          </a:prstGeom>
          <a:noFill/>
          <a:ln/>
        </p:spPr>
        <p:txBody>
          <a:bodyPr wrap="none" lIns="0" tIns="0" rIns="0" bIns="0" rtlCol="0" anchor="t">
            <a:spAutoFit/>
          </a:bodyPr>
          <a:lstStyle/>
          <a:p>
            <a:pPr algn="l" indent="0" marL="0">
              <a:lnSpc>
                <a:spcPct val="88000"/>
              </a:lnSpc>
              <a:buNone/>
            </a:pPr>
            <a:r>
              <a:rPr lang="en-US" sz="1750" b="1" dirty="0">
                <a:solidFill>
                  <a:srgbClr val="102033"/>
                </a:solidFill>
                <a:latin typeface="Inter Bold" pitchFamily="34" charset="0"/>
                <a:ea typeface="Inter Bold" pitchFamily="34" charset="-122"/>
                <a:cs typeface="Inter Bold" pitchFamily="34" charset="-120"/>
              </a:rPr>
              <a:t>创始团队：研究、安全、政策与商业化组合</a:t>
            </a:r>
            <a:endParaRPr lang="en-US" sz="1750" dirty="0"/>
          </a:p>
        </p:txBody>
      </p:sp>
      <p:sp>
        <p:nvSpPr>
          <p:cNvPr id="5" name="Text 2"/>
          <p:cNvSpPr/>
          <p:nvPr/>
        </p:nvSpPr>
        <p:spPr>
          <a:xfrm>
            <a:off x="428625" y="844748"/>
            <a:ext cx="7715250" cy="157218"/>
          </a:xfrm>
          <a:prstGeom prst="rect">
            <a:avLst/>
          </a:prstGeom>
          <a:noFill/>
          <a:ln/>
        </p:spPr>
        <p:txBody>
          <a:bodyPr wrap="none" lIns="0" tIns="0" rIns="0" bIns="0" rtlCol="0" anchor="t">
            <a:spAutoFit/>
          </a:bodyPr>
          <a:lstStyle/>
          <a:p>
            <a:pPr algn="l" indent="0" marL="0">
              <a:lnSpc>
                <a:spcPct val="113600"/>
              </a:lnSpc>
              <a:buNone/>
            </a:pPr>
            <a:r>
              <a:rPr lang="en-US" sz="800" dirty="0">
                <a:solidFill>
                  <a:srgbClr val="4B5F73"/>
                </a:solidFill>
                <a:latin typeface="Inter" pitchFamily="34" charset="0"/>
                <a:ea typeface="Inter" pitchFamily="34" charset="-122"/>
                <a:cs typeface="Inter" pitchFamily="34" charset="-120"/>
              </a:rPr>
              <a:t>Anthropic 由一批前 OpenAI 成员创立，团队公开信息显示其早期基因集中在大模型研究、安全、政策、工程与商业运营交叉地带。</a:t>
            </a:r>
            <a:endParaRPr lang="en-US" sz="800" dirty="0"/>
          </a:p>
        </p:txBody>
      </p:sp>
      <p:sp>
        <p:nvSpPr>
          <p:cNvPr id="6" name="Text 3"/>
          <p:cNvSpPr/>
          <p:nvPr/>
        </p:nvSpPr>
        <p:spPr>
          <a:xfrm>
            <a:off x="428625" y="1430592"/>
            <a:ext cx="2571750" cy="173236"/>
          </a:xfrm>
          <a:prstGeom prst="rect">
            <a:avLst/>
          </a:prstGeom>
          <a:noFill/>
          <a:ln/>
        </p:spPr>
        <p:txBody>
          <a:bodyPr wrap="square" lIns="0" tIns="0" rIns="0" bIns="0" rtlCol="0" anchor="t">
            <a:spAutoFit/>
          </a:bodyPr>
          <a:lstStyle/>
          <a:p>
            <a:pPr algn="l" indent="0" marL="0">
              <a:buNone/>
            </a:pPr>
            <a:r>
              <a:rPr lang="en-US" sz="1050" b="1" dirty="0">
                <a:solidFill>
                  <a:srgbClr val="1E63FF"/>
                </a:solidFill>
                <a:latin typeface="Inter Bold" pitchFamily="34" charset="0"/>
                <a:ea typeface="Inter Bold" pitchFamily="34" charset="-122"/>
                <a:cs typeface="Inter Bold" pitchFamily="34" charset="-120"/>
              </a:rPr>
              <a:t>Dario Amodei</a:t>
            </a:r>
            <a:endParaRPr lang="en-US" sz="1050" dirty="0"/>
          </a:p>
        </p:txBody>
      </p:sp>
      <p:sp>
        <p:nvSpPr>
          <p:cNvPr id="7" name="Text 4"/>
          <p:cNvSpPr/>
          <p:nvPr/>
        </p:nvSpPr>
        <p:spPr>
          <a:xfrm>
            <a:off x="428625" y="1646690"/>
            <a:ext cx="2571750" cy="142010"/>
          </a:xfrm>
          <a:prstGeom prst="rect">
            <a:avLst/>
          </a:prstGeom>
          <a:noFill/>
          <a:ln/>
        </p:spPr>
        <p:txBody>
          <a:bodyPr wrap="none" lIns="0" tIns="0" rIns="0" bIns="0" rtlCol="0" anchor="t">
            <a:spAutoFit/>
          </a:bodyPr>
          <a:lstStyle/>
          <a:p>
            <a:pPr algn="l" indent="0" marL="0">
              <a:lnSpc>
                <a:spcPct val="113600"/>
              </a:lnSpc>
              <a:buNone/>
            </a:pPr>
            <a:r>
              <a:rPr lang="en-US" sz="750" dirty="0">
                <a:solidFill>
                  <a:srgbClr val="4B5F73"/>
                </a:solidFill>
                <a:latin typeface="Inter" pitchFamily="34" charset="0"/>
                <a:ea typeface="Inter" pitchFamily="34" charset="-122"/>
                <a:cs typeface="Inter" pitchFamily="34" charset="-120"/>
              </a:rPr>
              <a:t>联合创始人兼 CEO。公开履历显示其曾在 OpenAI 领导安</a:t>
            </a:r>
            <a:endParaRPr lang="en-US" sz="750" dirty="0"/>
          </a:p>
        </p:txBody>
      </p:sp>
      <p:sp>
        <p:nvSpPr>
          <p:cNvPr id="8" name="Text 5"/>
          <p:cNvSpPr/>
          <p:nvPr/>
        </p:nvSpPr>
        <p:spPr>
          <a:xfrm>
            <a:off x="428625" y="1788700"/>
            <a:ext cx="2571750" cy="142010"/>
          </a:xfrm>
          <a:prstGeom prst="rect">
            <a:avLst/>
          </a:prstGeom>
          <a:noFill/>
          <a:ln/>
        </p:spPr>
        <p:txBody>
          <a:bodyPr wrap="none" lIns="0" tIns="0" rIns="0" bIns="0" rtlCol="0" anchor="t">
            <a:spAutoFit/>
          </a:bodyPr>
          <a:lstStyle/>
          <a:p>
            <a:pPr algn="l" indent="0" marL="0">
              <a:lnSpc>
                <a:spcPct val="113600"/>
              </a:lnSpc>
              <a:buNone/>
            </a:pPr>
            <a:r>
              <a:rPr lang="en-US" sz="750" dirty="0">
                <a:solidFill>
                  <a:srgbClr val="4B5F73"/>
                </a:solidFill>
                <a:latin typeface="Inter" pitchFamily="34" charset="0"/>
                <a:ea typeface="Inter" pitchFamily="34" charset="-122"/>
                <a:cs typeface="Inter" pitchFamily="34" charset="-120"/>
              </a:rPr>
              <a:t>全与研究相关工作，并成为 Anthropic 安全优先叙事的核</a:t>
            </a:r>
            <a:endParaRPr lang="en-US" sz="750" dirty="0"/>
          </a:p>
        </p:txBody>
      </p:sp>
      <p:sp>
        <p:nvSpPr>
          <p:cNvPr id="9" name="Text 6"/>
          <p:cNvSpPr/>
          <p:nvPr/>
        </p:nvSpPr>
        <p:spPr>
          <a:xfrm>
            <a:off x="428625" y="1930710"/>
            <a:ext cx="2571750" cy="142010"/>
          </a:xfrm>
          <a:prstGeom prst="rect">
            <a:avLst/>
          </a:prstGeom>
          <a:noFill/>
          <a:ln/>
        </p:spPr>
        <p:txBody>
          <a:bodyPr wrap="none" lIns="0" tIns="0" rIns="0" bIns="0" rtlCol="0" anchor="t">
            <a:spAutoFit/>
          </a:bodyPr>
          <a:lstStyle/>
          <a:p>
            <a:pPr algn="l" indent="0" marL="0">
              <a:lnSpc>
                <a:spcPct val="113600"/>
              </a:lnSpc>
              <a:buNone/>
            </a:pPr>
            <a:r>
              <a:rPr lang="en-US" sz="750" dirty="0">
                <a:solidFill>
                  <a:srgbClr val="4B5F73"/>
                </a:solidFill>
                <a:latin typeface="Inter" pitchFamily="34" charset="0"/>
                <a:ea typeface="Inter" pitchFamily="34" charset="-122"/>
                <a:cs typeface="Inter" pitchFamily="34" charset="-120"/>
              </a:rPr>
              <a:t>心代表。</a:t>
            </a:r>
            <a:endParaRPr lang="en-US" sz="750" dirty="0"/>
          </a:p>
        </p:txBody>
      </p:sp>
      <p:sp>
        <p:nvSpPr>
          <p:cNvPr id="10" name="Text 7"/>
          <p:cNvSpPr/>
          <p:nvPr/>
        </p:nvSpPr>
        <p:spPr>
          <a:xfrm>
            <a:off x="428625" y="2302129"/>
            <a:ext cx="2571750" cy="173236"/>
          </a:xfrm>
          <a:prstGeom prst="rect">
            <a:avLst/>
          </a:prstGeom>
          <a:noFill/>
          <a:ln/>
        </p:spPr>
        <p:txBody>
          <a:bodyPr wrap="square" lIns="0" tIns="0" rIns="0" bIns="0" rtlCol="0" anchor="t">
            <a:spAutoFit/>
          </a:bodyPr>
          <a:lstStyle/>
          <a:p>
            <a:pPr algn="l" indent="0" marL="0">
              <a:buNone/>
            </a:pPr>
            <a:r>
              <a:rPr lang="en-US" sz="1050" b="1" dirty="0">
                <a:solidFill>
                  <a:srgbClr val="1E63FF"/>
                </a:solidFill>
                <a:latin typeface="Inter Bold" pitchFamily="34" charset="0"/>
                <a:ea typeface="Inter Bold" pitchFamily="34" charset="-122"/>
                <a:cs typeface="Inter Bold" pitchFamily="34" charset="-120"/>
              </a:rPr>
              <a:t>Daniela Amodei</a:t>
            </a:r>
            <a:endParaRPr lang="en-US" sz="1050" dirty="0"/>
          </a:p>
        </p:txBody>
      </p:sp>
      <p:sp>
        <p:nvSpPr>
          <p:cNvPr id="11" name="Text 8"/>
          <p:cNvSpPr/>
          <p:nvPr/>
        </p:nvSpPr>
        <p:spPr>
          <a:xfrm>
            <a:off x="428625" y="2518228"/>
            <a:ext cx="2571750" cy="142010"/>
          </a:xfrm>
          <a:prstGeom prst="rect">
            <a:avLst/>
          </a:prstGeom>
          <a:noFill/>
          <a:ln/>
        </p:spPr>
        <p:txBody>
          <a:bodyPr wrap="none" lIns="0" tIns="0" rIns="0" bIns="0" rtlCol="0" anchor="t">
            <a:spAutoFit/>
          </a:bodyPr>
          <a:lstStyle/>
          <a:p>
            <a:pPr algn="l" indent="0" marL="0">
              <a:lnSpc>
                <a:spcPct val="113600"/>
              </a:lnSpc>
              <a:buNone/>
            </a:pPr>
            <a:r>
              <a:rPr lang="en-US" sz="750" dirty="0">
                <a:solidFill>
                  <a:srgbClr val="4B5F73"/>
                </a:solidFill>
                <a:latin typeface="Inter" pitchFamily="34" charset="0"/>
                <a:ea typeface="Inter" pitchFamily="34" charset="-122"/>
                <a:cs typeface="Inter" pitchFamily="34" charset="-120"/>
              </a:rPr>
              <a:t>联合创始人兼 President。公开资料显示其承担公司运营、</a:t>
            </a:r>
            <a:endParaRPr lang="en-US" sz="750" dirty="0"/>
          </a:p>
        </p:txBody>
      </p:sp>
      <p:sp>
        <p:nvSpPr>
          <p:cNvPr id="12" name="Text 9"/>
          <p:cNvSpPr/>
          <p:nvPr/>
        </p:nvSpPr>
        <p:spPr>
          <a:xfrm>
            <a:off x="428625" y="2660238"/>
            <a:ext cx="2571750" cy="142010"/>
          </a:xfrm>
          <a:prstGeom prst="rect">
            <a:avLst/>
          </a:prstGeom>
          <a:noFill/>
          <a:ln/>
        </p:spPr>
        <p:txBody>
          <a:bodyPr wrap="none" lIns="0" tIns="0" rIns="0" bIns="0" rtlCol="0" anchor="t">
            <a:spAutoFit/>
          </a:bodyPr>
          <a:lstStyle/>
          <a:p>
            <a:pPr algn="l" indent="0" marL="0">
              <a:lnSpc>
                <a:spcPct val="113600"/>
              </a:lnSpc>
              <a:buNone/>
            </a:pPr>
            <a:r>
              <a:rPr lang="en-US" sz="750" dirty="0">
                <a:solidFill>
                  <a:srgbClr val="4B5F73"/>
                </a:solidFill>
                <a:latin typeface="Inter" pitchFamily="34" charset="0"/>
                <a:ea typeface="Inter" pitchFamily="34" charset="-122"/>
                <a:cs typeface="Inter" pitchFamily="34" charset="-120"/>
              </a:rPr>
              <a:t>商业化和组织建设角色，是 Anthropic 从研究组织走向企</a:t>
            </a:r>
            <a:endParaRPr lang="en-US" sz="750" dirty="0"/>
          </a:p>
        </p:txBody>
      </p:sp>
      <p:sp>
        <p:nvSpPr>
          <p:cNvPr id="13" name="Text 10"/>
          <p:cNvSpPr/>
          <p:nvPr/>
        </p:nvSpPr>
        <p:spPr>
          <a:xfrm>
            <a:off x="428625" y="2802248"/>
            <a:ext cx="2571750" cy="142010"/>
          </a:xfrm>
          <a:prstGeom prst="rect">
            <a:avLst/>
          </a:prstGeom>
          <a:noFill/>
          <a:ln/>
        </p:spPr>
        <p:txBody>
          <a:bodyPr wrap="none" lIns="0" tIns="0" rIns="0" bIns="0" rtlCol="0" anchor="t">
            <a:spAutoFit/>
          </a:bodyPr>
          <a:lstStyle/>
          <a:p>
            <a:pPr algn="l" indent="0" marL="0">
              <a:lnSpc>
                <a:spcPct val="113600"/>
              </a:lnSpc>
              <a:buNone/>
            </a:pPr>
            <a:r>
              <a:rPr lang="en-US" sz="750" dirty="0">
                <a:solidFill>
                  <a:srgbClr val="4B5F73"/>
                </a:solidFill>
                <a:latin typeface="Inter" pitchFamily="34" charset="0"/>
                <a:ea typeface="Inter" pitchFamily="34" charset="-122"/>
                <a:cs typeface="Inter" pitchFamily="34" charset="-120"/>
              </a:rPr>
              <a:t>业平台的重要人物。</a:t>
            </a:r>
            <a:endParaRPr lang="en-US" sz="750" dirty="0"/>
          </a:p>
        </p:txBody>
      </p:sp>
      <p:sp>
        <p:nvSpPr>
          <p:cNvPr id="14" name="Text 11"/>
          <p:cNvSpPr/>
          <p:nvPr/>
        </p:nvSpPr>
        <p:spPr>
          <a:xfrm>
            <a:off x="428625" y="3109373"/>
            <a:ext cx="2571750" cy="344742"/>
          </a:xfrm>
          <a:prstGeom prst="rect">
            <a:avLst/>
          </a:prstGeom>
          <a:noFill/>
          <a:ln/>
        </p:spPr>
        <p:txBody>
          <a:bodyPr wrap="square" lIns="0" tIns="85090" rIns="0" bIns="0" rtlCol="0" anchor="t">
            <a:spAutoFit/>
          </a:bodyPr>
          <a:lstStyle/>
          <a:p>
            <a:pPr algn="l" indent="0" marL="0">
              <a:lnSpc>
                <a:spcPct val="110400"/>
              </a:lnSpc>
              <a:buNone/>
            </a:pPr>
            <a:r>
              <a:rPr lang="en-US" sz="650" b="1" dirty="0">
                <a:solidFill>
                  <a:srgbClr val="0B8F5A"/>
                </a:solidFill>
                <a:latin typeface="Inter Bold" pitchFamily="34" charset="0"/>
                <a:ea typeface="Inter Bold" pitchFamily="34" charset="-122"/>
                <a:cs typeface="Inter Bold" pitchFamily="34" charset="-120"/>
              </a:rPr>
              <a:t>团队特征：</a:t>
            </a:r>
            <a:r>
              <a:rPr lang="en-US" sz="700" dirty="0">
                <a:solidFill>
                  <a:srgbClr val="4B5F73"/>
                </a:solidFill>
                <a:latin typeface="Inter" pitchFamily="34" charset="0"/>
                <a:ea typeface="Inter" pitchFamily="34" charset="-122"/>
                <a:cs typeface="Inter" pitchFamily="34" charset="-120"/>
              </a:rPr>
              <a:t>早期创始组合不是单一商业团队，而是研究、安</a:t>
            </a:r>
            <a:r>
              <a:rPr lang="en-US" sz="700" dirty="0">
                <a:solidFill>
                  <a:srgbClr val="4B5F73"/>
                </a:solidFill>
                <a:latin typeface="Inter" pitchFamily="34" charset="0"/>
                <a:ea typeface="Inter" pitchFamily="34" charset="-122"/>
                <a:cs typeface="Inter" pitchFamily="34" charset="-120"/>
              </a:rPr>
              <a:t>全治理、工程和业务运营共同构成。</a:t>
            </a:r>
            <a:endParaRPr lang="en-US" sz="650" dirty="0"/>
          </a:p>
        </p:txBody>
      </p:sp>
      <p:sp>
        <p:nvSpPr>
          <p:cNvPr id="15" name="Text 12"/>
          <p:cNvSpPr/>
          <p:nvPr/>
        </p:nvSpPr>
        <p:spPr>
          <a:xfrm>
            <a:off x="3357563" y="1209135"/>
            <a:ext cx="1071563" cy="200025"/>
          </a:xfrm>
          <a:prstGeom prst="rect">
            <a:avLst/>
          </a:prstGeom>
          <a:noFill/>
          <a:ln/>
        </p:spPr>
        <p:txBody>
          <a:bodyPr wrap="none" lIns="8509" tIns="8509" rIns="8509" bIns="8509" rtlCol="0" anchor="ctr">
            <a:spAutoFit/>
          </a:bodyPr>
          <a:lstStyle/>
          <a:p>
            <a:pPr algn="l" indent="0" marL="0">
              <a:buNone/>
            </a:pPr>
            <a:r>
              <a:rPr lang="en-US" sz="650" b="1" dirty="0">
                <a:solidFill>
                  <a:srgbClr val="0B8F5A"/>
                </a:solidFill>
                <a:latin typeface="Inter Bold" pitchFamily="34" charset="0"/>
                <a:ea typeface="Inter Bold" pitchFamily="34" charset="-122"/>
                <a:cs typeface="Inter Bold" pitchFamily="34" charset="-120"/>
              </a:rPr>
              <a:t>公开创始成员</a:t>
            </a:r>
            <a:endParaRPr lang="en-US" sz="650" dirty="0"/>
          </a:p>
        </p:txBody>
      </p:sp>
      <p:sp>
        <p:nvSpPr>
          <p:cNvPr id="16" name="Text 13"/>
          <p:cNvSpPr/>
          <p:nvPr/>
        </p:nvSpPr>
        <p:spPr>
          <a:xfrm>
            <a:off x="4429125" y="1209135"/>
            <a:ext cx="4286250" cy="200025"/>
          </a:xfrm>
          <a:prstGeom prst="rect">
            <a:avLst/>
          </a:prstGeom>
          <a:noFill/>
          <a:ln/>
        </p:spPr>
        <p:txBody>
          <a:bodyPr wrap="square" lIns="8509" tIns="8509" rIns="8509" bIns="8509" rtlCol="0" anchor="ctr">
            <a:spAutoFit/>
          </a:bodyPr>
          <a:lstStyle/>
          <a:p>
            <a:pPr algn="l" indent="0" marL="0">
              <a:buNone/>
            </a:pPr>
            <a:r>
              <a:rPr lang="en-US" sz="650" b="1" dirty="0">
                <a:solidFill>
                  <a:srgbClr val="0B8F5A"/>
                </a:solidFill>
                <a:latin typeface="Inter Bold" pitchFamily="34" charset="0"/>
                <a:ea typeface="Inter Bold" pitchFamily="34" charset="-122"/>
                <a:cs typeface="Inter Bold" pitchFamily="34" charset="-120"/>
              </a:rPr>
              <a:t>公开角色/背景侧重点</a:t>
            </a:r>
            <a:endParaRPr lang="en-US" sz="650" dirty="0"/>
          </a:p>
        </p:txBody>
      </p:sp>
      <p:sp>
        <p:nvSpPr>
          <p:cNvPr id="17" name="Text 14"/>
          <p:cNvSpPr/>
          <p:nvPr/>
        </p:nvSpPr>
        <p:spPr>
          <a:xfrm>
            <a:off x="3357563" y="1409160"/>
            <a:ext cx="1071563" cy="342900"/>
          </a:xfrm>
          <a:prstGeom prst="rect">
            <a:avLst/>
          </a:prstGeom>
          <a:noFill/>
          <a:ln/>
        </p:spPr>
        <p:txBody>
          <a:bodyPr wrap="square" lIns="8509" tIns="68072" rIns="8509" bIns="8509" rtlCol="0" anchor="t">
            <a:spAutoFit/>
          </a:bodyPr>
          <a:lstStyle/>
          <a:p>
            <a:pPr algn="l" indent="0" marL="0">
              <a:lnSpc>
                <a:spcPct val="102400"/>
              </a:lnSpc>
              <a:buNone/>
            </a:pPr>
            <a:r>
              <a:rPr lang="en-US" sz="650" b="1" dirty="0">
                <a:solidFill>
                  <a:srgbClr val="102033"/>
                </a:solidFill>
                <a:latin typeface="Inter ExtraBold" pitchFamily="34" charset="0"/>
                <a:ea typeface="Inter ExtraBold" pitchFamily="34" charset="-122"/>
                <a:cs typeface="Inter ExtraBold" pitchFamily="34" charset="-120"/>
              </a:rPr>
              <a:t>Dario Amodei</a:t>
            </a:r>
            <a:endParaRPr lang="en-US" sz="650" dirty="0"/>
          </a:p>
        </p:txBody>
      </p:sp>
      <p:sp>
        <p:nvSpPr>
          <p:cNvPr id="18" name="Text 15"/>
          <p:cNvSpPr/>
          <p:nvPr/>
        </p:nvSpPr>
        <p:spPr>
          <a:xfrm>
            <a:off x="4429125" y="1409160"/>
            <a:ext cx="4286250" cy="342900"/>
          </a:xfrm>
          <a:prstGeom prst="rect">
            <a:avLst/>
          </a:prstGeom>
          <a:noFill/>
          <a:ln/>
        </p:spPr>
        <p:txBody>
          <a:bodyPr wrap="square" lIns="8509" tIns="68072" rIns="8509" bIns="8509" rtlCol="0" anchor="t">
            <a:spAutoFit/>
          </a:bodyPr>
          <a:lstStyle/>
          <a:p>
            <a:pPr algn="l" indent="0" marL="0">
              <a:lnSpc>
                <a:spcPct val="102400"/>
              </a:lnSpc>
              <a:buNone/>
            </a:pPr>
            <a:r>
              <a:rPr lang="en-US" sz="700" dirty="0">
                <a:solidFill>
                  <a:srgbClr val="4B5F73"/>
                </a:solidFill>
                <a:latin typeface="Inter" pitchFamily="34" charset="0"/>
                <a:ea typeface="Inter" pitchFamily="34" charset="-122"/>
                <a:cs typeface="Inter" pitchFamily="34" charset="-120"/>
              </a:rPr>
              <a:t>CEO，AI 研究与安全领导者，Anthropic 公开愿景的主要表达者。</a:t>
            </a:r>
            <a:endParaRPr lang="en-US" sz="700" dirty="0"/>
          </a:p>
        </p:txBody>
      </p:sp>
      <p:sp>
        <p:nvSpPr>
          <p:cNvPr id="19" name="Text 16"/>
          <p:cNvSpPr/>
          <p:nvPr/>
        </p:nvSpPr>
        <p:spPr>
          <a:xfrm>
            <a:off x="3357563" y="1752060"/>
            <a:ext cx="1071563" cy="342900"/>
          </a:xfrm>
          <a:prstGeom prst="rect">
            <a:avLst/>
          </a:prstGeom>
          <a:noFill/>
          <a:ln/>
        </p:spPr>
        <p:txBody>
          <a:bodyPr wrap="square" lIns="8509" tIns="68072" rIns="8509" bIns="8509" rtlCol="0" anchor="t">
            <a:spAutoFit/>
          </a:bodyPr>
          <a:lstStyle/>
          <a:p>
            <a:pPr algn="l" indent="0" marL="0">
              <a:lnSpc>
                <a:spcPct val="102400"/>
              </a:lnSpc>
              <a:buNone/>
            </a:pPr>
            <a:r>
              <a:rPr lang="en-US" sz="650" b="1" dirty="0">
                <a:solidFill>
                  <a:srgbClr val="102033"/>
                </a:solidFill>
                <a:latin typeface="Inter ExtraBold" pitchFamily="34" charset="0"/>
                <a:ea typeface="Inter ExtraBold" pitchFamily="34" charset="-122"/>
                <a:cs typeface="Inter ExtraBold" pitchFamily="34" charset="-120"/>
              </a:rPr>
              <a:t>Daniela Amodei</a:t>
            </a:r>
            <a:endParaRPr lang="en-US" sz="650" dirty="0"/>
          </a:p>
        </p:txBody>
      </p:sp>
      <p:sp>
        <p:nvSpPr>
          <p:cNvPr id="20" name="Text 17"/>
          <p:cNvSpPr/>
          <p:nvPr/>
        </p:nvSpPr>
        <p:spPr>
          <a:xfrm>
            <a:off x="4429125" y="1752060"/>
            <a:ext cx="4286250" cy="342900"/>
          </a:xfrm>
          <a:prstGeom prst="rect">
            <a:avLst/>
          </a:prstGeom>
          <a:noFill/>
          <a:ln/>
        </p:spPr>
        <p:txBody>
          <a:bodyPr wrap="square" lIns="8509" tIns="68072" rIns="8509" bIns="8509" rtlCol="0" anchor="t">
            <a:spAutoFit/>
          </a:bodyPr>
          <a:lstStyle/>
          <a:p>
            <a:pPr algn="l" indent="0" marL="0">
              <a:lnSpc>
                <a:spcPct val="102400"/>
              </a:lnSpc>
              <a:buNone/>
            </a:pPr>
            <a:r>
              <a:rPr lang="en-US" sz="700" dirty="0">
                <a:solidFill>
                  <a:srgbClr val="4B5F73"/>
                </a:solidFill>
                <a:latin typeface="Inter" pitchFamily="34" charset="0"/>
                <a:ea typeface="Inter" pitchFamily="34" charset="-122"/>
                <a:cs typeface="Inter" pitchFamily="34" charset="-120"/>
              </a:rPr>
              <a:t>President，组织运营、商业拓展与公司建设。</a:t>
            </a:r>
            <a:endParaRPr lang="en-US" sz="700" dirty="0"/>
          </a:p>
        </p:txBody>
      </p:sp>
      <p:sp>
        <p:nvSpPr>
          <p:cNvPr id="21" name="Text 18"/>
          <p:cNvSpPr/>
          <p:nvPr/>
        </p:nvSpPr>
        <p:spPr>
          <a:xfrm>
            <a:off x="3357563" y="2094960"/>
            <a:ext cx="1071563" cy="342900"/>
          </a:xfrm>
          <a:prstGeom prst="rect">
            <a:avLst/>
          </a:prstGeom>
          <a:noFill/>
          <a:ln/>
        </p:spPr>
        <p:txBody>
          <a:bodyPr wrap="square" lIns="8509" tIns="68072" rIns="8509" bIns="8509" rtlCol="0" anchor="t">
            <a:spAutoFit/>
          </a:bodyPr>
          <a:lstStyle/>
          <a:p>
            <a:pPr algn="l" indent="0" marL="0">
              <a:lnSpc>
                <a:spcPct val="102400"/>
              </a:lnSpc>
              <a:buNone/>
            </a:pPr>
            <a:r>
              <a:rPr lang="en-US" sz="650" b="1" dirty="0">
                <a:solidFill>
                  <a:srgbClr val="102033"/>
                </a:solidFill>
                <a:latin typeface="Inter ExtraBold" pitchFamily="34" charset="0"/>
                <a:ea typeface="Inter ExtraBold" pitchFamily="34" charset="-122"/>
                <a:cs typeface="Inter ExtraBold" pitchFamily="34" charset="-120"/>
              </a:rPr>
              <a:t>Tom Brown</a:t>
            </a:r>
            <a:endParaRPr lang="en-US" sz="650" dirty="0"/>
          </a:p>
        </p:txBody>
      </p:sp>
      <p:sp>
        <p:nvSpPr>
          <p:cNvPr id="22" name="Text 19"/>
          <p:cNvSpPr/>
          <p:nvPr/>
        </p:nvSpPr>
        <p:spPr>
          <a:xfrm>
            <a:off x="4429125" y="2094960"/>
            <a:ext cx="4286250" cy="342900"/>
          </a:xfrm>
          <a:prstGeom prst="rect">
            <a:avLst/>
          </a:prstGeom>
          <a:noFill/>
          <a:ln/>
        </p:spPr>
        <p:txBody>
          <a:bodyPr wrap="square" lIns="8509" tIns="68072" rIns="8509" bIns="8509" rtlCol="0" anchor="t">
            <a:spAutoFit/>
          </a:bodyPr>
          <a:lstStyle/>
          <a:p>
            <a:pPr algn="l" indent="0" marL="0">
              <a:lnSpc>
                <a:spcPct val="102400"/>
              </a:lnSpc>
              <a:buNone/>
            </a:pPr>
            <a:r>
              <a:rPr lang="en-US" sz="700" dirty="0">
                <a:solidFill>
                  <a:srgbClr val="4B5F73"/>
                </a:solidFill>
                <a:latin typeface="Inter" pitchFamily="34" charset="0"/>
                <a:ea typeface="Inter" pitchFamily="34" charset="-122"/>
                <a:cs typeface="Inter" pitchFamily="34" charset="-120"/>
              </a:rPr>
              <a:t>研究与工程背景，公开资料常与 GPT-3 研究工作相关联。</a:t>
            </a:r>
            <a:endParaRPr lang="en-US" sz="700" dirty="0"/>
          </a:p>
        </p:txBody>
      </p:sp>
      <p:sp>
        <p:nvSpPr>
          <p:cNvPr id="23" name="Text 20"/>
          <p:cNvSpPr/>
          <p:nvPr/>
        </p:nvSpPr>
        <p:spPr>
          <a:xfrm>
            <a:off x="3357563" y="2437860"/>
            <a:ext cx="1071563" cy="342900"/>
          </a:xfrm>
          <a:prstGeom prst="rect">
            <a:avLst/>
          </a:prstGeom>
          <a:noFill/>
          <a:ln/>
        </p:spPr>
        <p:txBody>
          <a:bodyPr wrap="square" lIns="8509" tIns="68072" rIns="8509" bIns="8509" rtlCol="0" anchor="t">
            <a:spAutoFit/>
          </a:bodyPr>
          <a:lstStyle/>
          <a:p>
            <a:pPr algn="l" indent="0" marL="0">
              <a:lnSpc>
                <a:spcPct val="102400"/>
              </a:lnSpc>
              <a:buNone/>
            </a:pPr>
            <a:r>
              <a:rPr lang="en-US" sz="650" b="1" dirty="0">
                <a:solidFill>
                  <a:srgbClr val="102033"/>
                </a:solidFill>
                <a:latin typeface="Inter ExtraBold" pitchFamily="34" charset="0"/>
                <a:ea typeface="Inter ExtraBold" pitchFamily="34" charset="-122"/>
                <a:cs typeface="Inter ExtraBold" pitchFamily="34" charset="-120"/>
              </a:rPr>
              <a:t>Jack Clark</a:t>
            </a:r>
            <a:endParaRPr lang="en-US" sz="650" dirty="0"/>
          </a:p>
        </p:txBody>
      </p:sp>
      <p:sp>
        <p:nvSpPr>
          <p:cNvPr id="24" name="Text 21"/>
          <p:cNvSpPr/>
          <p:nvPr/>
        </p:nvSpPr>
        <p:spPr>
          <a:xfrm>
            <a:off x="4429125" y="2437860"/>
            <a:ext cx="4286250" cy="342900"/>
          </a:xfrm>
          <a:prstGeom prst="rect">
            <a:avLst/>
          </a:prstGeom>
          <a:noFill/>
          <a:ln/>
        </p:spPr>
        <p:txBody>
          <a:bodyPr wrap="square" lIns="8509" tIns="68072" rIns="8509" bIns="8509" rtlCol="0" anchor="t">
            <a:spAutoFit/>
          </a:bodyPr>
          <a:lstStyle/>
          <a:p>
            <a:pPr algn="l" indent="0" marL="0">
              <a:lnSpc>
                <a:spcPct val="102400"/>
              </a:lnSpc>
              <a:buNone/>
            </a:pPr>
            <a:r>
              <a:rPr lang="en-US" sz="700" dirty="0">
                <a:solidFill>
                  <a:srgbClr val="4B5F73"/>
                </a:solidFill>
                <a:latin typeface="Inter" pitchFamily="34" charset="0"/>
                <a:ea typeface="Inter" pitchFamily="34" charset="-122"/>
                <a:cs typeface="Inter" pitchFamily="34" charset="-120"/>
              </a:rPr>
              <a:t>政策与传播背景，Anthropic 政策、安全与行业叙事的重要人物。</a:t>
            </a:r>
            <a:endParaRPr lang="en-US" sz="700" dirty="0"/>
          </a:p>
        </p:txBody>
      </p:sp>
      <p:sp>
        <p:nvSpPr>
          <p:cNvPr id="25" name="Text 22"/>
          <p:cNvSpPr/>
          <p:nvPr/>
        </p:nvSpPr>
        <p:spPr>
          <a:xfrm>
            <a:off x="3357563" y="2780760"/>
            <a:ext cx="1071563" cy="342900"/>
          </a:xfrm>
          <a:prstGeom prst="rect">
            <a:avLst/>
          </a:prstGeom>
          <a:noFill/>
          <a:ln/>
        </p:spPr>
        <p:txBody>
          <a:bodyPr wrap="square" lIns="8509" tIns="68072" rIns="8509" bIns="8509" rtlCol="0" anchor="t">
            <a:spAutoFit/>
          </a:bodyPr>
          <a:lstStyle/>
          <a:p>
            <a:pPr algn="l" indent="0" marL="0">
              <a:lnSpc>
                <a:spcPct val="102400"/>
              </a:lnSpc>
              <a:buNone/>
            </a:pPr>
            <a:r>
              <a:rPr lang="en-US" sz="650" b="1" dirty="0">
                <a:solidFill>
                  <a:srgbClr val="102033"/>
                </a:solidFill>
                <a:latin typeface="Inter ExtraBold" pitchFamily="34" charset="0"/>
                <a:ea typeface="Inter ExtraBold" pitchFamily="34" charset="-122"/>
                <a:cs typeface="Inter ExtraBold" pitchFamily="34" charset="-120"/>
              </a:rPr>
              <a:t>Jared Kaplan</a:t>
            </a:r>
            <a:endParaRPr lang="en-US" sz="650" dirty="0"/>
          </a:p>
        </p:txBody>
      </p:sp>
      <p:sp>
        <p:nvSpPr>
          <p:cNvPr id="26" name="Text 23"/>
          <p:cNvSpPr/>
          <p:nvPr/>
        </p:nvSpPr>
        <p:spPr>
          <a:xfrm>
            <a:off x="4429125" y="2780760"/>
            <a:ext cx="4286250" cy="342900"/>
          </a:xfrm>
          <a:prstGeom prst="rect">
            <a:avLst/>
          </a:prstGeom>
          <a:noFill/>
          <a:ln/>
        </p:spPr>
        <p:txBody>
          <a:bodyPr wrap="square" lIns="8509" tIns="68072" rIns="8509" bIns="8509" rtlCol="0" anchor="t">
            <a:spAutoFit/>
          </a:bodyPr>
          <a:lstStyle/>
          <a:p>
            <a:pPr algn="l" indent="0" marL="0">
              <a:lnSpc>
                <a:spcPct val="102400"/>
              </a:lnSpc>
              <a:buNone/>
            </a:pPr>
            <a:r>
              <a:rPr lang="en-US" sz="700" dirty="0">
                <a:solidFill>
                  <a:srgbClr val="4B5F73"/>
                </a:solidFill>
                <a:latin typeface="Inter" pitchFamily="34" charset="0"/>
                <a:ea typeface="Inter" pitchFamily="34" charset="-122"/>
                <a:cs typeface="Inter" pitchFamily="34" charset="-120"/>
              </a:rPr>
              <a:t>AI 研究背景，公开资料与 scaling laws 和模型研究相关。</a:t>
            </a:r>
            <a:endParaRPr lang="en-US" sz="700" dirty="0"/>
          </a:p>
        </p:txBody>
      </p:sp>
      <p:sp>
        <p:nvSpPr>
          <p:cNvPr id="27" name="Text 24"/>
          <p:cNvSpPr/>
          <p:nvPr/>
        </p:nvSpPr>
        <p:spPr>
          <a:xfrm>
            <a:off x="3357563" y="3123660"/>
            <a:ext cx="1071563" cy="342900"/>
          </a:xfrm>
          <a:prstGeom prst="rect">
            <a:avLst/>
          </a:prstGeom>
          <a:noFill/>
          <a:ln/>
        </p:spPr>
        <p:txBody>
          <a:bodyPr wrap="square" lIns="8509" tIns="68072" rIns="8509" bIns="8509" rtlCol="0" anchor="t">
            <a:spAutoFit/>
          </a:bodyPr>
          <a:lstStyle/>
          <a:p>
            <a:pPr algn="l" indent="0" marL="0">
              <a:lnSpc>
                <a:spcPct val="102400"/>
              </a:lnSpc>
              <a:buNone/>
            </a:pPr>
            <a:r>
              <a:rPr lang="en-US" sz="650" b="1" dirty="0">
                <a:solidFill>
                  <a:srgbClr val="102033"/>
                </a:solidFill>
                <a:latin typeface="Inter ExtraBold" pitchFamily="34" charset="0"/>
                <a:ea typeface="Inter ExtraBold" pitchFamily="34" charset="-122"/>
                <a:cs typeface="Inter ExtraBold" pitchFamily="34" charset="-120"/>
              </a:rPr>
              <a:t>Sam McCandlish</a:t>
            </a:r>
            <a:endParaRPr lang="en-US" sz="650" dirty="0"/>
          </a:p>
        </p:txBody>
      </p:sp>
      <p:sp>
        <p:nvSpPr>
          <p:cNvPr id="28" name="Text 25"/>
          <p:cNvSpPr/>
          <p:nvPr/>
        </p:nvSpPr>
        <p:spPr>
          <a:xfrm>
            <a:off x="4429125" y="3123660"/>
            <a:ext cx="4286250" cy="342900"/>
          </a:xfrm>
          <a:prstGeom prst="rect">
            <a:avLst/>
          </a:prstGeom>
          <a:noFill/>
          <a:ln/>
        </p:spPr>
        <p:txBody>
          <a:bodyPr wrap="square" lIns="8509" tIns="68072" rIns="8509" bIns="8509" rtlCol="0" anchor="t">
            <a:spAutoFit/>
          </a:bodyPr>
          <a:lstStyle/>
          <a:p>
            <a:pPr algn="l" indent="0" marL="0">
              <a:lnSpc>
                <a:spcPct val="102400"/>
              </a:lnSpc>
              <a:buNone/>
            </a:pPr>
            <a:r>
              <a:rPr lang="en-US" sz="700" dirty="0">
                <a:solidFill>
                  <a:srgbClr val="4B5F73"/>
                </a:solidFill>
                <a:latin typeface="Inter" pitchFamily="34" charset="0"/>
                <a:ea typeface="Inter" pitchFamily="34" charset="-122"/>
                <a:cs typeface="Inter" pitchFamily="34" charset="-120"/>
              </a:rPr>
              <a:t>研究背景，公开资料与深度学习和大模型训练相关。</a:t>
            </a:r>
            <a:endParaRPr lang="en-US" sz="700" dirty="0"/>
          </a:p>
        </p:txBody>
      </p:sp>
      <p:sp>
        <p:nvSpPr>
          <p:cNvPr id="29" name="Text 26"/>
          <p:cNvSpPr/>
          <p:nvPr/>
        </p:nvSpPr>
        <p:spPr>
          <a:xfrm>
            <a:off x="3357563" y="3466560"/>
            <a:ext cx="1071563" cy="342900"/>
          </a:xfrm>
          <a:prstGeom prst="rect">
            <a:avLst/>
          </a:prstGeom>
          <a:noFill/>
          <a:ln/>
        </p:spPr>
        <p:txBody>
          <a:bodyPr wrap="square" lIns="8509" tIns="68072" rIns="8509" bIns="8509" rtlCol="0" anchor="t">
            <a:spAutoFit/>
          </a:bodyPr>
          <a:lstStyle/>
          <a:p>
            <a:pPr algn="l" indent="0" marL="0">
              <a:lnSpc>
                <a:spcPct val="102400"/>
              </a:lnSpc>
              <a:buNone/>
            </a:pPr>
            <a:r>
              <a:rPr lang="en-US" sz="650" b="1" dirty="0">
                <a:solidFill>
                  <a:srgbClr val="102033"/>
                </a:solidFill>
                <a:latin typeface="Inter ExtraBold" pitchFamily="34" charset="0"/>
                <a:ea typeface="Inter ExtraBold" pitchFamily="34" charset="-122"/>
                <a:cs typeface="Inter ExtraBold" pitchFamily="34" charset="-120"/>
              </a:rPr>
              <a:t>Chris Olah</a:t>
            </a:r>
            <a:endParaRPr lang="en-US" sz="650" dirty="0"/>
          </a:p>
        </p:txBody>
      </p:sp>
      <p:sp>
        <p:nvSpPr>
          <p:cNvPr id="30" name="Text 27"/>
          <p:cNvSpPr/>
          <p:nvPr/>
        </p:nvSpPr>
        <p:spPr>
          <a:xfrm>
            <a:off x="4429125" y="3466560"/>
            <a:ext cx="4286250" cy="342900"/>
          </a:xfrm>
          <a:prstGeom prst="rect">
            <a:avLst/>
          </a:prstGeom>
          <a:noFill/>
          <a:ln/>
        </p:spPr>
        <p:txBody>
          <a:bodyPr wrap="square" lIns="8509" tIns="68072" rIns="8509" bIns="8509" rtlCol="0" anchor="t">
            <a:spAutoFit/>
          </a:bodyPr>
          <a:lstStyle/>
          <a:p>
            <a:pPr algn="l" indent="0" marL="0">
              <a:lnSpc>
                <a:spcPct val="102400"/>
              </a:lnSpc>
              <a:buNone/>
            </a:pPr>
            <a:r>
              <a:rPr lang="en-US" sz="700" dirty="0">
                <a:solidFill>
                  <a:srgbClr val="4B5F73"/>
                </a:solidFill>
                <a:latin typeface="Inter" pitchFamily="34" charset="0"/>
                <a:ea typeface="Inter" pitchFamily="34" charset="-122"/>
                <a:cs typeface="Inter" pitchFamily="34" charset="-120"/>
              </a:rPr>
              <a:t>可解释性研究者，公开资料与神经网络解释性研究高度相关。</a:t>
            </a:r>
            <a:endParaRPr lang="en-US" sz="700" dirty="0"/>
          </a:p>
        </p:txBody>
      </p:sp>
      <p:sp>
        <p:nvSpPr>
          <p:cNvPr id="31" name="Text 28"/>
          <p:cNvSpPr/>
          <p:nvPr/>
        </p:nvSpPr>
        <p:spPr>
          <a:xfrm>
            <a:off x="428625" y="3913045"/>
            <a:ext cx="8286750" cy="146447"/>
          </a:xfrm>
          <a:prstGeom prst="rect">
            <a:avLst/>
          </a:prstGeom>
          <a:noFill/>
          <a:ln/>
        </p:spPr>
        <p:txBody>
          <a:bodyPr wrap="square" lIns="0" tIns="51054" rIns="0" bIns="0" rtlCol="0" anchor="t">
            <a:spAutoFit/>
          </a:bodyPr>
          <a:lstStyle/>
          <a:p>
            <a:pPr algn="l" indent="0" marL="0">
              <a:lnSpc>
                <a:spcPct val="100000"/>
              </a:lnSpc>
              <a:buNone/>
            </a:pPr>
            <a:r>
              <a:rPr lang="en-US" sz="550" dirty="0">
                <a:solidFill>
                  <a:srgbClr val="6B7A8A"/>
                </a:solidFill>
                <a:latin typeface="Inter" pitchFamily="34" charset="0"/>
                <a:ea typeface="Inter" pitchFamily="34" charset="-122"/>
                <a:cs typeface="Inter" pitchFamily="34" charset="-120"/>
              </a:rPr>
              <a:t>来源：Anthropic Company；Dario Amodei 个人公开资料；权威媒体与投资方公开介绍。仅列公开可核验角色，不推断未披露职责。</a:t>
            </a:r>
            <a:endParaRPr lang="en-US" sz="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328613"/>
            <a:ext cx="8286750" cy="98227"/>
          </a:xfrm>
          <a:prstGeom prst="rect">
            <a:avLst/>
          </a:prstGeom>
          <a:noFill/>
          <a:ln/>
        </p:spPr>
        <p:txBody>
          <a:bodyPr wrap="square" lIns="0" tIns="0" rIns="0" bIns="0" rtlCol="0" anchor="t">
            <a:spAutoFit/>
          </a:bodyPr>
          <a:lstStyle/>
          <a:p>
            <a:pPr algn="l" indent="0" marL="0">
              <a:buNone/>
            </a:pPr>
            <a:r>
              <a:rPr lang="en-US" sz="600" b="1" spc="2" kern="0" dirty="0">
                <a:solidFill>
                  <a:srgbClr val="0B8F5A"/>
                </a:solidFill>
                <a:latin typeface="Inter ExtraBold" pitchFamily="34" charset="0"/>
                <a:ea typeface="Inter ExtraBold" pitchFamily="34" charset="-122"/>
                <a:cs typeface="Inter ExtraBold" pitchFamily="34" charset="-120"/>
              </a:rPr>
              <a:t>GOVERNANCE</a:t>
            </a:r>
            <a:endParaRPr lang="en-US" sz="600" dirty="0"/>
          </a:p>
        </p:txBody>
      </p:sp>
      <p:sp>
        <p:nvSpPr>
          <p:cNvPr id="4" name="Text 1"/>
          <p:cNvSpPr/>
          <p:nvPr/>
        </p:nvSpPr>
        <p:spPr>
          <a:xfrm>
            <a:off x="428625" y="498277"/>
            <a:ext cx="8286750" cy="275034"/>
          </a:xfrm>
          <a:prstGeom prst="rect">
            <a:avLst/>
          </a:prstGeom>
          <a:noFill/>
          <a:ln/>
        </p:spPr>
        <p:txBody>
          <a:bodyPr wrap="none" lIns="0" tIns="0" rIns="0" bIns="0" rtlCol="0" anchor="t">
            <a:spAutoFit/>
          </a:bodyPr>
          <a:lstStyle/>
          <a:p>
            <a:pPr algn="l" indent="0" marL="0">
              <a:lnSpc>
                <a:spcPct val="88000"/>
              </a:lnSpc>
              <a:buNone/>
            </a:pPr>
            <a:r>
              <a:rPr lang="en-US" sz="1750" b="1" dirty="0">
                <a:solidFill>
                  <a:srgbClr val="102033"/>
                </a:solidFill>
                <a:latin typeface="Inter Bold" pitchFamily="34" charset="0"/>
                <a:ea typeface="Inter Bold" pitchFamily="34" charset="-122"/>
                <a:cs typeface="Inter Bold" pitchFamily="34" charset="-120"/>
              </a:rPr>
              <a:t>治理结构：PBC 与 LTBT 构成长期护栏</a:t>
            </a:r>
            <a:endParaRPr lang="en-US" sz="1750" dirty="0"/>
          </a:p>
        </p:txBody>
      </p:sp>
      <p:sp>
        <p:nvSpPr>
          <p:cNvPr id="5" name="Text 2"/>
          <p:cNvSpPr/>
          <p:nvPr/>
        </p:nvSpPr>
        <p:spPr>
          <a:xfrm>
            <a:off x="428625" y="844748"/>
            <a:ext cx="7715250" cy="157218"/>
          </a:xfrm>
          <a:prstGeom prst="rect">
            <a:avLst/>
          </a:prstGeom>
          <a:noFill/>
          <a:ln/>
        </p:spPr>
        <p:txBody>
          <a:bodyPr wrap="none" lIns="0" tIns="0" rIns="0" bIns="0" rtlCol="0" anchor="t">
            <a:spAutoFit/>
          </a:bodyPr>
          <a:lstStyle/>
          <a:p>
            <a:pPr algn="l" indent="0" marL="0">
              <a:lnSpc>
                <a:spcPct val="113600"/>
              </a:lnSpc>
              <a:buNone/>
            </a:pPr>
            <a:r>
              <a:rPr lang="en-US" sz="800" dirty="0">
                <a:solidFill>
                  <a:srgbClr val="4B5F73"/>
                </a:solidFill>
                <a:latin typeface="Inter" pitchFamily="34" charset="0"/>
                <a:ea typeface="Inter" pitchFamily="34" charset="-122"/>
                <a:cs typeface="Inter" pitchFamily="34" charset="-120"/>
              </a:rPr>
              <a:t>Anthropic 公开强调其治理结构服务于长期公共利益：公司为 Public Benefit Corporation，并设置 Long-Term Benefit Trust 以在特定治理事项中发挥监督作用。</a:t>
            </a:r>
            <a:endParaRPr lang="en-US" sz="800" dirty="0"/>
          </a:p>
        </p:txBody>
      </p:sp>
      <p:sp>
        <p:nvSpPr>
          <p:cNvPr id="6" name="Text 3"/>
          <p:cNvSpPr/>
          <p:nvPr/>
        </p:nvSpPr>
        <p:spPr>
          <a:xfrm>
            <a:off x="428625" y="1402017"/>
            <a:ext cx="4643438" cy="164306"/>
          </a:xfrm>
          <a:prstGeom prst="rect">
            <a:avLst/>
          </a:prstGeom>
          <a:noFill/>
          <a:ln/>
        </p:spPr>
        <p:txBody>
          <a:bodyPr wrap="square" lIns="0" tIns="0" rIns="0" bIns="0" rtlCol="0" anchor="t">
            <a:spAutoFit/>
          </a:bodyPr>
          <a:lstStyle/>
          <a:p>
            <a:pPr algn="l" indent="0" marL="0">
              <a:buNone/>
            </a:pPr>
            <a:r>
              <a:rPr lang="en-US" sz="1000" b="1" dirty="0">
                <a:solidFill>
                  <a:srgbClr val="1E63FF"/>
                </a:solidFill>
                <a:latin typeface="Inter Bold" pitchFamily="34" charset="0"/>
                <a:ea typeface="Inter Bold" pitchFamily="34" charset="-122"/>
                <a:cs typeface="Inter Bold" pitchFamily="34" charset="-120"/>
              </a:rPr>
              <a:t>Public Benefit Corporation</a:t>
            </a:r>
            <a:endParaRPr lang="en-US" sz="1000" dirty="0"/>
          </a:p>
        </p:txBody>
      </p:sp>
      <p:sp>
        <p:nvSpPr>
          <p:cNvPr id="7" name="Text 4"/>
          <p:cNvSpPr/>
          <p:nvPr/>
        </p:nvSpPr>
        <p:spPr>
          <a:xfrm>
            <a:off x="428625" y="1609185"/>
            <a:ext cx="4643438" cy="140001"/>
          </a:xfrm>
          <a:prstGeom prst="rect">
            <a:avLst/>
          </a:prstGeom>
          <a:noFill/>
          <a:ln/>
        </p:spPr>
        <p:txBody>
          <a:bodyPr wrap="none" lIns="0" tIns="0" rIns="0" bIns="0" rtlCol="0" anchor="t">
            <a:spAutoFit/>
          </a:bodyPr>
          <a:lstStyle/>
          <a:p>
            <a:pPr algn="l" indent="0" marL="0">
              <a:lnSpc>
                <a:spcPct val="112000"/>
              </a:lnSpc>
              <a:buNone/>
            </a:pPr>
            <a:r>
              <a:rPr lang="en-US" sz="750" dirty="0">
                <a:solidFill>
                  <a:srgbClr val="4B5F73"/>
                </a:solidFill>
                <a:latin typeface="Inter" pitchFamily="34" charset="0"/>
                <a:ea typeface="Inter" pitchFamily="34" charset="-122"/>
                <a:cs typeface="Inter" pitchFamily="34" charset="-120"/>
              </a:rPr>
              <a:t>公司形态要求管理层在股东利益之外考虑公共利益和特定公益目的，这与其“负责任开发 AI”的使命相匹</a:t>
            </a:r>
            <a:endParaRPr lang="en-US" sz="750" dirty="0"/>
          </a:p>
        </p:txBody>
      </p:sp>
      <p:sp>
        <p:nvSpPr>
          <p:cNvPr id="8" name="Text 5"/>
          <p:cNvSpPr/>
          <p:nvPr/>
        </p:nvSpPr>
        <p:spPr>
          <a:xfrm>
            <a:off x="428625" y="1749186"/>
            <a:ext cx="4643438" cy="140001"/>
          </a:xfrm>
          <a:prstGeom prst="rect">
            <a:avLst/>
          </a:prstGeom>
          <a:noFill/>
          <a:ln/>
        </p:spPr>
        <p:txBody>
          <a:bodyPr wrap="none" lIns="0" tIns="0" rIns="0" bIns="0" rtlCol="0" anchor="t">
            <a:spAutoFit/>
          </a:bodyPr>
          <a:lstStyle/>
          <a:p>
            <a:pPr algn="l" indent="0" marL="0">
              <a:lnSpc>
                <a:spcPct val="112000"/>
              </a:lnSpc>
              <a:buNone/>
            </a:pPr>
            <a:r>
              <a:rPr lang="en-US" sz="750" dirty="0">
                <a:solidFill>
                  <a:srgbClr val="4B5F73"/>
                </a:solidFill>
                <a:latin typeface="Inter" pitchFamily="34" charset="0"/>
                <a:ea typeface="Inter" pitchFamily="34" charset="-122"/>
                <a:cs typeface="Inter" pitchFamily="34" charset="-120"/>
              </a:rPr>
              <a:t>配。</a:t>
            </a:r>
            <a:endParaRPr lang="en-US" sz="750" dirty="0"/>
          </a:p>
        </p:txBody>
      </p:sp>
      <p:sp>
        <p:nvSpPr>
          <p:cNvPr id="9" name="Text 6"/>
          <p:cNvSpPr/>
          <p:nvPr/>
        </p:nvSpPr>
        <p:spPr>
          <a:xfrm>
            <a:off x="428625" y="2116392"/>
            <a:ext cx="4643438" cy="164306"/>
          </a:xfrm>
          <a:prstGeom prst="rect">
            <a:avLst/>
          </a:prstGeom>
          <a:noFill/>
          <a:ln/>
        </p:spPr>
        <p:txBody>
          <a:bodyPr wrap="square" lIns="0" tIns="0" rIns="0" bIns="0" rtlCol="0" anchor="t">
            <a:spAutoFit/>
          </a:bodyPr>
          <a:lstStyle/>
          <a:p>
            <a:pPr algn="l" indent="0" marL="0">
              <a:buNone/>
            </a:pPr>
            <a:r>
              <a:rPr lang="en-US" sz="1000" b="1" dirty="0">
                <a:solidFill>
                  <a:srgbClr val="1E63FF"/>
                </a:solidFill>
                <a:latin typeface="Inter Bold" pitchFamily="34" charset="0"/>
                <a:ea typeface="Inter Bold" pitchFamily="34" charset="-122"/>
                <a:cs typeface="Inter Bold" pitchFamily="34" charset="-120"/>
              </a:rPr>
              <a:t>Board / Company Management</a:t>
            </a:r>
            <a:endParaRPr lang="en-US" sz="1000" dirty="0"/>
          </a:p>
        </p:txBody>
      </p:sp>
      <p:sp>
        <p:nvSpPr>
          <p:cNvPr id="10" name="Text 7"/>
          <p:cNvSpPr/>
          <p:nvPr/>
        </p:nvSpPr>
        <p:spPr>
          <a:xfrm>
            <a:off x="428625" y="2323560"/>
            <a:ext cx="4643438" cy="140001"/>
          </a:xfrm>
          <a:prstGeom prst="rect">
            <a:avLst/>
          </a:prstGeom>
          <a:noFill/>
          <a:ln/>
        </p:spPr>
        <p:txBody>
          <a:bodyPr wrap="none" lIns="0" tIns="0" rIns="0" bIns="0" rtlCol="0" anchor="t">
            <a:spAutoFit/>
          </a:bodyPr>
          <a:lstStyle/>
          <a:p>
            <a:pPr algn="l" indent="0" marL="0">
              <a:lnSpc>
                <a:spcPct val="112000"/>
              </a:lnSpc>
              <a:buNone/>
            </a:pPr>
            <a:r>
              <a:rPr lang="en-US" sz="750" dirty="0">
                <a:solidFill>
                  <a:srgbClr val="4B5F73"/>
                </a:solidFill>
                <a:latin typeface="Inter" pitchFamily="34" charset="0"/>
                <a:ea typeface="Inter" pitchFamily="34" charset="-122"/>
                <a:cs typeface="Inter" pitchFamily="34" charset="-120"/>
              </a:rPr>
              <a:t>董事会和管理层负责公司运营、资本、商业化、产品路线和风险管理；公开资料未披露完整内部组织图。</a:t>
            </a:r>
            <a:endParaRPr lang="en-US" sz="750" dirty="0"/>
          </a:p>
        </p:txBody>
      </p:sp>
      <p:sp>
        <p:nvSpPr>
          <p:cNvPr id="11" name="Text 8"/>
          <p:cNvSpPr/>
          <p:nvPr/>
        </p:nvSpPr>
        <p:spPr>
          <a:xfrm>
            <a:off x="428625" y="2830767"/>
            <a:ext cx="4643438" cy="164306"/>
          </a:xfrm>
          <a:prstGeom prst="rect">
            <a:avLst/>
          </a:prstGeom>
          <a:noFill/>
          <a:ln/>
        </p:spPr>
        <p:txBody>
          <a:bodyPr wrap="square" lIns="0" tIns="0" rIns="0" bIns="0" rtlCol="0" anchor="t">
            <a:spAutoFit/>
          </a:bodyPr>
          <a:lstStyle/>
          <a:p>
            <a:pPr algn="l" indent="0" marL="0">
              <a:buNone/>
            </a:pPr>
            <a:r>
              <a:rPr lang="en-US" sz="1000" b="1" dirty="0">
                <a:solidFill>
                  <a:srgbClr val="1E63FF"/>
                </a:solidFill>
                <a:latin typeface="Inter Bold" pitchFamily="34" charset="0"/>
                <a:ea typeface="Inter Bold" pitchFamily="34" charset="-122"/>
                <a:cs typeface="Inter Bold" pitchFamily="34" charset="-120"/>
              </a:rPr>
              <a:t>Long-Term Benefit Trust</a:t>
            </a:r>
            <a:endParaRPr lang="en-US" sz="1000" dirty="0"/>
          </a:p>
        </p:txBody>
      </p:sp>
      <p:sp>
        <p:nvSpPr>
          <p:cNvPr id="12" name="Text 9"/>
          <p:cNvSpPr/>
          <p:nvPr/>
        </p:nvSpPr>
        <p:spPr>
          <a:xfrm>
            <a:off x="428625" y="3037935"/>
            <a:ext cx="4643438" cy="140001"/>
          </a:xfrm>
          <a:prstGeom prst="rect">
            <a:avLst/>
          </a:prstGeom>
          <a:noFill/>
          <a:ln/>
        </p:spPr>
        <p:txBody>
          <a:bodyPr wrap="none" lIns="0" tIns="0" rIns="0" bIns="0" rtlCol="0" anchor="t">
            <a:spAutoFit/>
          </a:bodyPr>
          <a:lstStyle/>
          <a:p>
            <a:pPr algn="l" indent="0" marL="0">
              <a:lnSpc>
                <a:spcPct val="112000"/>
              </a:lnSpc>
              <a:buNone/>
            </a:pPr>
            <a:r>
              <a:rPr lang="en-US" sz="750" dirty="0">
                <a:solidFill>
                  <a:srgbClr val="4B5F73"/>
                </a:solidFill>
                <a:latin typeface="Inter" pitchFamily="34" charset="0"/>
                <a:ea typeface="Inter" pitchFamily="34" charset="-122"/>
                <a:cs typeface="Inter" pitchFamily="34" charset="-120"/>
              </a:rPr>
              <a:t>LTBT 作为公开治理安排的一部分，被设计为在公司发展和 AI 风险上升时提供长期利益视角。</a:t>
            </a:r>
            <a:endParaRPr lang="en-US" sz="750" dirty="0"/>
          </a:p>
        </p:txBody>
      </p:sp>
      <p:sp>
        <p:nvSpPr>
          <p:cNvPr id="13" name="Text 10"/>
          <p:cNvSpPr/>
          <p:nvPr/>
        </p:nvSpPr>
        <p:spPr>
          <a:xfrm>
            <a:off x="428625" y="3545142"/>
            <a:ext cx="4643438" cy="164306"/>
          </a:xfrm>
          <a:prstGeom prst="rect">
            <a:avLst/>
          </a:prstGeom>
          <a:noFill/>
          <a:ln/>
        </p:spPr>
        <p:txBody>
          <a:bodyPr wrap="square" lIns="0" tIns="0" rIns="0" bIns="0" rtlCol="0" anchor="t">
            <a:spAutoFit/>
          </a:bodyPr>
          <a:lstStyle/>
          <a:p>
            <a:pPr algn="l" indent="0" marL="0">
              <a:buNone/>
            </a:pPr>
            <a:r>
              <a:rPr lang="en-US" sz="1000" b="1" dirty="0">
                <a:solidFill>
                  <a:srgbClr val="1E63FF"/>
                </a:solidFill>
                <a:latin typeface="Inter Bold" pitchFamily="34" charset="0"/>
                <a:ea typeface="Inter Bold" pitchFamily="34" charset="-122"/>
                <a:cs typeface="Inter Bold" pitchFamily="34" charset="-120"/>
              </a:rPr>
              <a:t>Functional Organization</a:t>
            </a:r>
            <a:endParaRPr lang="en-US" sz="1000" dirty="0"/>
          </a:p>
        </p:txBody>
      </p:sp>
      <p:sp>
        <p:nvSpPr>
          <p:cNvPr id="14" name="Text 11"/>
          <p:cNvSpPr/>
          <p:nvPr/>
        </p:nvSpPr>
        <p:spPr>
          <a:xfrm>
            <a:off x="428625" y="3752310"/>
            <a:ext cx="4643438" cy="140001"/>
          </a:xfrm>
          <a:prstGeom prst="rect">
            <a:avLst/>
          </a:prstGeom>
          <a:noFill/>
          <a:ln/>
        </p:spPr>
        <p:txBody>
          <a:bodyPr wrap="none" lIns="0" tIns="0" rIns="0" bIns="0" rtlCol="0" anchor="t">
            <a:spAutoFit/>
          </a:bodyPr>
          <a:lstStyle/>
          <a:p>
            <a:pPr algn="l" indent="0" marL="0">
              <a:lnSpc>
                <a:spcPct val="112000"/>
              </a:lnSpc>
              <a:buNone/>
            </a:pPr>
            <a:r>
              <a:rPr lang="en-US" sz="750" dirty="0">
                <a:solidFill>
                  <a:srgbClr val="4B5F73"/>
                </a:solidFill>
                <a:latin typeface="Inter" pitchFamily="34" charset="0"/>
                <a:ea typeface="Inter" pitchFamily="34" charset="-122"/>
                <a:cs typeface="Inter" pitchFamily="34" charset="-120"/>
              </a:rPr>
              <a:t>公开招聘和公司页面显示其职能覆盖 Research、Product、Engineering、Policy、Security、Sales、</a:t>
            </a:r>
            <a:endParaRPr lang="en-US" sz="750" dirty="0"/>
          </a:p>
        </p:txBody>
      </p:sp>
      <p:sp>
        <p:nvSpPr>
          <p:cNvPr id="15" name="Text 12"/>
          <p:cNvSpPr/>
          <p:nvPr/>
        </p:nvSpPr>
        <p:spPr>
          <a:xfrm>
            <a:off x="428625" y="3892311"/>
            <a:ext cx="4643438" cy="140001"/>
          </a:xfrm>
          <a:prstGeom prst="rect">
            <a:avLst/>
          </a:prstGeom>
          <a:noFill/>
          <a:ln/>
        </p:spPr>
        <p:txBody>
          <a:bodyPr wrap="none" lIns="0" tIns="0" rIns="0" bIns="0" rtlCol="0" anchor="t">
            <a:spAutoFit/>
          </a:bodyPr>
          <a:lstStyle/>
          <a:p>
            <a:pPr algn="l" indent="0" marL="0">
              <a:lnSpc>
                <a:spcPct val="112000"/>
              </a:lnSpc>
              <a:buNone/>
            </a:pPr>
            <a:r>
              <a:rPr lang="en-US" sz="750" dirty="0">
                <a:solidFill>
                  <a:srgbClr val="4B5F73"/>
                </a:solidFill>
                <a:latin typeface="Inter" pitchFamily="34" charset="0"/>
                <a:ea typeface="Inter" pitchFamily="34" charset="-122"/>
                <a:cs typeface="Inter" pitchFamily="34" charset="-120"/>
              </a:rPr>
              <a:t>GTM、Operations 等。</a:t>
            </a:r>
            <a:endParaRPr lang="en-US" sz="750" dirty="0"/>
          </a:p>
        </p:txBody>
      </p:sp>
      <p:sp>
        <p:nvSpPr>
          <p:cNvPr id="16" name="Text 13"/>
          <p:cNvSpPr/>
          <p:nvPr/>
        </p:nvSpPr>
        <p:spPr>
          <a:xfrm>
            <a:off x="5500688" y="1237710"/>
            <a:ext cx="3214688" cy="226814"/>
          </a:xfrm>
          <a:prstGeom prst="rect">
            <a:avLst/>
          </a:prstGeom>
          <a:noFill/>
          <a:ln/>
        </p:spPr>
        <p:txBody>
          <a:bodyPr wrap="square" lIns="0" tIns="0" rIns="0" bIns="0" rtlCol="0" anchor="t">
            <a:spAutoFit/>
          </a:bodyPr>
          <a:lstStyle/>
          <a:p>
            <a:pPr algn="l" indent="0" marL="0">
              <a:buNone/>
            </a:pPr>
            <a:r>
              <a:rPr lang="en-US" sz="1100" b="1" dirty="0">
                <a:solidFill>
                  <a:srgbClr val="0B8F5A"/>
                </a:solidFill>
                <a:latin typeface="Inter Bold" pitchFamily="34" charset="0"/>
                <a:ea typeface="Inter Bold" pitchFamily="34" charset="-122"/>
                <a:cs typeface="Inter Bold" pitchFamily="34" charset="-120"/>
              </a:rPr>
              <a:t>公司架构解读</a:t>
            </a:r>
            <a:endParaRPr lang="en-US" sz="1100" dirty="0"/>
          </a:p>
        </p:txBody>
      </p:sp>
      <p:sp>
        <p:nvSpPr>
          <p:cNvPr id="17" name="Text 14"/>
          <p:cNvSpPr/>
          <p:nvPr/>
        </p:nvSpPr>
        <p:spPr>
          <a:xfrm>
            <a:off x="5500688" y="1628831"/>
            <a:ext cx="3214688" cy="133080"/>
          </a:xfrm>
          <a:prstGeom prst="rect">
            <a:avLst/>
          </a:prstGeom>
          <a:noFill/>
          <a:ln/>
        </p:spPr>
        <p:txBody>
          <a:bodyPr wrap="none" lIns="0" tIns="0" rIns="0" bIns="0" rtlCol="0" anchor="t">
            <a:spAutoFit/>
          </a:bodyPr>
          <a:lstStyle/>
          <a:p>
            <a:pPr algn="l" indent="0" marL="0">
              <a:lnSpc>
                <a:spcPct val="110400"/>
              </a:lnSpc>
              <a:buNone/>
            </a:pPr>
            <a:r>
              <a:rPr lang="en-US" sz="650" b="1" dirty="0">
                <a:solidFill>
                  <a:srgbClr val="102033"/>
                </a:solidFill>
                <a:latin typeface="Inter Bold" pitchFamily="34" charset="0"/>
                <a:ea typeface="Inter Bold" pitchFamily="34" charset="-122"/>
                <a:cs typeface="Inter Bold" pitchFamily="34" charset="-120"/>
              </a:rPr>
              <a:t>不是传统 SaaS 单线组织</a:t>
            </a:r>
            <a:endParaRPr lang="en-US" sz="650" dirty="0"/>
          </a:p>
        </p:txBody>
      </p:sp>
      <p:sp>
        <p:nvSpPr>
          <p:cNvPr id="18" name="Text 15"/>
          <p:cNvSpPr/>
          <p:nvPr/>
        </p:nvSpPr>
        <p:spPr>
          <a:xfrm>
            <a:off x="5500688" y="1795844"/>
            <a:ext cx="3182541" cy="107156"/>
          </a:xfrm>
          <a:prstGeom prst="rect">
            <a:avLst/>
          </a:prstGeom>
          <a:noFill/>
          <a:ln/>
        </p:spPr>
        <p:txBody>
          <a:bodyPr wrap="none" lIns="0" tIns="0" rIns="0" bIns="0" rtlCol="0" anchor="t">
            <a:spAutoFit/>
          </a:bodyPr>
          <a:lstStyle/>
          <a:p>
            <a:pPr algn="l" indent="0" marL="0">
              <a:lnSpc>
                <a:spcPct val="110400"/>
              </a:lnSpc>
              <a:buNone/>
            </a:pPr>
            <a:r>
              <a:rPr lang="en-US" sz="700" dirty="0">
                <a:solidFill>
                  <a:srgbClr val="4B5F73"/>
                </a:solidFill>
                <a:latin typeface="Inter" pitchFamily="34" charset="0"/>
                <a:ea typeface="Inter" pitchFamily="34" charset="-122"/>
                <a:cs typeface="Inter" pitchFamily="34" charset="-120"/>
              </a:rPr>
              <a:t>研究、安全和政策职能在公司战略中处于高优先级，而非只服务产品包装。</a:t>
            </a:r>
            <a:endParaRPr lang="en-US" sz="700" dirty="0"/>
          </a:p>
        </p:txBody>
      </p:sp>
      <p:sp>
        <p:nvSpPr>
          <p:cNvPr id="19" name="Text 16"/>
          <p:cNvSpPr/>
          <p:nvPr/>
        </p:nvSpPr>
        <p:spPr>
          <a:xfrm>
            <a:off x="5500688" y="2066441"/>
            <a:ext cx="3214688" cy="133080"/>
          </a:xfrm>
          <a:prstGeom prst="rect">
            <a:avLst/>
          </a:prstGeom>
          <a:noFill/>
          <a:ln/>
        </p:spPr>
        <p:txBody>
          <a:bodyPr wrap="none" lIns="0" tIns="0" rIns="0" bIns="0" rtlCol="0" anchor="t">
            <a:spAutoFit/>
          </a:bodyPr>
          <a:lstStyle/>
          <a:p>
            <a:pPr algn="l" indent="0" marL="0">
              <a:lnSpc>
                <a:spcPct val="110400"/>
              </a:lnSpc>
              <a:buNone/>
            </a:pPr>
            <a:r>
              <a:rPr lang="en-US" sz="650" b="1" dirty="0">
                <a:solidFill>
                  <a:srgbClr val="102033"/>
                </a:solidFill>
                <a:latin typeface="Inter Bold" pitchFamily="34" charset="0"/>
                <a:ea typeface="Inter Bold" pitchFamily="34" charset="-122"/>
                <a:cs typeface="Inter Bold" pitchFamily="34" charset="-120"/>
              </a:rPr>
              <a:t>企业可信度是产品卖点</a:t>
            </a:r>
            <a:endParaRPr lang="en-US" sz="650" dirty="0"/>
          </a:p>
        </p:txBody>
      </p:sp>
      <p:sp>
        <p:nvSpPr>
          <p:cNvPr id="20" name="Text 17"/>
          <p:cNvSpPr/>
          <p:nvPr/>
        </p:nvSpPr>
        <p:spPr>
          <a:xfrm>
            <a:off x="5500688" y="2233454"/>
            <a:ext cx="3134934" cy="107156"/>
          </a:xfrm>
          <a:prstGeom prst="rect">
            <a:avLst/>
          </a:prstGeom>
          <a:noFill/>
          <a:ln/>
        </p:spPr>
        <p:txBody>
          <a:bodyPr wrap="none" lIns="0" tIns="0" rIns="0" bIns="0" rtlCol="0" anchor="t">
            <a:spAutoFit/>
          </a:bodyPr>
          <a:lstStyle/>
          <a:p>
            <a:pPr algn="l" indent="0" marL="0">
              <a:lnSpc>
                <a:spcPct val="110400"/>
              </a:lnSpc>
              <a:buNone/>
            </a:pPr>
            <a:r>
              <a:rPr lang="en-US" sz="700" dirty="0">
                <a:solidFill>
                  <a:srgbClr val="4B5F73"/>
                </a:solidFill>
                <a:latin typeface="Inter" pitchFamily="34" charset="0"/>
                <a:ea typeface="Inter" pitchFamily="34" charset="-122"/>
                <a:cs typeface="Inter" pitchFamily="34" charset="-120"/>
              </a:rPr>
              <a:t>PBC、RSP、Constitutional AI 与企业数据承诺共同构成 To B 销售中的“信</a:t>
            </a:r>
            <a:endParaRPr lang="en-US" sz="700" dirty="0"/>
          </a:p>
        </p:txBody>
      </p:sp>
      <p:sp>
        <p:nvSpPr>
          <p:cNvPr id="21" name="Text 18"/>
          <p:cNvSpPr/>
          <p:nvPr/>
        </p:nvSpPr>
        <p:spPr>
          <a:xfrm>
            <a:off x="5500688" y="2366535"/>
            <a:ext cx="417881" cy="107156"/>
          </a:xfrm>
          <a:prstGeom prst="rect">
            <a:avLst/>
          </a:prstGeom>
          <a:noFill/>
          <a:ln/>
        </p:spPr>
        <p:txBody>
          <a:bodyPr wrap="none" lIns="0" tIns="0" rIns="0" bIns="0" rtlCol="0" anchor="t">
            <a:spAutoFit/>
          </a:bodyPr>
          <a:lstStyle/>
          <a:p>
            <a:pPr algn="l" indent="0" marL="0">
              <a:lnSpc>
                <a:spcPct val="110400"/>
              </a:lnSpc>
              <a:buNone/>
            </a:pPr>
            <a:r>
              <a:rPr lang="en-US" sz="700" dirty="0">
                <a:solidFill>
                  <a:srgbClr val="4B5F73"/>
                </a:solidFill>
                <a:latin typeface="Inter" pitchFamily="34" charset="0"/>
                <a:ea typeface="Inter" pitchFamily="34" charset="-122"/>
                <a:cs typeface="Inter" pitchFamily="34" charset="-120"/>
              </a:rPr>
              <a:t>任叙事”。</a:t>
            </a:r>
            <a:endParaRPr lang="en-US" sz="700" dirty="0"/>
          </a:p>
        </p:txBody>
      </p:sp>
      <p:sp>
        <p:nvSpPr>
          <p:cNvPr id="22" name="Text 19"/>
          <p:cNvSpPr/>
          <p:nvPr/>
        </p:nvSpPr>
        <p:spPr>
          <a:xfrm>
            <a:off x="5500688" y="2637132"/>
            <a:ext cx="3214688" cy="133080"/>
          </a:xfrm>
          <a:prstGeom prst="rect">
            <a:avLst/>
          </a:prstGeom>
          <a:noFill/>
          <a:ln/>
        </p:spPr>
        <p:txBody>
          <a:bodyPr wrap="none" lIns="0" tIns="0" rIns="0" bIns="0" rtlCol="0" anchor="t">
            <a:spAutoFit/>
          </a:bodyPr>
          <a:lstStyle/>
          <a:p>
            <a:pPr algn="l" indent="0" marL="0">
              <a:lnSpc>
                <a:spcPct val="110400"/>
              </a:lnSpc>
              <a:buNone/>
            </a:pPr>
            <a:r>
              <a:rPr lang="en-US" sz="650" b="1" dirty="0">
                <a:solidFill>
                  <a:srgbClr val="102033"/>
                </a:solidFill>
                <a:latin typeface="Inter Bold" pitchFamily="34" charset="0"/>
                <a:ea typeface="Inter Bold" pitchFamily="34" charset="-122"/>
                <a:cs typeface="Inter Bold" pitchFamily="34" charset="-120"/>
              </a:rPr>
              <a:t>公开边界</a:t>
            </a:r>
            <a:endParaRPr lang="en-US" sz="650" dirty="0"/>
          </a:p>
        </p:txBody>
      </p:sp>
      <p:sp>
        <p:nvSpPr>
          <p:cNvPr id="23" name="Text 20"/>
          <p:cNvSpPr/>
          <p:nvPr/>
        </p:nvSpPr>
        <p:spPr>
          <a:xfrm>
            <a:off x="5500688" y="2804145"/>
            <a:ext cx="3173974" cy="107156"/>
          </a:xfrm>
          <a:prstGeom prst="rect">
            <a:avLst/>
          </a:prstGeom>
          <a:noFill/>
          <a:ln/>
        </p:spPr>
        <p:txBody>
          <a:bodyPr wrap="none" lIns="0" tIns="0" rIns="0" bIns="0" rtlCol="0" anchor="t">
            <a:spAutoFit/>
          </a:bodyPr>
          <a:lstStyle/>
          <a:p>
            <a:pPr algn="l" indent="0" marL="0">
              <a:lnSpc>
                <a:spcPct val="110400"/>
              </a:lnSpc>
              <a:buNone/>
            </a:pPr>
            <a:r>
              <a:rPr lang="en-US" sz="700" dirty="0">
                <a:solidFill>
                  <a:srgbClr val="4B5F73"/>
                </a:solidFill>
                <a:latin typeface="Inter" pitchFamily="34" charset="0"/>
                <a:ea typeface="Inter" pitchFamily="34" charset="-122"/>
                <a:cs typeface="Inter" pitchFamily="34" charset="-120"/>
              </a:rPr>
              <a:t>Anthropic 未公开完整组织架构、各业务线 P&amp;L 或内部汇报关系；本页仅基</a:t>
            </a:r>
            <a:endParaRPr lang="en-US" sz="700" dirty="0"/>
          </a:p>
        </p:txBody>
      </p:sp>
      <p:sp>
        <p:nvSpPr>
          <p:cNvPr id="24" name="Text 21"/>
          <p:cNvSpPr/>
          <p:nvPr/>
        </p:nvSpPr>
        <p:spPr>
          <a:xfrm>
            <a:off x="5500688" y="2937225"/>
            <a:ext cx="1253728" cy="107156"/>
          </a:xfrm>
          <a:prstGeom prst="rect">
            <a:avLst/>
          </a:prstGeom>
          <a:noFill/>
          <a:ln/>
        </p:spPr>
        <p:txBody>
          <a:bodyPr wrap="none" lIns="0" tIns="0" rIns="0" bIns="0" rtlCol="0" anchor="t">
            <a:spAutoFit/>
          </a:bodyPr>
          <a:lstStyle/>
          <a:p>
            <a:pPr algn="l" indent="0" marL="0">
              <a:lnSpc>
                <a:spcPct val="110400"/>
              </a:lnSpc>
              <a:buNone/>
            </a:pPr>
            <a:r>
              <a:rPr lang="en-US" sz="700" dirty="0">
                <a:solidFill>
                  <a:srgbClr val="4B5F73"/>
                </a:solidFill>
                <a:latin typeface="Inter" pitchFamily="34" charset="0"/>
                <a:ea typeface="Inter" pitchFamily="34" charset="-122"/>
                <a:cs typeface="Inter" pitchFamily="34" charset="-120"/>
              </a:rPr>
              <a:t>于官方公开治理与职能信息。</a:t>
            </a:r>
            <a:endParaRPr lang="en-US" sz="700" dirty="0"/>
          </a:p>
        </p:txBody>
      </p:sp>
      <p:sp>
        <p:nvSpPr>
          <p:cNvPr id="25" name="Text 22"/>
          <p:cNvSpPr/>
          <p:nvPr/>
        </p:nvSpPr>
        <p:spPr>
          <a:xfrm>
            <a:off x="428625" y="4238085"/>
            <a:ext cx="8286750" cy="146447"/>
          </a:xfrm>
          <a:prstGeom prst="rect">
            <a:avLst/>
          </a:prstGeom>
          <a:noFill/>
          <a:ln/>
        </p:spPr>
        <p:txBody>
          <a:bodyPr wrap="square" lIns="0" tIns="51054" rIns="0" bIns="0" rtlCol="0" anchor="t">
            <a:spAutoFit/>
          </a:bodyPr>
          <a:lstStyle/>
          <a:p>
            <a:pPr algn="l" indent="0" marL="0">
              <a:lnSpc>
                <a:spcPct val="100000"/>
              </a:lnSpc>
              <a:buNone/>
            </a:pPr>
            <a:r>
              <a:rPr lang="en-US" sz="550" dirty="0">
                <a:solidFill>
                  <a:srgbClr val="6B7A8A"/>
                </a:solidFill>
                <a:latin typeface="Inter" pitchFamily="34" charset="0"/>
                <a:ea typeface="Inter" pitchFamily="34" charset="-122"/>
                <a:cs typeface="Inter" pitchFamily="34" charset="-120"/>
              </a:rPr>
              <a:t>来源：Anthropic Company / Governance pages；Anthropic Responsible Scaling Policy；公开招聘和公司页面。未公开内容不作推断。</a:t>
            </a:r>
            <a:endParaRPr lang="en-US" sz="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357188"/>
            <a:ext cx="8286750" cy="98227"/>
          </a:xfrm>
          <a:prstGeom prst="rect">
            <a:avLst/>
          </a:prstGeom>
          <a:noFill/>
          <a:ln/>
        </p:spPr>
        <p:txBody>
          <a:bodyPr wrap="square" lIns="0" tIns="0" rIns="0" bIns="0" rtlCol="0" anchor="t">
            <a:spAutoFit/>
          </a:bodyPr>
          <a:lstStyle/>
          <a:p>
            <a:pPr algn="l" indent="0" marL="0">
              <a:buNone/>
            </a:pPr>
            <a:r>
              <a:rPr lang="en-US" sz="600" b="1" spc="2" kern="0" dirty="0">
                <a:solidFill>
                  <a:srgbClr val="0B8F5A"/>
                </a:solidFill>
                <a:latin typeface="Inter ExtraBold" pitchFamily="34" charset="0"/>
                <a:ea typeface="Inter ExtraBold" pitchFamily="34" charset="-122"/>
                <a:cs typeface="Inter ExtraBold" pitchFamily="34" charset="-120"/>
              </a:rPr>
              <a:t>VISION &amp; SAFETY</a:t>
            </a:r>
            <a:endParaRPr lang="en-US" sz="600" dirty="0"/>
          </a:p>
        </p:txBody>
      </p:sp>
      <p:sp>
        <p:nvSpPr>
          <p:cNvPr id="4" name="Text 1"/>
          <p:cNvSpPr/>
          <p:nvPr/>
        </p:nvSpPr>
        <p:spPr>
          <a:xfrm>
            <a:off x="428625" y="526852"/>
            <a:ext cx="8286750" cy="282876"/>
          </a:xfrm>
          <a:prstGeom prst="rect">
            <a:avLst/>
          </a:prstGeom>
          <a:noFill/>
          <a:ln/>
        </p:spPr>
        <p:txBody>
          <a:bodyPr wrap="none" lIns="0" tIns="0" rIns="0" bIns="0" rtlCol="0" anchor="t">
            <a:spAutoFit/>
          </a:bodyPr>
          <a:lstStyle/>
          <a:p>
            <a:pPr algn="l" indent="0" marL="0">
              <a:lnSpc>
                <a:spcPct val="88000"/>
              </a:lnSpc>
              <a:buNone/>
            </a:pPr>
            <a:r>
              <a:rPr lang="en-US" sz="1800" b="1" dirty="0">
                <a:solidFill>
                  <a:srgbClr val="102033"/>
                </a:solidFill>
                <a:latin typeface="Inter Bold" pitchFamily="34" charset="0"/>
                <a:ea typeface="Inter Bold" pitchFamily="34" charset="-122"/>
                <a:cs typeface="Inter Bold" pitchFamily="34" charset="-120"/>
              </a:rPr>
              <a:t>愿景：把 AI 安全当作系统性科学</a:t>
            </a:r>
            <a:endParaRPr lang="en-US" sz="1800" dirty="0"/>
          </a:p>
        </p:txBody>
      </p:sp>
      <p:sp>
        <p:nvSpPr>
          <p:cNvPr id="5" name="Text 2"/>
          <p:cNvSpPr/>
          <p:nvPr/>
        </p:nvSpPr>
        <p:spPr>
          <a:xfrm>
            <a:off x="428625" y="881165"/>
            <a:ext cx="7715250" cy="160539"/>
          </a:xfrm>
          <a:prstGeom prst="rect">
            <a:avLst/>
          </a:prstGeom>
          <a:noFill/>
          <a:ln/>
        </p:spPr>
        <p:txBody>
          <a:bodyPr wrap="none" lIns="0" tIns="0" rIns="0" bIns="0" rtlCol="0" anchor="t">
            <a:spAutoFit/>
          </a:bodyPr>
          <a:lstStyle/>
          <a:p>
            <a:pPr algn="l" indent="0" marL="0">
              <a:lnSpc>
                <a:spcPct val="116000"/>
              </a:lnSpc>
              <a:buNone/>
            </a:pPr>
            <a:r>
              <a:rPr lang="en-US" sz="800" dirty="0">
                <a:solidFill>
                  <a:srgbClr val="4B5F73"/>
                </a:solidFill>
                <a:latin typeface="Inter" pitchFamily="34" charset="0"/>
                <a:ea typeface="Inter" pitchFamily="34" charset="-122"/>
                <a:cs typeface="Inter" pitchFamily="34" charset="-120"/>
              </a:rPr>
              <a:t>Anthropic 的愿景不是仅“做更强模型”，而是把可靠性、可解释性、可控性和安全部署作为研究与商业化的共同前提。</a:t>
            </a:r>
            <a:endParaRPr lang="en-US" sz="800" dirty="0"/>
          </a:p>
        </p:txBody>
      </p:sp>
      <p:sp>
        <p:nvSpPr>
          <p:cNvPr id="6" name="Text 3"/>
          <p:cNvSpPr/>
          <p:nvPr/>
        </p:nvSpPr>
        <p:spPr>
          <a:xfrm>
            <a:off x="428625" y="1513191"/>
            <a:ext cx="1943100" cy="107156"/>
          </a:xfrm>
          <a:prstGeom prst="rect">
            <a:avLst/>
          </a:prstGeom>
          <a:noFill/>
          <a:ln/>
        </p:spPr>
        <p:txBody>
          <a:bodyPr wrap="square" lIns="0" tIns="0" rIns="0" bIns="0" rtlCol="0" anchor="t">
            <a:spAutoFit/>
          </a:bodyPr>
          <a:lstStyle/>
          <a:p>
            <a:pPr algn="l" indent="0" marL="0">
              <a:buNone/>
            </a:pPr>
            <a:r>
              <a:rPr lang="en-US" sz="650" b="1" spc="2" kern="0" dirty="0">
                <a:solidFill>
                  <a:srgbClr val="0B8F5A"/>
                </a:solidFill>
                <a:latin typeface="Inter ExtraBold" pitchFamily="34" charset="0"/>
                <a:ea typeface="Inter ExtraBold" pitchFamily="34" charset="-122"/>
                <a:cs typeface="Inter ExtraBold" pitchFamily="34" charset="-120"/>
              </a:rPr>
              <a:t>01 MISSION</a:t>
            </a:r>
            <a:endParaRPr lang="en-US" sz="650" dirty="0"/>
          </a:p>
        </p:txBody>
      </p:sp>
      <p:sp>
        <p:nvSpPr>
          <p:cNvPr id="7" name="Text 4"/>
          <p:cNvSpPr/>
          <p:nvPr/>
        </p:nvSpPr>
        <p:spPr>
          <a:xfrm>
            <a:off x="428625" y="1706073"/>
            <a:ext cx="1943100" cy="185431"/>
          </a:xfrm>
          <a:prstGeom prst="rect">
            <a:avLst/>
          </a:prstGeom>
          <a:noFill/>
          <a:ln/>
        </p:spPr>
        <p:txBody>
          <a:bodyPr wrap="none" lIns="0" tIns="0" rIns="0" bIns="0" rtlCol="0" anchor="t">
            <a:spAutoFit/>
          </a:bodyPr>
          <a:lstStyle/>
          <a:p>
            <a:pPr algn="l" indent="0" marL="0">
              <a:lnSpc>
                <a:spcPct val="94400"/>
              </a:lnSpc>
              <a:buNone/>
            </a:pPr>
            <a:r>
              <a:rPr lang="en-US" sz="1100" b="1" dirty="0">
                <a:solidFill>
                  <a:srgbClr val="102033"/>
                </a:solidFill>
                <a:latin typeface="Inter Bold" pitchFamily="34" charset="0"/>
                <a:ea typeface="Inter Bold" pitchFamily="34" charset="-122"/>
                <a:cs typeface="Inter Bold" pitchFamily="34" charset="-120"/>
              </a:rPr>
              <a:t>可靠、可解释、可控制</a:t>
            </a:r>
            <a:endParaRPr lang="en-US" sz="1100" dirty="0"/>
          </a:p>
        </p:txBody>
      </p:sp>
      <p:sp>
        <p:nvSpPr>
          <p:cNvPr id="8" name="Text 5"/>
          <p:cNvSpPr/>
          <p:nvPr/>
        </p:nvSpPr>
        <p:spPr>
          <a:xfrm>
            <a:off x="428625" y="1962941"/>
            <a:ext cx="1943100" cy="434987"/>
          </a:xfrm>
          <a:prstGeom prst="rect">
            <a:avLst/>
          </a:prstGeom>
          <a:noFill/>
          <a:ln/>
        </p:spPr>
        <p:txBody>
          <a:bodyPr wrap="square" lIns="0" tIns="0" rIns="0" bIns="0" rtlCol="0" anchor="t">
            <a:spAutoFit/>
          </a:bodyPr>
          <a:lstStyle/>
          <a:p>
            <a:pPr algn="l" indent="0" marL="0">
              <a:lnSpc>
                <a:spcPct val="116000"/>
              </a:lnSpc>
              <a:buNone/>
            </a:pPr>
            <a:r>
              <a:rPr lang="en-US" sz="750" dirty="0">
                <a:solidFill>
                  <a:srgbClr val="4B5F73"/>
                </a:solidFill>
                <a:latin typeface="Inter" pitchFamily="34" charset="0"/>
                <a:ea typeface="Inter" pitchFamily="34" charset="-122"/>
                <a:cs typeface="Inter" pitchFamily="34" charset="-120"/>
              </a:rPr>
              <a:t>官方使命围绕 reliable、interpretable、steerable AI systems 展开，强调模型能力增长必须与控制能力同步。</a:t>
            </a:r>
            <a:endParaRPr lang="en-US" sz="750" dirty="0"/>
          </a:p>
        </p:txBody>
      </p:sp>
      <p:sp>
        <p:nvSpPr>
          <p:cNvPr id="9" name="Text 6"/>
          <p:cNvSpPr/>
          <p:nvPr/>
        </p:nvSpPr>
        <p:spPr>
          <a:xfrm>
            <a:off x="2543175" y="1513191"/>
            <a:ext cx="1943100" cy="107156"/>
          </a:xfrm>
          <a:prstGeom prst="rect">
            <a:avLst/>
          </a:prstGeom>
          <a:noFill/>
          <a:ln/>
        </p:spPr>
        <p:txBody>
          <a:bodyPr wrap="square" lIns="0" tIns="0" rIns="0" bIns="0" rtlCol="0" anchor="t">
            <a:spAutoFit/>
          </a:bodyPr>
          <a:lstStyle/>
          <a:p>
            <a:pPr algn="l" indent="0" marL="0">
              <a:buNone/>
            </a:pPr>
            <a:r>
              <a:rPr lang="en-US" sz="650" b="1" spc="2" kern="0" dirty="0">
                <a:solidFill>
                  <a:srgbClr val="0B8F5A"/>
                </a:solidFill>
                <a:latin typeface="Inter ExtraBold" pitchFamily="34" charset="0"/>
                <a:ea typeface="Inter ExtraBold" pitchFamily="34" charset="-122"/>
                <a:cs typeface="Inter ExtraBold" pitchFamily="34" charset="-120"/>
              </a:rPr>
              <a:t>02 RESEARCH</a:t>
            </a:r>
            <a:endParaRPr lang="en-US" sz="650" dirty="0"/>
          </a:p>
        </p:txBody>
      </p:sp>
      <p:sp>
        <p:nvSpPr>
          <p:cNvPr id="10" name="Text 7"/>
          <p:cNvSpPr/>
          <p:nvPr/>
        </p:nvSpPr>
        <p:spPr>
          <a:xfrm>
            <a:off x="2543175" y="1706073"/>
            <a:ext cx="1943100" cy="185431"/>
          </a:xfrm>
          <a:prstGeom prst="rect">
            <a:avLst/>
          </a:prstGeom>
          <a:noFill/>
          <a:ln/>
        </p:spPr>
        <p:txBody>
          <a:bodyPr wrap="none" lIns="0" tIns="0" rIns="0" bIns="0" rtlCol="0" anchor="t">
            <a:spAutoFit/>
          </a:bodyPr>
          <a:lstStyle/>
          <a:p>
            <a:pPr algn="l" indent="0" marL="0">
              <a:lnSpc>
                <a:spcPct val="94400"/>
              </a:lnSpc>
              <a:buNone/>
            </a:pPr>
            <a:r>
              <a:rPr lang="en-US" sz="1100" b="1" dirty="0">
                <a:solidFill>
                  <a:srgbClr val="102033"/>
                </a:solidFill>
                <a:latin typeface="Inter Bold" pitchFamily="34" charset="0"/>
                <a:ea typeface="Inter Bold" pitchFamily="34" charset="-122"/>
                <a:cs typeface="Inter Bold" pitchFamily="34" charset="-120"/>
              </a:rPr>
              <a:t>安全研究产品化</a:t>
            </a:r>
            <a:endParaRPr lang="en-US" sz="1100" dirty="0"/>
          </a:p>
        </p:txBody>
      </p:sp>
      <p:sp>
        <p:nvSpPr>
          <p:cNvPr id="11" name="Text 8"/>
          <p:cNvSpPr/>
          <p:nvPr/>
        </p:nvSpPr>
        <p:spPr>
          <a:xfrm>
            <a:off x="2543175" y="1962941"/>
            <a:ext cx="1943100" cy="434987"/>
          </a:xfrm>
          <a:prstGeom prst="rect">
            <a:avLst/>
          </a:prstGeom>
          <a:noFill/>
          <a:ln/>
        </p:spPr>
        <p:txBody>
          <a:bodyPr wrap="square" lIns="0" tIns="0" rIns="0" bIns="0" rtlCol="0" anchor="t">
            <a:spAutoFit/>
          </a:bodyPr>
          <a:lstStyle/>
          <a:p>
            <a:pPr algn="l" indent="0" marL="0">
              <a:lnSpc>
                <a:spcPct val="116000"/>
              </a:lnSpc>
              <a:buNone/>
            </a:pPr>
            <a:r>
              <a:rPr lang="en-US" sz="750" dirty="0">
                <a:solidFill>
                  <a:srgbClr val="4B5F73"/>
                </a:solidFill>
                <a:latin typeface="Inter" pitchFamily="34" charset="0"/>
                <a:ea typeface="Inter" pitchFamily="34" charset="-122"/>
                <a:cs typeface="Inter" pitchFamily="34" charset="-120"/>
              </a:rPr>
              <a:t>Constitutional AI、可解释性、红队测试和评估体系不是外部装饰，而是进入 Claude 产品设计的底层方法。</a:t>
            </a:r>
            <a:endParaRPr lang="en-US" sz="750" dirty="0"/>
          </a:p>
        </p:txBody>
      </p:sp>
      <p:sp>
        <p:nvSpPr>
          <p:cNvPr id="12" name="Text 9"/>
          <p:cNvSpPr/>
          <p:nvPr/>
        </p:nvSpPr>
        <p:spPr>
          <a:xfrm>
            <a:off x="4657725" y="1513191"/>
            <a:ext cx="1943100" cy="107156"/>
          </a:xfrm>
          <a:prstGeom prst="rect">
            <a:avLst/>
          </a:prstGeom>
          <a:noFill/>
          <a:ln/>
        </p:spPr>
        <p:txBody>
          <a:bodyPr wrap="square" lIns="0" tIns="0" rIns="0" bIns="0" rtlCol="0" anchor="t">
            <a:spAutoFit/>
          </a:bodyPr>
          <a:lstStyle/>
          <a:p>
            <a:pPr algn="l" indent="0" marL="0">
              <a:buNone/>
            </a:pPr>
            <a:r>
              <a:rPr lang="en-US" sz="650" b="1" spc="2" kern="0" dirty="0">
                <a:solidFill>
                  <a:srgbClr val="0B8F5A"/>
                </a:solidFill>
                <a:latin typeface="Inter ExtraBold" pitchFamily="34" charset="0"/>
                <a:ea typeface="Inter ExtraBold" pitchFamily="34" charset="-122"/>
                <a:cs typeface="Inter ExtraBold" pitchFamily="34" charset="-120"/>
              </a:rPr>
              <a:t>03 GOVERNANCE</a:t>
            </a:r>
            <a:endParaRPr lang="en-US" sz="650" dirty="0"/>
          </a:p>
        </p:txBody>
      </p:sp>
      <p:sp>
        <p:nvSpPr>
          <p:cNvPr id="13" name="Text 10"/>
          <p:cNvSpPr/>
          <p:nvPr/>
        </p:nvSpPr>
        <p:spPr>
          <a:xfrm>
            <a:off x="4657725" y="1706073"/>
            <a:ext cx="1943100" cy="185431"/>
          </a:xfrm>
          <a:prstGeom prst="rect">
            <a:avLst/>
          </a:prstGeom>
          <a:noFill/>
          <a:ln/>
        </p:spPr>
        <p:txBody>
          <a:bodyPr wrap="none" lIns="0" tIns="0" rIns="0" bIns="0" rtlCol="0" anchor="t">
            <a:spAutoFit/>
          </a:bodyPr>
          <a:lstStyle/>
          <a:p>
            <a:pPr algn="l" indent="0" marL="0">
              <a:lnSpc>
                <a:spcPct val="94400"/>
              </a:lnSpc>
              <a:buNone/>
            </a:pPr>
            <a:r>
              <a:rPr lang="en-US" sz="1100" b="1" dirty="0">
                <a:solidFill>
                  <a:srgbClr val="102033"/>
                </a:solidFill>
                <a:latin typeface="Inter Bold" pitchFamily="34" charset="0"/>
                <a:ea typeface="Inter Bold" pitchFamily="34" charset="-122"/>
                <a:cs typeface="Inter Bold" pitchFamily="34" charset="-120"/>
              </a:rPr>
              <a:t>Responsible Scaling</a:t>
            </a:r>
            <a:endParaRPr lang="en-US" sz="1100" dirty="0"/>
          </a:p>
        </p:txBody>
      </p:sp>
      <p:sp>
        <p:nvSpPr>
          <p:cNvPr id="14" name="Text 11"/>
          <p:cNvSpPr/>
          <p:nvPr/>
        </p:nvSpPr>
        <p:spPr>
          <a:xfrm>
            <a:off x="4657725" y="1962941"/>
            <a:ext cx="1943100" cy="289992"/>
          </a:xfrm>
          <a:prstGeom prst="rect">
            <a:avLst/>
          </a:prstGeom>
          <a:noFill/>
          <a:ln/>
        </p:spPr>
        <p:txBody>
          <a:bodyPr wrap="square" lIns="0" tIns="0" rIns="0" bIns="0" rtlCol="0" anchor="t">
            <a:spAutoFit/>
          </a:bodyPr>
          <a:lstStyle/>
          <a:p>
            <a:pPr algn="l" indent="0" marL="0">
              <a:lnSpc>
                <a:spcPct val="116000"/>
              </a:lnSpc>
              <a:buNone/>
            </a:pPr>
            <a:r>
              <a:rPr lang="en-US" sz="750" dirty="0">
                <a:solidFill>
                  <a:srgbClr val="4B5F73"/>
                </a:solidFill>
                <a:latin typeface="Inter" pitchFamily="34" charset="0"/>
                <a:ea typeface="Inter" pitchFamily="34" charset="-122"/>
                <a:cs typeface="Inter" pitchFamily="34" charset="-120"/>
              </a:rPr>
              <a:t>RSP 将模型能力与部署防护等级关联，使前沿模型发布拥有更清晰的风险升级机制。</a:t>
            </a:r>
            <a:endParaRPr lang="en-US" sz="750" dirty="0"/>
          </a:p>
        </p:txBody>
      </p:sp>
      <p:sp>
        <p:nvSpPr>
          <p:cNvPr id="15" name="Text 12"/>
          <p:cNvSpPr/>
          <p:nvPr/>
        </p:nvSpPr>
        <p:spPr>
          <a:xfrm>
            <a:off x="6772275" y="1513191"/>
            <a:ext cx="1943100" cy="107156"/>
          </a:xfrm>
          <a:prstGeom prst="rect">
            <a:avLst/>
          </a:prstGeom>
          <a:noFill/>
          <a:ln/>
        </p:spPr>
        <p:txBody>
          <a:bodyPr wrap="square" lIns="0" tIns="0" rIns="0" bIns="0" rtlCol="0" anchor="t">
            <a:spAutoFit/>
          </a:bodyPr>
          <a:lstStyle/>
          <a:p>
            <a:pPr algn="l" indent="0" marL="0">
              <a:buNone/>
            </a:pPr>
            <a:r>
              <a:rPr lang="en-US" sz="650" b="1" spc="2" kern="0" dirty="0">
                <a:solidFill>
                  <a:srgbClr val="0B8F5A"/>
                </a:solidFill>
                <a:latin typeface="Inter ExtraBold" pitchFamily="34" charset="0"/>
                <a:ea typeface="Inter ExtraBold" pitchFamily="34" charset="-122"/>
                <a:cs typeface="Inter ExtraBold" pitchFamily="34" charset="-120"/>
              </a:rPr>
              <a:t>04 ENTERPRISE TRUST</a:t>
            </a:r>
            <a:endParaRPr lang="en-US" sz="650" dirty="0"/>
          </a:p>
        </p:txBody>
      </p:sp>
      <p:sp>
        <p:nvSpPr>
          <p:cNvPr id="16" name="Text 13"/>
          <p:cNvSpPr/>
          <p:nvPr/>
        </p:nvSpPr>
        <p:spPr>
          <a:xfrm>
            <a:off x="6772275" y="1706073"/>
            <a:ext cx="1943100" cy="185431"/>
          </a:xfrm>
          <a:prstGeom prst="rect">
            <a:avLst/>
          </a:prstGeom>
          <a:noFill/>
          <a:ln/>
        </p:spPr>
        <p:txBody>
          <a:bodyPr wrap="none" lIns="0" tIns="0" rIns="0" bIns="0" rtlCol="0" anchor="t">
            <a:spAutoFit/>
          </a:bodyPr>
          <a:lstStyle/>
          <a:p>
            <a:pPr algn="l" indent="0" marL="0">
              <a:lnSpc>
                <a:spcPct val="94400"/>
              </a:lnSpc>
              <a:buNone/>
            </a:pPr>
            <a:r>
              <a:rPr lang="en-US" sz="1100" b="1" dirty="0">
                <a:solidFill>
                  <a:srgbClr val="102033"/>
                </a:solidFill>
                <a:latin typeface="Inter Bold" pitchFamily="34" charset="0"/>
                <a:ea typeface="Inter Bold" pitchFamily="34" charset="-122"/>
                <a:cs typeface="Inter Bold" pitchFamily="34" charset="-120"/>
              </a:rPr>
              <a:t>企业可信部署</a:t>
            </a:r>
            <a:endParaRPr lang="en-US" sz="1100" dirty="0"/>
          </a:p>
        </p:txBody>
      </p:sp>
      <p:sp>
        <p:nvSpPr>
          <p:cNvPr id="17" name="Text 14"/>
          <p:cNvSpPr/>
          <p:nvPr/>
        </p:nvSpPr>
        <p:spPr>
          <a:xfrm>
            <a:off x="6772275" y="1962941"/>
            <a:ext cx="1943100" cy="434987"/>
          </a:xfrm>
          <a:prstGeom prst="rect">
            <a:avLst/>
          </a:prstGeom>
          <a:noFill/>
          <a:ln/>
        </p:spPr>
        <p:txBody>
          <a:bodyPr wrap="square" lIns="0" tIns="0" rIns="0" bIns="0" rtlCol="0" anchor="t">
            <a:spAutoFit/>
          </a:bodyPr>
          <a:lstStyle/>
          <a:p>
            <a:pPr algn="l" indent="0" marL="0">
              <a:lnSpc>
                <a:spcPct val="116000"/>
              </a:lnSpc>
              <a:buNone/>
            </a:pPr>
            <a:r>
              <a:rPr lang="en-US" sz="750" dirty="0">
                <a:solidFill>
                  <a:srgbClr val="4B5F73"/>
                </a:solidFill>
                <a:latin typeface="Inter" pitchFamily="34" charset="0"/>
                <a:ea typeface="Inter" pitchFamily="34" charset="-122"/>
                <a:cs typeface="Inter" pitchFamily="34" charset="-120"/>
              </a:rPr>
              <a:t>数据承诺、访问控制、合规认证、审计日志和云渠道共同服务于企业采购中的信任与责任问题。</a:t>
            </a:r>
            <a:endParaRPr lang="en-US" sz="750" dirty="0"/>
          </a:p>
        </p:txBody>
      </p:sp>
      <p:sp>
        <p:nvSpPr>
          <p:cNvPr id="18" name="Text 15"/>
          <p:cNvSpPr/>
          <p:nvPr/>
        </p:nvSpPr>
        <p:spPr>
          <a:xfrm>
            <a:off x="428625" y="3556304"/>
            <a:ext cx="4021931" cy="289992"/>
          </a:xfrm>
          <a:prstGeom prst="rect">
            <a:avLst/>
          </a:prstGeom>
          <a:noFill/>
          <a:ln/>
        </p:spPr>
        <p:txBody>
          <a:bodyPr wrap="square" lIns="0" tIns="0" rIns="0" bIns="0" rtlCol="0" anchor="t">
            <a:spAutoFit/>
          </a:bodyPr>
          <a:lstStyle/>
          <a:p>
            <a:pPr algn="l" indent="0" marL="0">
              <a:lnSpc>
                <a:spcPct val="116000"/>
              </a:lnSpc>
              <a:buNone/>
            </a:pPr>
            <a:r>
              <a:rPr lang="en-US" sz="700" b="1" dirty="0">
                <a:solidFill>
                  <a:srgbClr val="0B8F5A"/>
                </a:solidFill>
                <a:latin typeface="Inter Bold" pitchFamily="34" charset="0"/>
                <a:ea typeface="Inter Bold" pitchFamily="34" charset="-122"/>
                <a:cs typeface="Inter Bold" pitchFamily="34" charset="-120"/>
              </a:rPr>
              <a:t>战略含义：</a:t>
            </a:r>
            <a:r>
              <a:rPr lang="en-US" sz="750" dirty="0">
                <a:solidFill>
                  <a:srgbClr val="4B5F73"/>
                </a:solidFill>
                <a:latin typeface="Inter" pitchFamily="34" charset="0"/>
                <a:ea typeface="Inter" pitchFamily="34" charset="-122"/>
                <a:cs typeface="Inter" pitchFamily="34" charset="-120"/>
              </a:rPr>
              <a:t>安全不是 Anthropic 的边缘职能，而是品牌差异、监管沟通和企业销售的共同基</a:t>
            </a:r>
            <a:r>
              <a:rPr lang="en-US" sz="750" dirty="0">
                <a:solidFill>
                  <a:srgbClr val="4B5F73"/>
                </a:solidFill>
                <a:latin typeface="Inter" pitchFamily="34" charset="0"/>
                <a:ea typeface="Inter" pitchFamily="34" charset="-122"/>
                <a:cs typeface="Inter" pitchFamily="34" charset="-120"/>
              </a:rPr>
              <a:t>础。</a:t>
            </a:r>
            <a:endParaRPr lang="en-US" sz="700" dirty="0"/>
          </a:p>
        </p:txBody>
      </p:sp>
      <p:sp>
        <p:nvSpPr>
          <p:cNvPr id="19" name="Text 16"/>
          <p:cNvSpPr/>
          <p:nvPr/>
        </p:nvSpPr>
        <p:spPr>
          <a:xfrm>
            <a:off x="4693444" y="3556304"/>
            <a:ext cx="4021931" cy="289992"/>
          </a:xfrm>
          <a:prstGeom prst="rect">
            <a:avLst/>
          </a:prstGeom>
          <a:noFill/>
          <a:ln/>
        </p:spPr>
        <p:txBody>
          <a:bodyPr wrap="square" lIns="0" tIns="0" rIns="0" bIns="0" rtlCol="0" anchor="t">
            <a:spAutoFit/>
          </a:bodyPr>
          <a:lstStyle/>
          <a:p>
            <a:pPr algn="l" indent="0" marL="0">
              <a:lnSpc>
                <a:spcPct val="116000"/>
              </a:lnSpc>
              <a:buNone/>
            </a:pPr>
            <a:r>
              <a:rPr lang="en-US" sz="700" b="1" dirty="0">
                <a:solidFill>
                  <a:srgbClr val="0B8F5A"/>
                </a:solidFill>
                <a:latin typeface="Inter Bold" pitchFamily="34" charset="0"/>
                <a:ea typeface="Inter Bold" pitchFamily="34" charset="-122"/>
                <a:cs typeface="Inter Bold" pitchFamily="34" charset="-120"/>
              </a:rPr>
              <a:t>产品含义：</a:t>
            </a:r>
            <a:r>
              <a:rPr lang="en-US" sz="750" dirty="0">
                <a:solidFill>
                  <a:srgbClr val="4B5F73"/>
                </a:solidFill>
                <a:latin typeface="Inter" pitchFamily="34" charset="0"/>
                <a:ea typeface="Inter" pitchFamily="34" charset="-122"/>
                <a:cs typeface="Inter" pitchFamily="34" charset="-120"/>
              </a:rPr>
              <a:t>Claude 的定位更偏“可信企业智能体平台”，而不是只与消费级聊天机器人竞争。</a:t>
            </a:r>
            <a:endParaRPr lang="en-US" sz="700" dirty="0"/>
          </a:p>
        </p:txBody>
      </p:sp>
      <p:sp>
        <p:nvSpPr>
          <p:cNvPr id="20" name="Text 17"/>
          <p:cNvSpPr/>
          <p:nvPr/>
        </p:nvSpPr>
        <p:spPr>
          <a:xfrm>
            <a:off x="428625" y="3974883"/>
            <a:ext cx="8286750" cy="146447"/>
          </a:xfrm>
          <a:prstGeom prst="rect">
            <a:avLst/>
          </a:prstGeom>
          <a:noFill/>
          <a:ln/>
        </p:spPr>
        <p:txBody>
          <a:bodyPr wrap="square" lIns="0" tIns="51054" rIns="0" bIns="0" rtlCol="0" anchor="t">
            <a:spAutoFit/>
          </a:bodyPr>
          <a:lstStyle/>
          <a:p>
            <a:pPr algn="l" indent="0" marL="0">
              <a:lnSpc>
                <a:spcPct val="100000"/>
              </a:lnSpc>
              <a:buNone/>
            </a:pPr>
            <a:r>
              <a:rPr lang="en-US" sz="550" dirty="0">
                <a:solidFill>
                  <a:srgbClr val="6B7A8A"/>
                </a:solidFill>
                <a:latin typeface="Inter" pitchFamily="34" charset="0"/>
                <a:ea typeface="Inter" pitchFamily="34" charset="-122"/>
                <a:cs typeface="Inter" pitchFamily="34" charset="-120"/>
              </a:rPr>
              <a:t>来源：Anthropic Company；Constitutional AI research；Responsible Scaling Policy；Claude Enterprise security and trust pages。</a:t>
            </a:r>
            <a:endParaRPr lang="en-US" sz="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342900"/>
            <a:ext cx="8286750" cy="98227"/>
          </a:xfrm>
          <a:prstGeom prst="rect">
            <a:avLst/>
          </a:prstGeom>
          <a:noFill/>
          <a:ln/>
        </p:spPr>
        <p:txBody>
          <a:bodyPr wrap="square" lIns="0" tIns="0" rIns="0" bIns="0" rtlCol="0" anchor="t">
            <a:spAutoFit/>
          </a:bodyPr>
          <a:lstStyle/>
          <a:p>
            <a:pPr algn="l" indent="0" marL="0">
              <a:buNone/>
            </a:pPr>
            <a:r>
              <a:rPr lang="en-US" sz="600" b="1" spc="2" kern="0" dirty="0">
                <a:solidFill>
                  <a:srgbClr val="0B8F5A"/>
                </a:solidFill>
                <a:latin typeface="Inter ExtraBold" pitchFamily="34" charset="0"/>
                <a:ea typeface="Inter ExtraBold" pitchFamily="34" charset="-122"/>
                <a:cs typeface="Inter ExtraBold" pitchFamily="34" charset="-120"/>
              </a:rPr>
              <a:t>TECHNICAL ARCHITECTURE</a:t>
            </a:r>
            <a:endParaRPr lang="en-US" sz="600" dirty="0"/>
          </a:p>
        </p:txBody>
      </p:sp>
      <p:sp>
        <p:nvSpPr>
          <p:cNvPr id="4" name="Text 1"/>
          <p:cNvSpPr/>
          <p:nvPr/>
        </p:nvSpPr>
        <p:spPr>
          <a:xfrm>
            <a:off x="428625" y="512564"/>
            <a:ext cx="8286750" cy="275034"/>
          </a:xfrm>
          <a:prstGeom prst="rect">
            <a:avLst/>
          </a:prstGeom>
          <a:noFill/>
          <a:ln/>
        </p:spPr>
        <p:txBody>
          <a:bodyPr wrap="none" lIns="0" tIns="0" rIns="0" bIns="0" rtlCol="0" anchor="t">
            <a:spAutoFit/>
          </a:bodyPr>
          <a:lstStyle/>
          <a:p>
            <a:pPr algn="l" indent="0" marL="0">
              <a:lnSpc>
                <a:spcPct val="88000"/>
              </a:lnSpc>
              <a:buNone/>
            </a:pPr>
            <a:r>
              <a:rPr lang="en-US" sz="1750" b="1" dirty="0">
                <a:solidFill>
                  <a:srgbClr val="102033"/>
                </a:solidFill>
                <a:latin typeface="Inter Bold" pitchFamily="34" charset="0"/>
                <a:ea typeface="Inter Bold" pitchFamily="34" charset="-122"/>
                <a:cs typeface="Inter Bold" pitchFamily="34" charset="-120"/>
              </a:rPr>
              <a:t>技术架构：模型、安全、产品、开发者与云生态</a:t>
            </a:r>
            <a:endParaRPr lang="en-US" sz="1750" dirty="0"/>
          </a:p>
        </p:txBody>
      </p:sp>
      <p:sp>
        <p:nvSpPr>
          <p:cNvPr id="5" name="Text 2"/>
          <p:cNvSpPr/>
          <p:nvPr/>
        </p:nvSpPr>
        <p:spPr>
          <a:xfrm>
            <a:off x="428625" y="859036"/>
            <a:ext cx="7715250" cy="152140"/>
          </a:xfrm>
          <a:prstGeom prst="rect">
            <a:avLst/>
          </a:prstGeom>
          <a:noFill/>
          <a:ln/>
        </p:spPr>
        <p:txBody>
          <a:bodyPr wrap="none" lIns="0" tIns="0" rIns="0" bIns="0" rtlCol="0" anchor="t">
            <a:spAutoFit/>
          </a:bodyPr>
          <a:lstStyle/>
          <a:p>
            <a:pPr algn="l" indent="0" marL="0">
              <a:lnSpc>
                <a:spcPct val="113600"/>
              </a:lnSpc>
              <a:buNone/>
            </a:pPr>
            <a:r>
              <a:rPr lang="en-US" sz="800" dirty="0">
                <a:solidFill>
                  <a:srgbClr val="4B5F73"/>
                </a:solidFill>
                <a:latin typeface="Inter" pitchFamily="34" charset="0"/>
                <a:ea typeface="Inter" pitchFamily="34" charset="-122"/>
                <a:cs typeface="Inter" pitchFamily="34" charset="-120"/>
              </a:rPr>
              <a:t>Anthropic 的技术架构可以看作从 Claude 模型族出发，叠加安全对齐、应用产品、开发者平台与多云企业渠道的组合。</a:t>
            </a:r>
            <a:endParaRPr lang="en-US" sz="800" dirty="0"/>
          </a:p>
        </p:txBody>
      </p:sp>
      <p:sp>
        <p:nvSpPr>
          <p:cNvPr id="6" name="Text 3"/>
          <p:cNvSpPr/>
          <p:nvPr/>
        </p:nvSpPr>
        <p:spPr>
          <a:xfrm>
            <a:off x="428625" y="1368363"/>
            <a:ext cx="1554463" cy="107156"/>
          </a:xfrm>
          <a:prstGeom prst="rect">
            <a:avLst/>
          </a:prstGeom>
          <a:noFill/>
          <a:ln/>
        </p:spPr>
        <p:txBody>
          <a:bodyPr wrap="square" lIns="0" tIns="0" rIns="0" bIns="0" rtlCol="0" anchor="t">
            <a:spAutoFit/>
          </a:bodyPr>
          <a:lstStyle/>
          <a:p>
            <a:pPr algn="l" indent="0" marL="0">
              <a:buNone/>
            </a:pPr>
            <a:r>
              <a:rPr lang="en-US" sz="650" b="1" spc="1" kern="0" dirty="0">
                <a:solidFill>
                  <a:srgbClr val="0B8F5A"/>
                </a:solidFill>
                <a:latin typeface="Inter ExtraBold" pitchFamily="34" charset="0"/>
                <a:ea typeface="Inter ExtraBold" pitchFamily="34" charset="-122"/>
                <a:cs typeface="Inter ExtraBold" pitchFamily="34" charset="-120"/>
              </a:rPr>
              <a:t>MODEL LAYER</a:t>
            </a:r>
            <a:endParaRPr lang="en-US" sz="650" dirty="0"/>
          </a:p>
        </p:txBody>
      </p:sp>
      <p:sp>
        <p:nvSpPr>
          <p:cNvPr id="7" name="Text 4"/>
          <p:cNvSpPr/>
          <p:nvPr/>
        </p:nvSpPr>
        <p:spPr>
          <a:xfrm>
            <a:off x="428625" y="1625538"/>
            <a:ext cx="1554463" cy="116086"/>
          </a:xfrm>
          <a:prstGeom prst="rect">
            <a:avLst/>
          </a:prstGeom>
          <a:noFill/>
          <a:ln/>
        </p:spPr>
        <p:txBody>
          <a:bodyPr wrap="square" lIns="0" tIns="0" rIns="0" bIns="0" rtlCol="0" anchor="t">
            <a:spAutoFit/>
          </a:bodyPr>
          <a:lstStyle/>
          <a:p>
            <a:pPr algn="l" indent="0" marL="0">
              <a:buNone/>
            </a:pPr>
            <a:r>
              <a:rPr lang="en-US" sz="700" b="1" dirty="0">
                <a:solidFill>
                  <a:srgbClr val="102033"/>
                </a:solidFill>
                <a:latin typeface="Inter Bold" pitchFamily="34" charset="0"/>
                <a:ea typeface="Inter Bold" pitchFamily="34" charset="-122"/>
                <a:cs typeface="Inter Bold" pitchFamily="34" charset="-120"/>
              </a:rPr>
              <a:t>Claude Fable / Opus</a:t>
            </a:r>
            <a:endParaRPr lang="en-US" sz="700" dirty="0"/>
          </a:p>
        </p:txBody>
      </p:sp>
      <p:sp>
        <p:nvSpPr>
          <p:cNvPr id="8" name="Text 5"/>
          <p:cNvSpPr/>
          <p:nvPr/>
        </p:nvSpPr>
        <p:spPr>
          <a:xfrm>
            <a:off x="428625" y="1770199"/>
            <a:ext cx="1554463" cy="117035"/>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复杂推理与高价值长任务。</a:t>
            </a:r>
            <a:endParaRPr lang="en-US" sz="650" dirty="0"/>
          </a:p>
        </p:txBody>
      </p:sp>
      <p:sp>
        <p:nvSpPr>
          <p:cNvPr id="9" name="Text 6"/>
          <p:cNvSpPr/>
          <p:nvPr/>
        </p:nvSpPr>
        <p:spPr>
          <a:xfrm>
            <a:off x="428625" y="2125600"/>
            <a:ext cx="1554463" cy="116086"/>
          </a:xfrm>
          <a:prstGeom prst="rect">
            <a:avLst/>
          </a:prstGeom>
          <a:noFill/>
          <a:ln/>
        </p:spPr>
        <p:txBody>
          <a:bodyPr wrap="square" lIns="0" tIns="0" rIns="0" bIns="0" rtlCol="0" anchor="t">
            <a:spAutoFit/>
          </a:bodyPr>
          <a:lstStyle/>
          <a:p>
            <a:pPr algn="l" indent="0" marL="0">
              <a:buNone/>
            </a:pPr>
            <a:r>
              <a:rPr lang="en-US" sz="700" b="1" dirty="0">
                <a:solidFill>
                  <a:srgbClr val="102033"/>
                </a:solidFill>
                <a:latin typeface="Inter Bold" pitchFamily="34" charset="0"/>
                <a:ea typeface="Inter Bold" pitchFamily="34" charset="-122"/>
                <a:cs typeface="Inter Bold" pitchFamily="34" charset="-120"/>
              </a:rPr>
              <a:t>Claude Sonnet</a:t>
            </a:r>
            <a:endParaRPr lang="en-US" sz="700" dirty="0"/>
          </a:p>
        </p:txBody>
      </p:sp>
      <p:sp>
        <p:nvSpPr>
          <p:cNvPr id="10" name="Text 7"/>
          <p:cNvSpPr/>
          <p:nvPr/>
        </p:nvSpPr>
        <p:spPr>
          <a:xfrm>
            <a:off x="428625" y="2270261"/>
            <a:ext cx="1554463" cy="117035"/>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企业主力模型，平衡能力、速度与成</a:t>
            </a:r>
            <a:endParaRPr lang="en-US" sz="650" dirty="0"/>
          </a:p>
        </p:txBody>
      </p:sp>
      <p:sp>
        <p:nvSpPr>
          <p:cNvPr id="11" name="Text 8"/>
          <p:cNvSpPr/>
          <p:nvPr/>
        </p:nvSpPr>
        <p:spPr>
          <a:xfrm>
            <a:off x="428625" y="2387296"/>
            <a:ext cx="1554463" cy="117035"/>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本。</a:t>
            </a:r>
            <a:endParaRPr lang="en-US" sz="650" dirty="0"/>
          </a:p>
        </p:txBody>
      </p:sp>
      <p:sp>
        <p:nvSpPr>
          <p:cNvPr id="12" name="Text 9"/>
          <p:cNvSpPr/>
          <p:nvPr/>
        </p:nvSpPr>
        <p:spPr>
          <a:xfrm>
            <a:off x="428625" y="2625775"/>
            <a:ext cx="1554463" cy="116086"/>
          </a:xfrm>
          <a:prstGeom prst="rect">
            <a:avLst/>
          </a:prstGeom>
          <a:noFill/>
          <a:ln/>
        </p:spPr>
        <p:txBody>
          <a:bodyPr wrap="square" lIns="0" tIns="0" rIns="0" bIns="0" rtlCol="0" anchor="t">
            <a:spAutoFit/>
          </a:bodyPr>
          <a:lstStyle/>
          <a:p>
            <a:pPr algn="l" indent="0" marL="0">
              <a:buNone/>
            </a:pPr>
            <a:r>
              <a:rPr lang="en-US" sz="700" b="1" dirty="0">
                <a:solidFill>
                  <a:srgbClr val="102033"/>
                </a:solidFill>
                <a:latin typeface="Inter Bold" pitchFamily="34" charset="0"/>
                <a:ea typeface="Inter Bold" pitchFamily="34" charset="-122"/>
                <a:cs typeface="Inter Bold" pitchFamily="34" charset="-120"/>
              </a:rPr>
              <a:t>Claude Haiku</a:t>
            </a:r>
            <a:endParaRPr lang="en-US" sz="700" dirty="0"/>
          </a:p>
        </p:txBody>
      </p:sp>
      <p:sp>
        <p:nvSpPr>
          <p:cNvPr id="13" name="Text 10"/>
          <p:cNvSpPr/>
          <p:nvPr/>
        </p:nvSpPr>
        <p:spPr>
          <a:xfrm>
            <a:off x="428625" y="2770436"/>
            <a:ext cx="1554463" cy="117035"/>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低延迟、高容量和成本敏感任务。</a:t>
            </a:r>
            <a:endParaRPr lang="en-US" sz="650" dirty="0"/>
          </a:p>
        </p:txBody>
      </p:sp>
      <p:sp>
        <p:nvSpPr>
          <p:cNvPr id="14" name="Text 11"/>
          <p:cNvSpPr/>
          <p:nvPr/>
        </p:nvSpPr>
        <p:spPr>
          <a:xfrm>
            <a:off x="2111676" y="1368363"/>
            <a:ext cx="1554491" cy="107156"/>
          </a:xfrm>
          <a:prstGeom prst="rect">
            <a:avLst/>
          </a:prstGeom>
          <a:noFill/>
          <a:ln/>
        </p:spPr>
        <p:txBody>
          <a:bodyPr wrap="square" lIns="0" tIns="0" rIns="0" bIns="0" rtlCol="0" anchor="t">
            <a:spAutoFit/>
          </a:bodyPr>
          <a:lstStyle/>
          <a:p>
            <a:pPr algn="l" indent="0" marL="0">
              <a:buNone/>
            </a:pPr>
            <a:r>
              <a:rPr lang="en-US" sz="650" b="1" spc="1" kern="0" dirty="0">
                <a:solidFill>
                  <a:srgbClr val="0B8F5A"/>
                </a:solidFill>
                <a:latin typeface="Inter ExtraBold" pitchFamily="34" charset="0"/>
                <a:ea typeface="Inter ExtraBold" pitchFamily="34" charset="-122"/>
                <a:cs typeface="Inter ExtraBold" pitchFamily="34" charset="-120"/>
              </a:rPr>
              <a:t>SAFETY LAYER</a:t>
            </a:r>
            <a:endParaRPr lang="en-US" sz="650" dirty="0"/>
          </a:p>
        </p:txBody>
      </p:sp>
      <p:sp>
        <p:nvSpPr>
          <p:cNvPr id="15" name="Text 12"/>
          <p:cNvSpPr/>
          <p:nvPr/>
        </p:nvSpPr>
        <p:spPr>
          <a:xfrm>
            <a:off x="2111676" y="1625538"/>
            <a:ext cx="1554491" cy="116086"/>
          </a:xfrm>
          <a:prstGeom prst="rect">
            <a:avLst/>
          </a:prstGeom>
          <a:noFill/>
          <a:ln/>
        </p:spPr>
        <p:txBody>
          <a:bodyPr wrap="square" lIns="0" tIns="0" rIns="0" bIns="0" rtlCol="0" anchor="t">
            <a:spAutoFit/>
          </a:bodyPr>
          <a:lstStyle/>
          <a:p>
            <a:pPr algn="l" indent="0" marL="0">
              <a:buNone/>
            </a:pPr>
            <a:r>
              <a:rPr lang="en-US" sz="700" b="1" dirty="0">
                <a:solidFill>
                  <a:srgbClr val="102033"/>
                </a:solidFill>
                <a:latin typeface="Inter Bold" pitchFamily="34" charset="0"/>
                <a:ea typeface="Inter Bold" pitchFamily="34" charset="-122"/>
                <a:cs typeface="Inter Bold" pitchFamily="34" charset="-120"/>
              </a:rPr>
              <a:t>Constitutional AI</a:t>
            </a:r>
            <a:endParaRPr lang="en-US" sz="700" dirty="0"/>
          </a:p>
        </p:txBody>
      </p:sp>
      <p:sp>
        <p:nvSpPr>
          <p:cNvPr id="16" name="Text 13"/>
          <p:cNvSpPr/>
          <p:nvPr/>
        </p:nvSpPr>
        <p:spPr>
          <a:xfrm>
            <a:off x="2111676" y="1770199"/>
            <a:ext cx="1554491" cy="117035"/>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原则反馈与安全对齐。</a:t>
            </a:r>
            <a:endParaRPr lang="en-US" sz="650" dirty="0"/>
          </a:p>
        </p:txBody>
      </p:sp>
      <p:sp>
        <p:nvSpPr>
          <p:cNvPr id="17" name="Text 14"/>
          <p:cNvSpPr/>
          <p:nvPr/>
        </p:nvSpPr>
        <p:spPr>
          <a:xfrm>
            <a:off x="2111676" y="2125600"/>
            <a:ext cx="1554491" cy="116086"/>
          </a:xfrm>
          <a:prstGeom prst="rect">
            <a:avLst/>
          </a:prstGeom>
          <a:noFill/>
          <a:ln/>
        </p:spPr>
        <p:txBody>
          <a:bodyPr wrap="square" lIns="0" tIns="0" rIns="0" bIns="0" rtlCol="0" anchor="t">
            <a:spAutoFit/>
          </a:bodyPr>
          <a:lstStyle/>
          <a:p>
            <a:pPr algn="l" indent="0" marL="0">
              <a:buNone/>
            </a:pPr>
            <a:r>
              <a:rPr lang="en-US" sz="700" b="1" dirty="0">
                <a:solidFill>
                  <a:srgbClr val="102033"/>
                </a:solidFill>
                <a:latin typeface="Inter Bold" pitchFamily="34" charset="0"/>
                <a:ea typeface="Inter Bold" pitchFamily="34" charset="-122"/>
                <a:cs typeface="Inter Bold" pitchFamily="34" charset="-120"/>
              </a:rPr>
              <a:t>RSP / ASL</a:t>
            </a:r>
            <a:endParaRPr lang="en-US" sz="700" dirty="0"/>
          </a:p>
        </p:txBody>
      </p:sp>
      <p:sp>
        <p:nvSpPr>
          <p:cNvPr id="18" name="Text 15"/>
          <p:cNvSpPr/>
          <p:nvPr/>
        </p:nvSpPr>
        <p:spPr>
          <a:xfrm>
            <a:off x="2111676" y="2270261"/>
            <a:ext cx="1554491" cy="117035"/>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随能力升级而增强防护。</a:t>
            </a:r>
            <a:endParaRPr lang="en-US" sz="650" dirty="0"/>
          </a:p>
        </p:txBody>
      </p:sp>
      <p:sp>
        <p:nvSpPr>
          <p:cNvPr id="19" name="Text 16"/>
          <p:cNvSpPr/>
          <p:nvPr/>
        </p:nvSpPr>
        <p:spPr>
          <a:xfrm>
            <a:off x="2111676" y="2625663"/>
            <a:ext cx="1554491" cy="116086"/>
          </a:xfrm>
          <a:prstGeom prst="rect">
            <a:avLst/>
          </a:prstGeom>
          <a:noFill/>
          <a:ln/>
        </p:spPr>
        <p:txBody>
          <a:bodyPr wrap="square" lIns="0" tIns="0" rIns="0" bIns="0" rtlCol="0" anchor="t">
            <a:spAutoFit/>
          </a:bodyPr>
          <a:lstStyle/>
          <a:p>
            <a:pPr algn="l" indent="0" marL="0">
              <a:buNone/>
            </a:pPr>
            <a:r>
              <a:rPr lang="en-US" sz="700" b="1" dirty="0">
                <a:solidFill>
                  <a:srgbClr val="102033"/>
                </a:solidFill>
                <a:latin typeface="Inter Bold" pitchFamily="34" charset="0"/>
                <a:ea typeface="Inter Bold" pitchFamily="34" charset="-122"/>
                <a:cs typeface="Inter Bold" pitchFamily="34" charset="-120"/>
              </a:rPr>
              <a:t>Eval / Red Team</a:t>
            </a:r>
            <a:endParaRPr lang="en-US" sz="700" dirty="0"/>
          </a:p>
        </p:txBody>
      </p:sp>
      <p:sp>
        <p:nvSpPr>
          <p:cNvPr id="20" name="Text 17"/>
          <p:cNvSpPr/>
          <p:nvPr/>
        </p:nvSpPr>
        <p:spPr>
          <a:xfrm>
            <a:off x="2111676" y="2770324"/>
            <a:ext cx="1554491" cy="117035"/>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评估、红队和部署门槛。</a:t>
            </a:r>
            <a:endParaRPr lang="en-US" sz="650" dirty="0"/>
          </a:p>
        </p:txBody>
      </p:sp>
      <p:sp>
        <p:nvSpPr>
          <p:cNvPr id="21" name="Text 18"/>
          <p:cNvSpPr/>
          <p:nvPr/>
        </p:nvSpPr>
        <p:spPr>
          <a:xfrm>
            <a:off x="3794754" y="1368363"/>
            <a:ext cx="1554463" cy="107156"/>
          </a:xfrm>
          <a:prstGeom prst="rect">
            <a:avLst/>
          </a:prstGeom>
          <a:noFill/>
          <a:ln/>
        </p:spPr>
        <p:txBody>
          <a:bodyPr wrap="square" lIns="0" tIns="0" rIns="0" bIns="0" rtlCol="0" anchor="t">
            <a:spAutoFit/>
          </a:bodyPr>
          <a:lstStyle/>
          <a:p>
            <a:pPr algn="l" indent="0" marL="0">
              <a:buNone/>
            </a:pPr>
            <a:r>
              <a:rPr lang="en-US" sz="650" b="1" spc="1" kern="0" dirty="0">
                <a:solidFill>
                  <a:srgbClr val="0B8F5A"/>
                </a:solidFill>
                <a:latin typeface="Inter ExtraBold" pitchFamily="34" charset="0"/>
                <a:ea typeface="Inter ExtraBold" pitchFamily="34" charset="-122"/>
                <a:cs typeface="Inter ExtraBold" pitchFamily="34" charset="-120"/>
              </a:rPr>
              <a:t>APPLICATION LAYER</a:t>
            </a:r>
            <a:endParaRPr lang="en-US" sz="650" dirty="0"/>
          </a:p>
        </p:txBody>
      </p:sp>
      <p:sp>
        <p:nvSpPr>
          <p:cNvPr id="22" name="Text 19"/>
          <p:cNvSpPr/>
          <p:nvPr/>
        </p:nvSpPr>
        <p:spPr>
          <a:xfrm>
            <a:off x="3794754" y="1625538"/>
            <a:ext cx="1554463" cy="116086"/>
          </a:xfrm>
          <a:prstGeom prst="rect">
            <a:avLst/>
          </a:prstGeom>
          <a:noFill/>
          <a:ln/>
        </p:spPr>
        <p:txBody>
          <a:bodyPr wrap="square" lIns="0" tIns="0" rIns="0" bIns="0" rtlCol="0" anchor="t">
            <a:spAutoFit/>
          </a:bodyPr>
          <a:lstStyle/>
          <a:p>
            <a:pPr algn="l" indent="0" marL="0">
              <a:buNone/>
            </a:pPr>
            <a:r>
              <a:rPr lang="en-US" sz="700" b="1" dirty="0">
                <a:solidFill>
                  <a:srgbClr val="102033"/>
                </a:solidFill>
                <a:latin typeface="Inter Bold" pitchFamily="34" charset="0"/>
                <a:ea typeface="Inter Bold" pitchFamily="34" charset="-122"/>
                <a:cs typeface="Inter Bold" pitchFamily="34" charset="-120"/>
              </a:rPr>
              <a:t>Claude.ai</a:t>
            </a:r>
            <a:endParaRPr lang="en-US" sz="700" dirty="0"/>
          </a:p>
        </p:txBody>
      </p:sp>
      <p:sp>
        <p:nvSpPr>
          <p:cNvPr id="23" name="Text 20"/>
          <p:cNvSpPr/>
          <p:nvPr/>
        </p:nvSpPr>
        <p:spPr>
          <a:xfrm>
            <a:off x="3794754" y="1770199"/>
            <a:ext cx="1554463" cy="117035"/>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个人与团队聊天助手。</a:t>
            </a:r>
            <a:endParaRPr lang="en-US" sz="650" dirty="0"/>
          </a:p>
        </p:txBody>
      </p:sp>
      <p:sp>
        <p:nvSpPr>
          <p:cNvPr id="24" name="Text 21"/>
          <p:cNvSpPr/>
          <p:nvPr/>
        </p:nvSpPr>
        <p:spPr>
          <a:xfrm>
            <a:off x="3794754" y="2125600"/>
            <a:ext cx="1554463" cy="116086"/>
          </a:xfrm>
          <a:prstGeom prst="rect">
            <a:avLst/>
          </a:prstGeom>
          <a:noFill/>
          <a:ln/>
        </p:spPr>
        <p:txBody>
          <a:bodyPr wrap="square" lIns="0" tIns="0" rIns="0" bIns="0" rtlCol="0" anchor="t">
            <a:spAutoFit/>
          </a:bodyPr>
          <a:lstStyle/>
          <a:p>
            <a:pPr algn="l" indent="0" marL="0">
              <a:buNone/>
            </a:pPr>
            <a:r>
              <a:rPr lang="en-US" sz="700" b="1" dirty="0">
                <a:solidFill>
                  <a:srgbClr val="102033"/>
                </a:solidFill>
                <a:latin typeface="Inter Bold" pitchFamily="34" charset="0"/>
                <a:ea typeface="Inter Bold" pitchFamily="34" charset="-122"/>
                <a:cs typeface="Inter Bold" pitchFamily="34" charset="-120"/>
              </a:rPr>
              <a:t>Enterprise</a:t>
            </a:r>
            <a:endParaRPr lang="en-US" sz="700" dirty="0"/>
          </a:p>
        </p:txBody>
      </p:sp>
      <p:sp>
        <p:nvSpPr>
          <p:cNvPr id="25" name="Text 22"/>
          <p:cNvSpPr/>
          <p:nvPr/>
        </p:nvSpPr>
        <p:spPr>
          <a:xfrm>
            <a:off x="3794754" y="2270261"/>
            <a:ext cx="1554463" cy="117035"/>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员工 AI 工作台。</a:t>
            </a:r>
            <a:endParaRPr lang="en-US" sz="650" dirty="0"/>
          </a:p>
        </p:txBody>
      </p:sp>
      <p:sp>
        <p:nvSpPr>
          <p:cNvPr id="26" name="Text 23"/>
          <p:cNvSpPr/>
          <p:nvPr/>
        </p:nvSpPr>
        <p:spPr>
          <a:xfrm>
            <a:off x="3794754" y="2625663"/>
            <a:ext cx="1554463" cy="116086"/>
          </a:xfrm>
          <a:prstGeom prst="rect">
            <a:avLst/>
          </a:prstGeom>
          <a:noFill/>
          <a:ln/>
        </p:spPr>
        <p:txBody>
          <a:bodyPr wrap="square" lIns="0" tIns="0" rIns="0" bIns="0" rtlCol="0" anchor="t">
            <a:spAutoFit/>
          </a:bodyPr>
          <a:lstStyle/>
          <a:p>
            <a:pPr algn="l" indent="0" marL="0">
              <a:buNone/>
            </a:pPr>
            <a:r>
              <a:rPr lang="en-US" sz="700" b="1" dirty="0">
                <a:solidFill>
                  <a:srgbClr val="102033"/>
                </a:solidFill>
                <a:latin typeface="Inter Bold" pitchFamily="34" charset="0"/>
                <a:ea typeface="Inter Bold" pitchFamily="34" charset="-122"/>
                <a:cs typeface="Inter Bold" pitchFamily="34" charset="-120"/>
              </a:rPr>
              <a:t>Code / Cowork</a:t>
            </a:r>
            <a:endParaRPr lang="en-US" sz="700" dirty="0"/>
          </a:p>
        </p:txBody>
      </p:sp>
      <p:sp>
        <p:nvSpPr>
          <p:cNvPr id="27" name="Text 24"/>
          <p:cNvSpPr/>
          <p:nvPr/>
        </p:nvSpPr>
        <p:spPr>
          <a:xfrm>
            <a:off x="3794754" y="2770324"/>
            <a:ext cx="1554463" cy="117035"/>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工程与流程自动化。</a:t>
            </a:r>
            <a:endParaRPr lang="en-US" sz="650" dirty="0"/>
          </a:p>
        </p:txBody>
      </p:sp>
      <p:sp>
        <p:nvSpPr>
          <p:cNvPr id="28" name="Text 25"/>
          <p:cNvSpPr/>
          <p:nvPr/>
        </p:nvSpPr>
        <p:spPr>
          <a:xfrm>
            <a:off x="5477805" y="1368363"/>
            <a:ext cx="1554491" cy="107156"/>
          </a:xfrm>
          <a:prstGeom prst="rect">
            <a:avLst/>
          </a:prstGeom>
          <a:noFill/>
          <a:ln/>
        </p:spPr>
        <p:txBody>
          <a:bodyPr wrap="square" lIns="0" tIns="0" rIns="0" bIns="0" rtlCol="0" anchor="t">
            <a:spAutoFit/>
          </a:bodyPr>
          <a:lstStyle/>
          <a:p>
            <a:pPr algn="l" indent="0" marL="0">
              <a:buNone/>
            </a:pPr>
            <a:r>
              <a:rPr lang="en-US" sz="650" b="1" spc="1" kern="0" dirty="0">
                <a:solidFill>
                  <a:srgbClr val="0B8F5A"/>
                </a:solidFill>
                <a:latin typeface="Inter ExtraBold" pitchFamily="34" charset="0"/>
                <a:ea typeface="Inter ExtraBold" pitchFamily="34" charset="-122"/>
                <a:cs typeface="Inter ExtraBold" pitchFamily="34" charset="-120"/>
              </a:rPr>
              <a:t>PLATFORM LAYER</a:t>
            </a:r>
            <a:endParaRPr lang="en-US" sz="650" dirty="0"/>
          </a:p>
        </p:txBody>
      </p:sp>
      <p:sp>
        <p:nvSpPr>
          <p:cNvPr id="29" name="Text 26"/>
          <p:cNvSpPr/>
          <p:nvPr/>
        </p:nvSpPr>
        <p:spPr>
          <a:xfrm>
            <a:off x="5477805" y="1625538"/>
            <a:ext cx="1554491" cy="116086"/>
          </a:xfrm>
          <a:prstGeom prst="rect">
            <a:avLst/>
          </a:prstGeom>
          <a:noFill/>
          <a:ln/>
        </p:spPr>
        <p:txBody>
          <a:bodyPr wrap="square" lIns="0" tIns="0" rIns="0" bIns="0" rtlCol="0" anchor="t">
            <a:spAutoFit/>
          </a:bodyPr>
          <a:lstStyle/>
          <a:p>
            <a:pPr algn="l" indent="0" marL="0">
              <a:buNone/>
            </a:pPr>
            <a:r>
              <a:rPr lang="en-US" sz="700" b="1" dirty="0">
                <a:solidFill>
                  <a:srgbClr val="102033"/>
                </a:solidFill>
                <a:latin typeface="Inter Bold" pitchFamily="34" charset="0"/>
                <a:ea typeface="Inter Bold" pitchFamily="34" charset="-122"/>
                <a:cs typeface="Inter Bold" pitchFamily="34" charset="-120"/>
              </a:rPr>
              <a:t>Messages / Batches</a:t>
            </a:r>
            <a:endParaRPr lang="en-US" sz="700" dirty="0"/>
          </a:p>
        </p:txBody>
      </p:sp>
      <p:sp>
        <p:nvSpPr>
          <p:cNvPr id="30" name="Text 27"/>
          <p:cNvSpPr/>
          <p:nvPr/>
        </p:nvSpPr>
        <p:spPr>
          <a:xfrm>
            <a:off x="5477805" y="1770199"/>
            <a:ext cx="1554491" cy="117035"/>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实时与异步调用。</a:t>
            </a:r>
            <a:endParaRPr lang="en-US" sz="650" dirty="0"/>
          </a:p>
        </p:txBody>
      </p:sp>
      <p:sp>
        <p:nvSpPr>
          <p:cNvPr id="31" name="Text 28"/>
          <p:cNvSpPr/>
          <p:nvPr/>
        </p:nvSpPr>
        <p:spPr>
          <a:xfrm>
            <a:off x="5477805" y="2125600"/>
            <a:ext cx="1554491" cy="116086"/>
          </a:xfrm>
          <a:prstGeom prst="rect">
            <a:avLst/>
          </a:prstGeom>
          <a:noFill/>
          <a:ln/>
        </p:spPr>
        <p:txBody>
          <a:bodyPr wrap="square" lIns="0" tIns="0" rIns="0" bIns="0" rtlCol="0" anchor="t">
            <a:spAutoFit/>
          </a:bodyPr>
          <a:lstStyle/>
          <a:p>
            <a:pPr algn="l" indent="0" marL="0">
              <a:buNone/>
            </a:pPr>
            <a:r>
              <a:rPr lang="en-US" sz="700" b="1" dirty="0">
                <a:solidFill>
                  <a:srgbClr val="102033"/>
                </a:solidFill>
                <a:latin typeface="Inter Bold" pitchFamily="34" charset="0"/>
                <a:ea typeface="Inter Bold" pitchFamily="34" charset="-122"/>
                <a:cs typeface="Inter Bold" pitchFamily="34" charset="-120"/>
              </a:rPr>
              <a:t>Files / Skills</a:t>
            </a:r>
            <a:endParaRPr lang="en-US" sz="700" dirty="0"/>
          </a:p>
        </p:txBody>
      </p:sp>
      <p:sp>
        <p:nvSpPr>
          <p:cNvPr id="32" name="Text 29"/>
          <p:cNvSpPr/>
          <p:nvPr/>
        </p:nvSpPr>
        <p:spPr>
          <a:xfrm>
            <a:off x="5477805" y="2270261"/>
            <a:ext cx="1554491" cy="117035"/>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上下文与 SOP 封装。</a:t>
            </a:r>
            <a:endParaRPr lang="en-US" sz="650" dirty="0"/>
          </a:p>
        </p:txBody>
      </p:sp>
      <p:sp>
        <p:nvSpPr>
          <p:cNvPr id="33" name="Text 30"/>
          <p:cNvSpPr/>
          <p:nvPr/>
        </p:nvSpPr>
        <p:spPr>
          <a:xfrm>
            <a:off x="5477805" y="2625663"/>
            <a:ext cx="1554491" cy="116086"/>
          </a:xfrm>
          <a:prstGeom prst="rect">
            <a:avLst/>
          </a:prstGeom>
          <a:noFill/>
          <a:ln/>
        </p:spPr>
        <p:txBody>
          <a:bodyPr wrap="square" lIns="0" tIns="0" rIns="0" bIns="0" rtlCol="0" anchor="t">
            <a:spAutoFit/>
          </a:bodyPr>
          <a:lstStyle/>
          <a:p>
            <a:pPr algn="l" indent="0" marL="0">
              <a:buNone/>
            </a:pPr>
            <a:r>
              <a:rPr lang="en-US" sz="700" b="1" dirty="0">
                <a:solidFill>
                  <a:srgbClr val="102033"/>
                </a:solidFill>
                <a:latin typeface="Inter Bold" pitchFamily="34" charset="0"/>
                <a:ea typeface="Inter Bold" pitchFamily="34" charset="-122"/>
                <a:cs typeface="Inter Bold" pitchFamily="34" charset="-120"/>
              </a:rPr>
              <a:t>Agents / Sessions</a:t>
            </a:r>
            <a:endParaRPr lang="en-US" sz="700" dirty="0"/>
          </a:p>
        </p:txBody>
      </p:sp>
      <p:sp>
        <p:nvSpPr>
          <p:cNvPr id="34" name="Text 31"/>
          <p:cNvSpPr/>
          <p:nvPr/>
        </p:nvSpPr>
        <p:spPr>
          <a:xfrm>
            <a:off x="5477805" y="2770324"/>
            <a:ext cx="1554491" cy="117035"/>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托管智能体生命周期。</a:t>
            </a:r>
            <a:endParaRPr lang="en-US" sz="650" dirty="0"/>
          </a:p>
        </p:txBody>
      </p:sp>
      <p:sp>
        <p:nvSpPr>
          <p:cNvPr id="35" name="Text 32"/>
          <p:cNvSpPr/>
          <p:nvPr/>
        </p:nvSpPr>
        <p:spPr>
          <a:xfrm>
            <a:off x="7160884" y="1368363"/>
            <a:ext cx="1554491" cy="107156"/>
          </a:xfrm>
          <a:prstGeom prst="rect">
            <a:avLst/>
          </a:prstGeom>
          <a:noFill/>
          <a:ln/>
        </p:spPr>
        <p:txBody>
          <a:bodyPr wrap="square" lIns="0" tIns="0" rIns="0" bIns="0" rtlCol="0" anchor="t">
            <a:spAutoFit/>
          </a:bodyPr>
          <a:lstStyle/>
          <a:p>
            <a:pPr algn="l" indent="0" marL="0">
              <a:buNone/>
            </a:pPr>
            <a:r>
              <a:rPr lang="en-US" sz="650" b="1" spc="1" kern="0" dirty="0">
                <a:solidFill>
                  <a:srgbClr val="0B8F5A"/>
                </a:solidFill>
                <a:latin typeface="Inter ExtraBold" pitchFamily="34" charset="0"/>
                <a:ea typeface="Inter ExtraBold" pitchFamily="34" charset="-122"/>
                <a:cs typeface="Inter ExtraBold" pitchFamily="34" charset="-120"/>
              </a:rPr>
              <a:t>CLOUD &amp; ECOSYSTEM</a:t>
            </a:r>
            <a:endParaRPr lang="en-US" sz="650" dirty="0"/>
          </a:p>
        </p:txBody>
      </p:sp>
      <p:sp>
        <p:nvSpPr>
          <p:cNvPr id="36" name="Text 33"/>
          <p:cNvSpPr/>
          <p:nvPr/>
        </p:nvSpPr>
        <p:spPr>
          <a:xfrm>
            <a:off x="7160884" y="1625538"/>
            <a:ext cx="1554491" cy="116086"/>
          </a:xfrm>
          <a:prstGeom prst="rect">
            <a:avLst/>
          </a:prstGeom>
          <a:noFill/>
          <a:ln/>
        </p:spPr>
        <p:txBody>
          <a:bodyPr wrap="square" lIns="0" tIns="0" rIns="0" bIns="0" rtlCol="0" anchor="t">
            <a:spAutoFit/>
          </a:bodyPr>
          <a:lstStyle/>
          <a:p>
            <a:pPr algn="l" indent="0" marL="0">
              <a:buNone/>
            </a:pPr>
            <a:r>
              <a:rPr lang="en-US" sz="700" b="1" dirty="0">
                <a:solidFill>
                  <a:srgbClr val="102033"/>
                </a:solidFill>
                <a:latin typeface="Inter Bold" pitchFamily="34" charset="0"/>
                <a:ea typeface="Inter Bold" pitchFamily="34" charset="-122"/>
                <a:cs typeface="Inter Bold" pitchFamily="34" charset="-120"/>
              </a:rPr>
              <a:t>AWS / GCP / Azure</a:t>
            </a:r>
            <a:endParaRPr lang="en-US" sz="700" dirty="0"/>
          </a:p>
        </p:txBody>
      </p:sp>
      <p:sp>
        <p:nvSpPr>
          <p:cNvPr id="37" name="Text 34"/>
          <p:cNvSpPr/>
          <p:nvPr/>
        </p:nvSpPr>
        <p:spPr>
          <a:xfrm>
            <a:off x="7160884" y="1770199"/>
            <a:ext cx="1554491" cy="117035"/>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企业采购、IAM 与云治理。</a:t>
            </a:r>
            <a:endParaRPr lang="en-US" sz="650" dirty="0"/>
          </a:p>
        </p:txBody>
      </p:sp>
      <p:sp>
        <p:nvSpPr>
          <p:cNvPr id="38" name="Text 35"/>
          <p:cNvSpPr/>
          <p:nvPr/>
        </p:nvSpPr>
        <p:spPr>
          <a:xfrm>
            <a:off x="7160884" y="2125600"/>
            <a:ext cx="1554491" cy="116086"/>
          </a:xfrm>
          <a:prstGeom prst="rect">
            <a:avLst/>
          </a:prstGeom>
          <a:noFill/>
          <a:ln/>
        </p:spPr>
        <p:txBody>
          <a:bodyPr wrap="square" lIns="0" tIns="0" rIns="0" bIns="0" rtlCol="0" anchor="t">
            <a:spAutoFit/>
          </a:bodyPr>
          <a:lstStyle/>
          <a:p>
            <a:pPr algn="l" indent="0" marL="0">
              <a:buNone/>
            </a:pPr>
            <a:r>
              <a:rPr lang="en-US" sz="700" b="1" dirty="0">
                <a:solidFill>
                  <a:srgbClr val="102033"/>
                </a:solidFill>
                <a:latin typeface="Inter Bold" pitchFamily="34" charset="0"/>
                <a:ea typeface="Inter Bold" pitchFamily="34" charset="-122"/>
                <a:cs typeface="Inter Bold" pitchFamily="34" charset="-120"/>
              </a:rPr>
              <a:t>MCP Connectors</a:t>
            </a:r>
            <a:endParaRPr lang="en-US" sz="700" dirty="0"/>
          </a:p>
        </p:txBody>
      </p:sp>
      <p:sp>
        <p:nvSpPr>
          <p:cNvPr id="39" name="Text 36"/>
          <p:cNvSpPr/>
          <p:nvPr/>
        </p:nvSpPr>
        <p:spPr>
          <a:xfrm>
            <a:off x="7160884" y="2270261"/>
            <a:ext cx="1554491" cy="117035"/>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连接工具、数据库和 SaaS。</a:t>
            </a:r>
            <a:endParaRPr lang="en-US" sz="650" dirty="0"/>
          </a:p>
        </p:txBody>
      </p:sp>
      <p:sp>
        <p:nvSpPr>
          <p:cNvPr id="40" name="Text 37"/>
          <p:cNvSpPr/>
          <p:nvPr/>
        </p:nvSpPr>
        <p:spPr>
          <a:xfrm>
            <a:off x="7160884" y="2625663"/>
            <a:ext cx="1554491" cy="116086"/>
          </a:xfrm>
          <a:prstGeom prst="rect">
            <a:avLst/>
          </a:prstGeom>
          <a:noFill/>
          <a:ln/>
        </p:spPr>
        <p:txBody>
          <a:bodyPr wrap="square" lIns="0" tIns="0" rIns="0" bIns="0" rtlCol="0" anchor="t">
            <a:spAutoFit/>
          </a:bodyPr>
          <a:lstStyle/>
          <a:p>
            <a:pPr algn="l" indent="0" marL="0">
              <a:buNone/>
            </a:pPr>
            <a:r>
              <a:rPr lang="en-US" sz="700" b="1" dirty="0">
                <a:solidFill>
                  <a:srgbClr val="102033"/>
                </a:solidFill>
                <a:latin typeface="Inter Bold" pitchFamily="34" charset="0"/>
                <a:ea typeface="Inter Bold" pitchFamily="34" charset="-122"/>
                <a:cs typeface="Inter Bold" pitchFamily="34" charset="-120"/>
              </a:rPr>
              <a:t>Plugins</a:t>
            </a:r>
            <a:endParaRPr lang="en-US" sz="700" dirty="0"/>
          </a:p>
        </p:txBody>
      </p:sp>
      <p:sp>
        <p:nvSpPr>
          <p:cNvPr id="41" name="Text 38"/>
          <p:cNvSpPr/>
          <p:nvPr/>
        </p:nvSpPr>
        <p:spPr>
          <a:xfrm>
            <a:off x="7160884" y="2770324"/>
            <a:ext cx="1554491" cy="117035"/>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面向角色和部门分发能力。</a:t>
            </a:r>
            <a:endParaRPr lang="en-US" sz="650" dirty="0"/>
          </a:p>
        </p:txBody>
      </p:sp>
      <p:sp>
        <p:nvSpPr>
          <p:cNvPr id="42" name="Text 39"/>
          <p:cNvSpPr/>
          <p:nvPr/>
        </p:nvSpPr>
        <p:spPr>
          <a:xfrm>
            <a:off x="428625" y="3697225"/>
            <a:ext cx="4014788" cy="131155"/>
          </a:xfrm>
          <a:prstGeom prst="rect">
            <a:avLst/>
          </a:prstGeom>
          <a:noFill/>
          <a:ln/>
        </p:spPr>
        <p:txBody>
          <a:bodyPr wrap="none" lIns="0" tIns="0" rIns="0" bIns="0" rtlCol="0" anchor="t">
            <a:spAutoFit/>
          </a:bodyPr>
          <a:lstStyle/>
          <a:p>
            <a:pPr algn="l" indent="0" marL="0">
              <a:lnSpc>
                <a:spcPct val="108800"/>
              </a:lnSpc>
              <a:buNone/>
            </a:pPr>
            <a:r>
              <a:rPr lang="en-US" sz="650" b="1" dirty="0">
                <a:solidFill>
                  <a:srgbClr val="0B8F5A"/>
                </a:solidFill>
                <a:latin typeface="Inter Bold" pitchFamily="34" charset="0"/>
                <a:ea typeface="Inter Bold" pitchFamily="34" charset="-122"/>
                <a:cs typeface="Inter Bold" pitchFamily="34" charset="-120"/>
              </a:rPr>
              <a:t>员工侧路径</a:t>
            </a:r>
            <a:endParaRPr lang="en-US" sz="650" dirty="0"/>
          </a:p>
        </p:txBody>
      </p:sp>
      <p:sp>
        <p:nvSpPr>
          <p:cNvPr id="43" name="Text 40"/>
          <p:cNvSpPr/>
          <p:nvPr/>
        </p:nvSpPr>
        <p:spPr>
          <a:xfrm>
            <a:off x="428625" y="3867671"/>
            <a:ext cx="3381282" cy="107156"/>
          </a:xfrm>
          <a:prstGeom prst="rect">
            <a:avLst/>
          </a:prstGeom>
          <a:noFill/>
          <a:ln/>
        </p:spPr>
        <p:txBody>
          <a:bodyPr wrap="none" lIns="0" tIns="0" rIns="0" bIns="0" rtlCol="0" anchor="t">
            <a:spAutoFit/>
          </a:bodyPr>
          <a:lstStyle/>
          <a:p>
            <a:pPr algn="l" indent="0" marL="0">
              <a:lnSpc>
                <a:spcPct val="108800"/>
              </a:lnSpc>
              <a:buNone/>
            </a:pPr>
            <a:r>
              <a:rPr lang="en-US" sz="700" dirty="0">
                <a:solidFill>
                  <a:srgbClr val="4B5F73"/>
                </a:solidFill>
                <a:latin typeface="Inter" pitchFamily="34" charset="0"/>
                <a:ea typeface="Inter" pitchFamily="34" charset="-122"/>
                <a:cs typeface="Inter" pitchFamily="34" charset="-120"/>
              </a:rPr>
              <a:t>通过 Claude Enterprise 将 AI 纳入企业身份、权限、审计、连接器和成本控制。</a:t>
            </a:r>
            <a:endParaRPr lang="en-US" sz="700" dirty="0"/>
          </a:p>
        </p:txBody>
      </p:sp>
      <p:sp>
        <p:nvSpPr>
          <p:cNvPr id="44" name="Text 41"/>
          <p:cNvSpPr/>
          <p:nvPr/>
        </p:nvSpPr>
        <p:spPr>
          <a:xfrm>
            <a:off x="4700588" y="3697225"/>
            <a:ext cx="4014788" cy="131155"/>
          </a:xfrm>
          <a:prstGeom prst="rect">
            <a:avLst/>
          </a:prstGeom>
          <a:noFill/>
          <a:ln/>
        </p:spPr>
        <p:txBody>
          <a:bodyPr wrap="none" lIns="0" tIns="0" rIns="0" bIns="0" rtlCol="0" anchor="t">
            <a:spAutoFit/>
          </a:bodyPr>
          <a:lstStyle/>
          <a:p>
            <a:pPr algn="l" indent="0" marL="0">
              <a:lnSpc>
                <a:spcPct val="108800"/>
              </a:lnSpc>
              <a:buNone/>
            </a:pPr>
            <a:r>
              <a:rPr lang="en-US" sz="650" b="1" dirty="0">
                <a:solidFill>
                  <a:srgbClr val="0B8F5A"/>
                </a:solidFill>
                <a:latin typeface="Inter Bold" pitchFamily="34" charset="0"/>
                <a:ea typeface="Inter Bold" pitchFamily="34" charset="-122"/>
                <a:cs typeface="Inter Bold" pitchFamily="34" charset="-120"/>
              </a:rPr>
              <a:t>平台侧路径</a:t>
            </a:r>
            <a:endParaRPr lang="en-US" sz="650" dirty="0"/>
          </a:p>
        </p:txBody>
      </p:sp>
      <p:sp>
        <p:nvSpPr>
          <p:cNvPr id="45" name="Text 42"/>
          <p:cNvSpPr/>
          <p:nvPr/>
        </p:nvSpPr>
        <p:spPr>
          <a:xfrm>
            <a:off x="4700588" y="3867671"/>
            <a:ext cx="3434776" cy="107156"/>
          </a:xfrm>
          <a:prstGeom prst="rect">
            <a:avLst/>
          </a:prstGeom>
          <a:noFill/>
          <a:ln/>
        </p:spPr>
        <p:txBody>
          <a:bodyPr wrap="none" lIns="0" tIns="0" rIns="0" bIns="0" rtlCol="0" anchor="t">
            <a:spAutoFit/>
          </a:bodyPr>
          <a:lstStyle/>
          <a:p>
            <a:pPr algn="l" indent="0" marL="0">
              <a:lnSpc>
                <a:spcPct val="108800"/>
              </a:lnSpc>
              <a:buNone/>
            </a:pPr>
            <a:r>
              <a:rPr lang="en-US" sz="700" dirty="0">
                <a:solidFill>
                  <a:srgbClr val="4B5F73"/>
                </a:solidFill>
                <a:latin typeface="Inter" pitchFamily="34" charset="0"/>
                <a:ea typeface="Inter" pitchFamily="34" charset="-122"/>
                <a:cs typeface="Inter" pitchFamily="34" charset="-120"/>
              </a:rPr>
              <a:t>通过 Claude Platform/API 把模型和智能体嵌入企业自有产品、流程和后台系统。</a:t>
            </a:r>
            <a:endParaRPr lang="en-US" sz="700" dirty="0"/>
          </a:p>
        </p:txBody>
      </p:sp>
      <p:sp>
        <p:nvSpPr>
          <p:cNvPr id="46" name="Text 43"/>
          <p:cNvSpPr/>
          <p:nvPr/>
        </p:nvSpPr>
        <p:spPr>
          <a:xfrm>
            <a:off x="428625" y="4102410"/>
            <a:ext cx="8286750" cy="146447"/>
          </a:xfrm>
          <a:prstGeom prst="rect">
            <a:avLst/>
          </a:prstGeom>
          <a:noFill/>
          <a:ln/>
        </p:spPr>
        <p:txBody>
          <a:bodyPr wrap="square" lIns="0" tIns="51054" rIns="0" bIns="0" rtlCol="0" anchor="t">
            <a:spAutoFit/>
          </a:bodyPr>
          <a:lstStyle/>
          <a:p>
            <a:pPr algn="l" indent="0" marL="0">
              <a:lnSpc>
                <a:spcPct val="100000"/>
              </a:lnSpc>
              <a:buNone/>
            </a:pPr>
            <a:r>
              <a:rPr lang="en-US" sz="550" dirty="0">
                <a:solidFill>
                  <a:srgbClr val="6B7A8A"/>
                </a:solidFill>
                <a:latin typeface="Inter" pitchFamily="34" charset="0"/>
                <a:ea typeface="Inter" pitchFamily="34" charset="-122"/>
                <a:cs typeface="Inter" pitchFamily="34" charset="-120"/>
              </a:rPr>
              <a:t>来源：Claude API Overview；Intro to Claude；Claude Enterprise；Claude Partners pages。</a:t>
            </a:r>
            <a:endParaRPr lang="en-US" sz="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342900"/>
            <a:ext cx="8286750" cy="98227"/>
          </a:xfrm>
          <a:prstGeom prst="rect">
            <a:avLst/>
          </a:prstGeom>
          <a:noFill/>
          <a:ln/>
        </p:spPr>
        <p:txBody>
          <a:bodyPr wrap="square" lIns="0" tIns="0" rIns="0" bIns="0" rtlCol="0" anchor="t">
            <a:spAutoFit/>
          </a:bodyPr>
          <a:lstStyle/>
          <a:p>
            <a:pPr algn="l" indent="0" marL="0">
              <a:buNone/>
            </a:pPr>
            <a:r>
              <a:rPr lang="en-US" sz="600" b="1" spc="2" kern="0" dirty="0">
                <a:solidFill>
                  <a:srgbClr val="0B8F5A"/>
                </a:solidFill>
                <a:latin typeface="Inter ExtraBold" pitchFamily="34" charset="0"/>
                <a:ea typeface="Inter ExtraBold" pitchFamily="34" charset="-122"/>
                <a:cs typeface="Inter ExtraBold" pitchFamily="34" charset="-120"/>
              </a:rPr>
              <a:t>SAFETY METHODS</a:t>
            </a:r>
            <a:endParaRPr lang="en-US" sz="600" dirty="0"/>
          </a:p>
        </p:txBody>
      </p:sp>
      <p:sp>
        <p:nvSpPr>
          <p:cNvPr id="4" name="Text 1"/>
          <p:cNvSpPr/>
          <p:nvPr/>
        </p:nvSpPr>
        <p:spPr>
          <a:xfrm>
            <a:off x="428625" y="512564"/>
            <a:ext cx="8286750" cy="275034"/>
          </a:xfrm>
          <a:prstGeom prst="rect">
            <a:avLst/>
          </a:prstGeom>
          <a:noFill/>
          <a:ln/>
        </p:spPr>
        <p:txBody>
          <a:bodyPr wrap="none" lIns="0" tIns="0" rIns="0" bIns="0" rtlCol="0" anchor="t">
            <a:spAutoFit/>
          </a:bodyPr>
          <a:lstStyle/>
          <a:p>
            <a:pPr algn="l" indent="0" marL="0">
              <a:lnSpc>
                <a:spcPct val="88000"/>
              </a:lnSpc>
              <a:buNone/>
            </a:pPr>
            <a:r>
              <a:rPr lang="en-US" sz="1750" b="1" dirty="0">
                <a:solidFill>
                  <a:srgbClr val="102033"/>
                </a:solidFill>
                <a:latin typeface="Inter Bold" pitchFamily="34" charset="0"/>
                <a:ea typeface="Inter Bold" pitchFamily="34" charset="-122"/>
                <a:cs typeface="Inter Bold" pitchFamily="34" charset="-120"/>
              </a:rPr>
              <a:t>安全方法：Constitutional AI 与 Responsible Scaling</a:t>
            </a:r>
            <a:endParaRPr lang="en-US" sz="1750" dirty="0"/>
          </a:p>
        </p:txBody>
      </p:sp>
      <p:sp>
        <p:nvSpPr>
          <p:cNvPr id="5" name="Text 2"/>
          <p:cNvSpPr/>
          <p:nvPr/>
        </p:nvSpPr>
        <p:spPr>
          <a:xfrm>
            <a:off x="428625" y="859036"/>
            <a:ext cx="7715250" cy="152140"/>
          </a:xfrm>
          <a:prstGeom prst="rect">
            <a:avLst/>
          </a:prstGeom>
          <a:noFill/>
          <a:ln/>
        </p:spPr>
        <p:txBody>
          <a:bodyPr wrap="none" lIns="0" tIns="0" rIns="0" bIns="0" rtlCol="0" anchor="t">
            <a:spAutoFit/>
          </a:bodyPr>
          <a:lstStyle/>
          <a:p>
            <a:pPr algn="l" indent="0" marL="0">
              <a:lnSpc>
                <a:spcPct val="113600"/>
              </a:lnSpc>
              <a:buNone/>
            </a:pPr>
            <a:r>
              <a:rPr lang="en-US" sz="800" dirty="0">
                <a:solidFill>
                  <a:srgbClr val="4B5F73"/>
                </a:solidFill>
                <a:latin typeface="Inter" pitchFamily="34" charset="0"/>
                <a:ea typeface="Inter" pitchFamily="34" charset="-122"/>
                <a:cs typeface="Inter" pitchFamily="34" charset="-120"/>
              </a:rPr>
              <a:t>Anthropic 将安全方法嵌入模型训练、评估、发布和企业部署过程；这也是其差异化品牌和 To B 信任基础。</a:t>
            </a:r>
            <a:endParaRPr lang="en-US" sz="800" dirty="0"/>
          </a:p>
        </p:txBody>
      </p:sp>
      <p:sp>
        <p:nvSpPr>
          <p:cNvPr id="6" name="Text 3"/>
          <p:cNvSpPr/>
          <p:nvPr/>
        </p:nvSpPr>
        <p:spPr>
          <a:xfrm>
            <a:off x="428625" y="1318357"/>
            <a:ext cx="685800" cy="435769"/>
          </a:xfrm>
          <a:prstGeom prst="rect">
            <a:avLst/>
          </a:prstGeom>
          <a:noFill/>
          <a:ln/>
        </p:spPr>
        <p:txBody>
          <a:bodyPr wrap="none" lIns="0" tIns="0" rIns="0" bIns="0" rtlCol="0" anchor="t">
            <a:spAutoFit/>
          </a:bodyPr>
          <a:lstStyle/>
          <a:p>
            <a:pPr algn="l" indent="0" marL="0">
              <a:buNone/>
            </a:pPr>
            <a:r>
              <a:rPr lang="en-US" sz="600" b="1" spc="1" kern="0" dirty="0">
                <a:solidFill>
                  <a:srgbClr val="0B8F5A"/>
                </a:solidFill>
                <a:latin typeface="Inter ExtraBold" pitchFamily="34" charset="0"/>
                <a:ea typeface="Inter ExtraBold" pitchFamily="34" charset="-122"/>
                <a:cs typeface="Inter ExtraBold" pitchFamily="34" charset="-120"/>
              </a:rPr>
              <a:t>PRINCIPLES</a:t>
            </a:r>
            <a:endParaRPr lang="en-US" sz="600" dirty="0"/>
          </a:p>
        </p:txBody>
      </p:sp>
      <p:sp>
        <p:nvSpPr>
          <p:cNvPr id="7" name="Text 4"/>
          <p:cNvSpPr/>
          <p:nvPr/>
        </p:nvSpPr>
        <p:spPr>
          <a:xfrm>
            <a:off x="1228725" y="1318357"/>
            <a:ext cx="4057650" cy="131155"/>
          </a:xfrm>
          <a:prstGeom prst="rect">
            <a:avLst/>
          </a:prstGeom>
          <a:noFill/>
          <a:ln/>
        </p:spPr>
        <p:txBody>
          <a:bodyPr wrap="none" lIns="0" tIns="0" rIns="0" bIns="0" rtlCol="0" anchor="t">
            <a:spAutoFit/>
          </a:bodyPr>
          <a:lstStyle/>
          <a:p>
            <a:pPr algn="l" indent="0" marL="0">
              <a:lnSpc>
                <a:spcPct val="108800"/>
              </a:lnSpc>
              <a:buNone/>
            </a:pPr>
            <a:r>
              <a:rPr lang="en-US" sz="650" b="1" dirty="0">
                <a:solidFill>
                  <a:srgbClr val="102033"/>
                </a:solidFill>
                <a:latin typeface="Inter Bold" pitchFamily="34" charset="0"/>
                <a:ea typeface="Inter Bold" pitchFamily="34" charset="-122"/>
                <a:cs typeface="Inter Bold" pitchFamily="34" charset="-120"/>
              </a:rPr>
              <a:t>Claude Constitution</a:t>
            </a:r>
            <a:endParaRPr lang="en-US" sz="650" dirty="0"/>
          </a:p>
        </p:txBody>
      </p:sp>
      <p:sp>
        <p:nvSpPr>
          <p:cNvPr id="8" name="Text 5"/>
          <p:cNvSpPr/>
          <p:nvPr/>
        </p:nvSpPr>
        <p:spPr>
          <a:xfrm>
            <a:off x="1228725" y="1488802"/>
            <a:ext cx="2893219" cy="107156"/>
          </a:xfrm>
          <a:prstGeom prst="rect">
            <a:avLst/>
          </a:prstGeom>
          <a:noFill/>
          <a:ln/>
        </p:spPr>
        <p:txBody>
          <a:bodyPr wrap="none" lIns="0" tIns="0" rIns="0" bIns="0" rtlCol="0" anchor="t">
            <a:spAutoFit/>
          </a:bodyPr>
          <a:lstStyle/>
          <a:p>
            <a:pPr algn="l" indent="0" marL="0">
              <a:lnSpc>
                <a:spcPct val="108800"/>
              </a:lnSpc>
              <a:buNone/>
            </a:pPr>
            <a:r>
              <a:rPr lang="en-US" sz="700" dirty="0">
                <a:solidFill>
                  <a:srgbClr val="4B5F73"/>
                </a:solidFill>
                <a:latin typeface="Inter" pitchFamily="34" charset="0"/>
                <a:ea typeface="Inter" pitchFamily="34" charset="-122"/>
                <a:cs typeface="Inter" pitchFamily="34" charset="-120"/>
              </a:rPr>
              <a:t>以一组原则指导模型评价和修正回答，而非完全依赖人工偏好标注。</a:t>
            </a:r>
            <a:endParaRPr lang="en-US" sz="700" dirty="0"/>
          </a:p>
        </p:txBody>
      </p:sp>
      <p:sp>
        <p:nvSpPr>
          <p:cNvPr id="9" name="Text 6"/>
          <p:cNvSpPr/>
          <p:nvPr/>
        </p:nvSpPr>
        <p:spPr>
          <a:xfrm>
            <a:off x="428625" y="1832707"/>
            <a:ext cx="685800" cy="435769"/>
          </a:xfrm>
          <a:prstGeom prst="rect">
            <a:avLst/>
          </a:prstGeom>
          <a:noFill/>
          <a:ln/>
        </p:spPr>
        <p:txBody>
          <a:bodyPr wrap="none" lIns="0" tIns="0" rIns="0" bIns="0" rtlCol="0" anchor="t">
            <a:spAutoFit/>
          </a:bodyPr>
          <a:lstStyle/>
          <a:p>
            <a:pPr algn="l" indent="0" marL="0">
              <a:buNone/>
            </a:pPr>
            <a:r>
              <a:rPr lang="en-US" sz="600" b="1" spc="1" kern="0" dirty="0">
                <a:solidFill>
                  <a:srgbClr val="0B8F5A"/>
                </a:solidFill>
                <a:latin typeface="Inter ExtraBold" pitchFamily="34" charset="0"/>
                <a:ea typeface="Inter ExtraBold" pitchFamily="34" charset="-122"/>
                <a:cs typeface="Inter ExtraBold" pitchFamily="34" charset="-120"/>
              </a:rPr>
              <a:t>FEEDBACK</a:t>
            </a:r>
            <a:endParaRPr lang="en-US" sz="600" dirty="0"/>
          </a:p>
        </p:txBody>
      </p:sp>
      <p:sp>
        <p:nvSpPr>
          <p:cNvPr id="10" name="Text 7"/>
          <p:cNvSpPr/>
          <p:nvPr/>
        </p:nvSpPr>
        <p:spPr>
          <a:xfrm>
            <a:off x="1228725" y="1832707"/>
            <a:ext cx="4057650" cy="131155"/>
          </a:xfrm>
          <a:prstGeom prst="rect">
            <a:avLst/>
          </a:prstGeom>
          <a:noFill/>
          <a:ln/>
        </p:spPr>
        <p:txBody>
          <a:bodyPr wrap="none" lIns="0" tIns="0" rIns="0" bIns="0" rtlCol="0" anchor="t">
            <a:spAutoFit/>
          </a:bodyPr>
          <a:lstStyle/>
          <a:p>
            <a:pPr algn="l" indent="0" marL="0">
              <a:lnSpc>
                <a:spcPct val="108800"/>
              </a:lnSpc>
              <a:buNone/>
            </a:pPr>
            <a:r>
              <a:rPr lang="en-US" sz="650" b="1" dirty="0">
                <a:solidFill>
                  <a:srgbClr val="102033"/>
                </a:solidFill>
                <a:latin typeface="Inter Bold" pitchFamily="34" charset="0"/>
                <a:ea typeface="Inter Bold" pitchFamily="34" charset="-122"/>
                <a:cs typeface="Inter Bold" pitchFamily="34" charset="-120"/>
              </a:rPr>
              <a:t>Constitutional AI / RLAIF</a:t>
            </a:r>
            <a:endParaRPr lang="en-US" sz="650" dirty="0"/>
          </a:p>
        </p:txBody>
      </p:sp>
      <p:sp>
        <p:nvSpPr>
          <p:cNvPr id="11" name="Text 8"/>
          <p:cNvSpPr/>
          <p:nvPr/>
        </p:nvSpPr>
        <p:spPr>
          <a:xfrm>
            <a:off x="1228725" y="2003152"/>
            <a:ext cx="3070389" cy="107156"/>
          </a:xfrm>
          <a:prstGeom prst="rect">
            <a:avLst/>
          </a:prstGeom>
          <a:noFill/>
          <a:ln/>
        </p:spPr>
        <p:txBody>
          <a:bodyPr wrap="none" lIns="0" tIns="0" rIns="0" bIns="0" rtlCol="0" anchor="t">
            <a:spAutoFit/>
          </a:bodyPr>
          <a:lstStyle/>
          <a:p>
            <a:pPr algn="l" indent="0" marL="0">
              <a:lnSpc>
                <a:spcPct val="108800"/>
              </a:lnSpc>
              <a:buNone/>
            </a:pPr>
            <a:r>
              <a:rPr lang="en-US" sz="700" dirty="0">
                <a:solidFill>
                  <a:srgbClr val="4B5F73"/>
                </a:solidFill>
                <a:latin typeface="Inter" pitchFamily="34" charset="0"/>
                <a:ea typeface="Inter" pitchFamily="34" charset="-122"/>
                <a:cs typeface="Inter" pitchFamily="34" charset="-120"/>
              </a:rPr>
              <a:t>通过 AI feedback 帮助模型学习更有帮助、更诚实、更无害的回答边界。</a:t>
            </a:r>
            <a:endParaRPr lang="en-US" sz="700" dirty="0"/>
          </a:p>
        </p:txBody>
      </p:sp>
      <p:sp>
        <p:nvSpPr>
          <p:cNvPr id="12" name="Text 9"/>
          <p:cNvSpPr/>
          <p:nvPr/>
        </p:nvSpPr>
        <p:spPr>
          <a:xfrm>
            <a:off x="428625" y="2347057"/>
            <a:ext cx="685800" cy="435769"/>
          </a:xfrm>
          <a:prstGeom prst="rect">
            <a:avLst/>
          </a:prstGeom>
          <a:noFill/>
          <a:ln/>
        </p:spPr>
        <p:txBody>
          <a:bodyPr wrap="none" lIns="0" tIns="0" rIns="0" bIns="0" rtlCol="0" anchor="t">
            <a:spAutoFit/>
          </a:bodyPr>
          <a:lstStyle/>
          <a:p>
            <a:pPr algn="l" indent="0" marL="0">
              <a:buNone/>
            </a:pPr>
            <a:r>
              <a:rPr lang="en-US" sz="600" b="1" spc="1" kern="0" dirty="0">
                <a:solidFill>
                  <a:srgbClr val="0B8F5A"/>
                </a:solidFill>
                <a:latin typeface="Inter ExtraBold" pitchFamily="34" charset="0"/>
                <a:ea typeface="Inter ExtraBold" pitchFamily="34" charset="-122"/>
                <a:cs typeface="Inter ExtraBold" pitchFamily="34" charset="-120"/>
              </a:rPr>
              <a:t>EVAL</a:t>
            </a:r>
            <a:endParaRPr lang="en-US" sz="600" dirty="0"/>
          </a:p>
        </p:txBody>
      </p:sp>
      <p:sp>
        <p:nvSpPr>
          <p:cNvPr id="13" name="Text 10"/>
          <p:cNvSpPr/>
          <p:nvPr/>
        </p:nvSpPr>
        <p:spPr>
          <a:xfrm>
            <a:off x="1228725" y="2347057"/>
            <a:ext cx="4057650" cy="131155"/>
          </a:xfrm>
          <a:prstGeom prst="rect">
            <a:avLst/>
          </a:prstGeom>
          <a:noFill/>
          <a:ln/>
        </p:spPr>
        <p:txBody>
          <a:bodyPr wrap="none" lIns="0" tIns="0" rIns="0" bIns="0" rtlCol="0" anchor="t">
            <a:spAutoFit/>
          </a:bodyPr>
          <a:lstStyle/>
          <a:p>
            <a:pPr algn="l" indent="0" marL="0">
              <a:lnSpc>
                <a:spcPct val="108800"/>
              </a:lnSpc>
              <a:buNone/>
            </a:pPr>
            <a:r>
              <a:rPr lang="en-US" sz="650" b="1" dirty="0">
                <a:solidFill>
                  <a:srgbClr val="102033"/>
                </a:solidFill>
                <a:latin typeface="Inter Bold" pitchFamily="34" charset="0"/>
                <a:ea typeface="Inter Bold" pitchFamily="34" charset="-122"/>
                <a:cs typeface="Inter Bold" pitchFamily="34" charset="-120"/>
              </a:rPr>
              <a:t>评估与红队</a:t>
            </a:r>
            <a:endParaRPr lang="en-US" sz="650" dirty="0"/>
          </a:p>
        </p:txBody>
      </p:sp>
      <p:sp>
        <p:nvSpPr>
          <p:cNvPr id="14" name="Text 11"/>
          <p:cNvSpPr/>
          <p:nvPr/>
        </p:nvSpPr>
        <p:spPr>
          <a:xfrm>
            <a:off x="1228725" y="2517502"/>
            <a:ext cx="2507456" cy="107156"/>
          </a:xfrm>
          <a:prstGeom prst="rect">
            <a:avLst/>
          </a:prstGeom>
          <a:noFill/>
          <a:ln/>
        </p:spPr>
        <p:txBody>
          <a:bodyPr wrap="none" lIns="0" tIns="0" rIns="0" bIns="0" rtlCol="0" anchor="t">
            <a:spAutoFit/>
          </a:bodyPr>
          <a:lstStyle/>
          <a:p>
            <a:pPr algn="l" indent="0" marL="0">
              <a:lnSpc>
                <a:spcPct val="108800"/>
              </a:lnSpc>
              <a:buNone/>
            </a:pPr>
            <a:r>
              <a:rPr lang="en-US" sz="700" dirty="0">
                <a:solidFill>
                  <a:srgbClr val="4B5F73"/>
                </a:solidFill>
                <a:latin typeface="Inter" pitchFamily="34" charset="0"/>
                <a:ea typeface="Inter" pitchFamily="34" charset="-122"/>
                <a:cs typeface="Inter" pitchFamily="34" charset="-120"/>
              </a:rPr>
              <a:t>在能力、滥用风险、安全性和越狱等维度进行测试与迭代。</a:t>
            </a:r>
            <a:endParaRPr lang="en-US" sz="700" dirty="0"/>
          </a:p>
        </p:txBody>
      </p:sp>
      <p:sp>
        <p:nvSpPr>
          <p:cNvPr id="15" name="Text 12"/>
          <p:cNvSpPr/>
          <p:nvPr/>
        </p:nvSpPr>
        <p:spPr>
          <a:xfrm>
            <a:off x="428625" y="2861407"/>
            <a:ext cx="685800" cy="435769"/>
          </a:xfrm>
          <a:prstGeom prst="rect">
            <a:avLst/>
          </a:prstGeom>
          <a:noFill/>
          <a:ln/>
        </p:spPr>
        <p:txBody>
          <a:bodyPr wrap="none" lIns="0" tIns="0" rIns="0" bIns="0" rtlCol="0" anchor="t">
            <a:spAutoFit/>
          </a:bodyPr>
          <a:lstStyle/>
          <a:p>
            <a:pPr algn="l" indent="0" marL="0">
              <a:buNone/>
            </a:pPr>
            <a:r>
              <a:rPr lang="en-US" sz="600" b="1" spc="1" kern="0" dirty="0">
                <a:solidFill>
                  <a:srgbClr val="0B8F5A"/>
                </a:solidFill>
                <a:latin typeface="Inter ExtraBold" pitchFamily="34" charset="0"/>
                <a:ea typeface="Inter ExtraBold" pitchFamily="34" charset="-122"/>
                <a:cs typeface="Inter ExtraBold" pitchFamily="34" charset="-120"/>
              </a:rPr>
              <a:t>SCALE</a:t>
            </a:r>
            <a:endParaRPr lang="en-US" sz="600" dirty="0"/>
          </a:p>
        </p:txBody>
      </p:sp>
      <p:sp>
        <p:nvSpPr>
          <p:cNvPr id="16" name="Text 13"/>
          <p:cNvSpPr/>
          <p:nvPr/>
        </p:nvSpPr>
        <p:spPr>
          <a:xfrm>
            <a:off x="1228725" y="2861407"/>
            <a:ext cx="4057650" cy="131155"/>
          </a:xfrm>
          <a:prstGeom prst="rect">
            <a:avLst/>
          </a:prstGeom>
          <a:noFill/>
          <a:ln/>
        </p:spPr>
        <p:txBody>
          <a:bodyPr wrap="none" lIns="0" tIns="0" rIns="0" bIns="0" rtlCol="0" anchor="t">
            <a:spAutoFit/>
          </a:bodyPr>
          <a:lstStyle/>
          <a:p>
            <a:pPr algn="l" indent="0" marL="0">
              <a:lnSpc>
                <a:spcPct val="108800"/>
              </a:lnSpc>
              <a:buNone/>
            </a:pPr>
            <a:r>
              <a:rPr lang="en-US" sz="650" b="1" dirty="0">
                <a:solidFill>
                  <a:srgbClr val="102033"/>
                </a:solidFill>
                <a:latin typeface="Inter Bold" pitchFamily="34" charset="0"/>
                <a:ea typeface="Inter Bold" pitchFamily="34" charset="-122"/>
                <a:cs typeface="Inter Bold" pitchFamily="34" charset="-120"/>
              </a:rPr>
              <a:t>Responsible Scaling Policy</a:t>
            </a:r>
            <a:endParaRPr lang="en-US" sz="650" dirty="0"/>
          </a:p>
        </p:txBody>
      </p:sp>
      <p:sp>
        <p:nvSpPr>
          <p:cNvPr id="17" name="Text 14"/>
          <p:cNvSpPr/>
          <p:nvPr/>
        </p:nvSpPr>
        <p:spPr>
          <a:xfrm>
            <a:off x="1228725" y="3031852"/>
            <a:ext cx="2893219" cy="107156"/>
          </a:xfrm>
          <a:prstGeom prst="rect">
            <a:avLst/>
          </a:prstGeom>
          <a:noFill/>
          <a:ln/>
        </p:spPr>
        <p:txBody>
          <a:bodyPr wrap="none" lIns="0" tIns="0" rIns="0" bIns="0" rtlCol="0" anchor="t">
            <a:spAutoFit/>
          </a:bodyPr>
          <a:lstStyle/>
          <a:p>
            <a:pPr algn="l" indent="0" marL="0">
              <a:lnSpc>
                <a:spcPct val="108800"/>
              </a:lnSpc>
              <a:buNone/>
            </a:pPr>
            <a:r>
              <a:rPr lang="en-US" sz="700" dirty="0">
                <a:solidFill>
                  <a:srgbClr val="4B5F73"/>
                </a:solidFill>
                <a:latin typeface="Inter" pitchFamily="34" charset="0"/>
                <a:ea typeface="Inter" pitchFamily="34" charset="-122"/>
                <a:cs typeface="Inter" pitchFamily="34" charset="-120"/>
              </a:rPr>
              <a:t>当模型能力接近更高风险等级时，要求相应防护、评估和部署标准。</a:t>
            </a:r>
            <a:endParaRPr lang="en-US" sz="700" dirty="0"/>
          </a:p>
        </p:txBody>
      </p:sp>
      <p:sp>
        <p:nvSpPr>
          <p:cNvPr id="18" name="Text 15"/>
          <p:cNvSpPr/>
          <p:nvPr/>
        </p:nvSpPr>
        <p:spPr>
          <a:xfrm>
            <a:off x="428625" y="3375757"/>
            <a:ext cx="685800" cy="435769"/>
          </a:xfrm>
          <a:prstGeom prst="rect">
            <a:avLst/>
          </a:prstGeom>
          <a:noFill/>
          <a:ln/>
        </p:spPr>
        <p:txBody>
          <a:bodyPr wrap="none" lIns="0" tIns="0" rIns="0" bIns="0" rtlCol="0" anchor="t">
            <a:spAutoFit/>
          </a:bodyPr>
          <a:lstStyle/>
          <a:p>
            <a:pPr algn="l" indent="0" marL="0">
              <a:buNone/>
            </a:pPr>
            <a:r>
              <a:rPr lang="en-US" sz="600" b="1" spc="1" kern="0" dirty="0">
                <a:solidFill>
                  <a:srgbClr val="0B8F5A"/>
                </a:solidFill>
                <a:latin typeface="Inter ExtraBold" pitchFamily="34" charset="0"/>
                <a:ea typeface="Inter ExtraBold" pitchFamily="34" charset="-122"/>
                <a:cs typeface="Inter ExtraBold" pitchFamily="34" charset="-120"/>
              </a:rPr>
              <a:t>DEPLOY</a:t>
            </a:r>
            <a:endParaRPr lang="en-US" sz="600" dirty="0"/>
          </a:p>
        </p:txBody>
      </p:sp>
      <p:sp>
        <p:nvSpPr>
          <p:cNvPr id="19" name="Text 16"/>
          <p:cNvSpPr/>
          <p:nvPr/>
        </p:nvSpPr>
        <p:spPr>
          <a:xfrm>
            <a:off x="1228725" y="3375757"/>
            <a:ext cx="4057650" cy="131155"/>
          </a:xfrm>
          <a:prstGeom prst="rect">
            <a:avLst/>
          </a:prstGeom>
          <a:noFill/>
          <a:ln/>
        </p:spPr>
        <p:txBody>
          <a:bodyPr wrap="none" lIns="0" tIns="0" rIns="0" bIns="0" rtlCol="0" anchor="t">
            <a:spAutoFit/>
          </a:bodyPr>
          <a:lstStyle/>
          <a:p>
            <a:pPr algn="l" indent="0" marL="0">
              <a:lnSpc>
                <a:spcPct val="108800"/>
              </a:lnSpc>
              <a:buNone/>
            </a:pPr>
            <a:r>
              <a:rPr lang="en-US" sz="650" b="1" dirty="0">
                <a:solidFill>
                  <a:srgbClr val="102033"/>
                </a:solidFill>
                <a:latin typeface="Inter Bold" pitchFamily="34" charset="0"/>
                <a:ea typeface="Inter Bold" pitchFamily="34" charset="-122"/>
                <a:cs typeface="Inter Bold" pitchFamily="34" charset="-120"/>
              </a:rPr>
              <a:t>Enterprise Controls</a:t>
            </a:r>
            <a:endParaRPr lang="en-US" sz="650" dirty="0"/>
          </a:p>
        </p:txBody>
      </p:sp>
      <p:sp>
        <p:nvSpPr>
          <p:cNvPr id="20" name="Text 17"/>
          <p:cNvSpPr/>
          <p:nvPr/>
        </p:nvSpPr>
        <p:spPr>
          <a:xfrm>
            <a:off x="1228725" y="3546202"/>
            <a:ext cx="3278981" cy="107156"/>
          </a:xfrm>
          <a:prstGeom prst="rect">
            <a:avLst/>
          </a:prstGeom>
          <a:noFill/>
          <a:ln/>
        </p:spPr>
        <p:txBody>
          <a:bodyPr wrap="none" lIns="0" tIns="0" rIns="0" bIns="0" rtlCol="0" anchor="t">
            <a:spAutoFit/>
          </a:bodyPr>
          <a:lstStyle/>
          <a:p>
            <a:pPr algn="l" indent="0" marL="0">
              <a:lnSpc>
                <a:spcPct val="108800"/>
              </a:lnSpc>
              <a:buNone/>
            </a:pPr>
            <a:r>
              <a:rPr lang="en-US" sz="700" dirty="0">
                <a:solidFill>
                  <a:srgbClr val="4B5F73"/>
                </a:solidFill>
                <a:latin typeface="Inter" pitchFamily="34" charset="0"/>
                <a:ea typeface="Inter" pitchFamily="34" charset="-122"/>
                <a:cs typeface="Inter" pitchFamily="34" charset="-120"/>
              </a:rPr>
              <a:t>企业侧通过数据承诺、保留策略、审计、访问控制和合规支持形成部署护栏。</a:t>
            </a:r>
            <a:endParaRPr lang="en-US" sz="700" dirty="0"/>
          </a:p>
        </p:txBody>
      </p:sp>
      <p:sp>
        <p:nvSpPr>
          <p:cNvPr id="21" name="Text 18"/>
          <p:cNvSpPr/>
          <p:nvPr/>
        </p:nvSpPr>
        <p:spPr>
          <a:xfrm>
            <a:off x="5715000" y="1261207"/>
            <a:ext cx="3000375" cy="226814"/>
          </a:xfrm>
          <a:prstGeom prst="rect">
            <a:avLst/>
          </a:prstGeom>
          <a:noFill/>
          <a:ln/>
        </p:spPr>
        <p:txBody>
          <a:bodyPr wrap="square" lIns="0" tIns="0" rIns="0" bIns="0" rtlCol="0" anchor="t">
            <a:spAutoFit/>
          </a:bodyPr>
          <a:lstStyle/>
          <a:p>
            <a:pPr algn="l" indent="0" marL="0">
              <a:buNone/>
            </a:pPr>
            <a:r>
              <a:rPr lang="en-US" sz="1100" b="1" dirty="0">
                <a:solidFill>
                  <a:srgbClr val="0B8F5A"/>
                </a:solidFill>
                <a:latin typeface="Inter Bold" pitchFamily="34" charset="0"/>
                <a:ea typeface="Inter Bold" pitchFamily="34" charset="-122"/>
                <a:cs typeface="Inter Bold" pitchFamily="34" charset="-120"/>
              </a:rPr>
              <a:t>To B 含义</a:t>
            </a:r>
            <a:endParaRPr lang="en-US" sz="1100" dirty="0"/>
          </a:p>
        </p:txBody>
      </p:sp>
      <p:sp>
        <p:nvSpPr>
          <p:cNvPr id="22" name="Text 19"/>
          <p:cNvSpPr/>
          <p:nvPr/>
        </p:nvSpPr>
        <p:spPr>
          <a:xfrm>
            <a:off x="5715000" y="1652327"/>
            <a:ext cx="3000375" cy="128225"/>
          </a:xfrm>
          <a:prstGeom prst="rect">
            <a:avLst/>
          </a:prstGeom>
          <a:noFill/>
          <a:ln/>
        </p:spPr>
        <p:txBody>
          <a:bodyPr wrap="none" lIns="0" tIns="0" rIns="0" bIns="0" rtlCol="0" anchor="t">
            <a:spAutoFit/>
          </a:bodyPr>
          <a:lstStyle/>
          <a:p>
            <a:pPr algn="l" indent="0" marL="0">
              <a:lnSpc>
                <a:spcPct val="108800"/>
              </a:lnSpc>
              <a:buNone/>
            </a:pPr>
            <a:r>
              <a:rPr lang="en-US" sz="650" b="1" dirty="0">
                <a:solidFill>
                  <a:srgbClr val="102033"/>
                </a:solidFill>
                <a:latin typeface="Inter Bold" pitchFamily="34" charset="0"/>
                <a:ea typeface="Inter Bold" pitchFamily="34" charset="-122"/>
                <a:cs typeface="Inter Bold" pitchFamily="34" charset="-120"/>
              </a:rPr>
              <a:t>合规叙事</a:t>
            </a:r>
            <a:endParaRPr lang="en-US" sz="650" dirty="0"/>
          </a:p>
        </p:txBody>
      </p:sp>
      <p:sp>
        <p:nvSpPr>
          <p:cNvPr id="23" name="Text 20"/>
          <p:cNvSpPr/>
          <p:nvPr/>
        </p:nvSpPr>
        <p:spPr>
          <a:xfrm>
            <a:off x="5715000" y="1819842"/>
            <a:ext cx="2859258" cy="105370"/>
          </a:xfrm>
          <a:prstGeom prst="rect">
            <a:avLst/>
          </a:prstGeom>
          <a:noFill/>
          <a:ln/>
        </p:spPr>
        <p:txBody>
          <a:bodyPr wrap="none" lIns="0" tIns="0" rIns="0" bIns="0" rtlCol="0" anchor="t">
            <a:spAutoFit/>
          </a:bodyPr>
          <a:lstStyle/>
          <a:p>
            <a:pPr algn="l" indent="0" marL="0">
              <a:lnSpc>
                <a:spcPct val="108800"/>
              </a:lnSpc>
              <a:buNone/>
            </a:pPr>
            <a:r>
              <a:rPr lang="en-US" sz="700" dirty="0">
                <a:solidFill>
                  <a:srgbClr val="4B5F73"/>
                </a:solidFill>
                <a:latin typeface="Inter" pitchFamily="34" charset="0"/>
                <a:ea typeface="Inter" pitchFamily="34" charset="-122"/>
                <a:cs typeface="Inter" pitchFamily="34" charset="-120"/>
              </a:rPr>
              <a:t>安全体系为 CISO、法务和治理委员会评估企业 AI 供应商提供材料。</a:t>
            </a:r>
            <a:endParaRPr lang="en-US" sz="700" dirty="0"/>
          </a:p>
        </p:txBody>
      </p:sp>
      <p:sp>
        <p:nvSpPr>
          <p:cNvPr id="24" name="Text 21"/>
          <p:cNvSpPr/>
          <p:nvPr/>
        </p:nvSpPr>
        <p:spPr>
          <a:xfrm>
            <a:off x="5715000" y="2330983"/>
            <a:ext cx="3000375" cy="128225"/>
          </a:xfrm>
          <a:prstGeom prst="rect">
            <a:avLst/>
          </a:prstGeom>
          <a:noFill/>
          <a:ln/>
        </p:spPr>
        <p:txBody>
          <a:bodyPr wrap="none" lIns="0" tIns="0" rIns="0" bIns="0" rtlCol="0" anchor="t">
            <a:spAutoFit/>
          </a:bodyPr>
          <a:lstStyle/>
          <a:p>
            <a:pPr algn="l" indent="0" marL="0">
              <a:lnSpc>
                <a:spcPct val="108800"/>
              </a:lnSpc>
              <a:buNone/>
            </a:pPr>
            <a:r>
              <a:rPr lang="en-US" sz="650" b="1" dirty="0">
                <a:solidFill>
                  <a:srgbClr val="102033"/>
                </a:solidFill>
                <a:latin typeface="Inter Bold" pitchFamily="34" charset="0"/>
                <a:ea typeface="Inter Bold" pitchFamily="34" charset="-122"/>
                <a:cs typeface="Inter Bold" pitchFamily="34" charset="-120"/>
              </a:rPr>
              <a:t>风险分层</a:t>
            </a:r>
            <a:endParaRPr lang="en-US" sz="650" dirty="0"/>
          </a:p>
        </p:txBody>
      </p:sp>
      <p:sp>
        <p:nvSpPr>
          <p:cNvPr id="25" name="Text 22"/>
          <p:cNvSpPr/>
          <p:nvPr/>
        </p:nvSpPr>
        <p:spPr>
          <a:xfrm>
            <a:off x="5715000" y="2498499"/>
            <a:ext cx="2521046" cy="105370"/>
          </a:xfrm>
          <a:prstGeom prst="rect">
            <a:avLst/>
          </a:prstGeom>
          <a:noFill/>
          <a:ln/>
        </p:spPr>
        <p:txBody>
          <a:bodyPr wrap="none" lIns="0" tIns="0" rIns="0" bIns="0" rtlCol="0" anchor="t">
            <a:spAutoFit/>
          </a:bodyPr>
          <a:lstStyle/>
          <a:p>
            <a:pPr algn="l" indent="0" marL="0">
              <a:lnSpc>
                <a:spcPct val="108800"/>
              </a:lnSpc>
              <a:buNone/>
            </a:pPr>
            <a:r>
              <a:rPr lang="en-US" sz="700" dirty="0">
                <a:solidFill>
                  <a:srgbClr val="4B5F73"/>
                </a:solidFill>
                <a:latin typeface="Inter" pitchFamily="34" charset="0"/>
                <a:ea typeface="Inter" pitchFamily="34" charset="-122"/>
                <a:cs typeface="Inter" pitchFamily="34" charset="-120"/>
              </a:rPr>
              <a:t>RSP 使“模型能力增长”与“防护要求提升”之间有公开方法论。</a:t>
            </a:r>
            <a:endParaRPr lang="en-US" sz="700" dirty="0"/>
          </a:p>
        </p:txBody>
      </p:sp>
      <p:sp>
        <p:nvSpPr>
          <p:cNvPr id="26" name="Text 23"/>
          <p:cNvSpPr/>
          <p:nvPr/>
        </p:nvSpPr>
        <p:spPr>
          <a:xfrm>
            <a:off x="5715000" y="3009640"/>
            <a:ext cx="3000375" cy="128225"/>
          </a:xfrm>
          <a:prstGeom prst="rect">
            <a:avLst/>
          </a:prstGeom>
          <a:noFill/>
          <a:ln/>
        </p:spPr>
        <p:txBody>
          <a:bodyPr wrap="none" lIns="0" tIns="0" rIns="0" bIns="0" rtlCol="0" anchor="t">
            <a:spAutoFit/>
          </a:bodyPr>
          <a:lstStyle/>
          <a:p>
            <a:pPr algn="l" indent="0" marL="0">
              <a:lnSpc>
                <a:spcPct val="108800"/>
              </a:lnSpc>
              <a:buNone/>
            </a:pPr>
            <a:r>
              <a:rPr lang="en-US" sz="650" b="1" dirty="0">
                <a:solidFill>
                  <a:srgbClr val="102033"/>
                </a:solidFill>
                <a:latin typeface="Inter Bold" pitchFamily="34" charset="0"/>
                <a:ea typeface="Inter Bold" pitchFamily="34" charset="-122"/>
                <a:cs typeface="Inter Bold" pitchFamily="34" charset="-120"/>
              </a:rPr>
              <a:t>产品信任</a:t>
            </a:r>
            <a:endParaRPr lang="en-US" sz="650" dirty="0"/>
          </a:p>
        </p:txBody>
      </p:sp>
      <p:sp>
        <p:nvSpPr>
          <p:cNvPr id="27" name="Text 24"/>
          <p:cNvSpPr/>
          <p:nvPr/>
        </p:nvSpPr>
        <p:spPr>
          <a:xfrm>
            <a:off x="5715000" y="3177155"/>
            <a:ext cx="2934295" cy="105370"/>
          </a:xfrm>
          <a:prstGeom prst="rect">
            <a:avLst/>
          </a:prstGeom>
          <a:noFill/>
          <a:ln/>
        </p:spPr>
        <p:txBody>
          <a:bodyPr wrap="none" lIns="0" tIns="0" rIns="0" bIns="0" rtlCol="0" anchor="t">
            <a:spAutoFit/>
          </a:bodyPr>
          <a:lstStyle/>
          <a:p>
            <a:pPr algn="l" indent="0" marL="0">
              <a:lnSpc>
                <a:spcPct val="108800"/>
              </a:lnSpc>
              <a:buNone/>
            </a:pPr>
            <a:r>
              <a:rPr lang="en-US" sz="700" dirty="0">
                <a:solidFill>
                  <a:srgbClr val="4B5F73"/>
                </a:solidFill>
                <a:latin typeface="Inter" pitchFamily="34" charset="0"/>
                <a:ea typeface="Inter" pitchFamily="34" charset="-122"/>
                <a:cs typeface="Inter" pitchFamily="34" charset="-120"/>
              </a:rPr>
              <a:t>企业不会只看模型分数，更会看数据使用承诺、审计能力、访问控制和</a:t>
            </a:r>
            <a:endParaRPr lang="en-US" sz="700" dirty="0"/>
          </a:p>
        </p:txBody>
      </p:sp>
      <p:sp>
        <p:nvSpPr>
          <p:cNvPr id="28" name="Text 25"/>
          <p:cNvSpPr/>
          <p:nvPr/>
        </p:nvSpPr>
        <p:spPr>
          <a:xfrm>
            <a:off x="5715000" y="3305380"/>
            <a:ext cx="378619" cy="105370"/>
          </a:xfrm>
          <a:prstGeom prst="rect">
            <a:avLst/>
          </a:prstGeom>
          <a:noFill/>
          <a:ln/>
        </p:spPr>
        <p:txBody>
          <a:bodyPr wrap="none" lIns="0" tIns="0" rIns="0" bIns="0" rtlCol="0" anchor="t">
            <a:spAutoFit/>
          </a:bodyPr>
          <a:lstStyle/>
          <a:p>
            <a:pPr algn="l" indent="0" marL="0">
              <a:lnSpc>
                <a:spcPct val="108800"/>
              </a:lnSpc>
              <a:buNone/>
            </a:pPr>
            <a:r>
              <a:rPr lang="en-US" sz="700" dirty="0">
                <a:solidFill>
                  <a:srgbClr val="4B5F73"/>
                </a:solidFill>
                <a:latin typeface="Inter" pitchFamily="34" charset="0"/>
                <a:ea typeface="Inter" pitchFamily="34" charset="-122"/>
                <a:cs typeface="Inter" pitchFamily="34" charset="-120"/>
              </a:rPr>
              <a:t>云边界。</a:t>
            </a:r>
            <a:endParaRPr lang="en-US" sz="700" dirty="0"/>
          </a:p>
        </p:txBody>
      </p:sp>
      <p:sp>
        <p:nvSpPr>
          <p:cNvPr id="29" name="Text 26"/>
          <p:cNvSpPr/>
          <p:nvPr/>
        </p:nvSpPr>
        <p:spPr>
          <a:xfrm>
            <a:off x="5715000" y="3688296"/>
            <a:ext cx="3000375" cy="128225"/>
          </a:xfrm>
          <a:prstGeom prst="rect">
            <a:avLst/>
          </a:prstGeom>
          <a:noFill/>
          <a:ln/>
        </p:spPr>
        <p:txBody>
          <a:bodyPr wrap="none" lIns="0" tIns="0" rIns="0" bIns="0" rtlCol="0" anchor="t">
            <a:spAutoFit/>
          </a:bodyPr>
          <a:lstStyle/>
          <a:p>
            <a:pPr algn="l" indent="0" marL="0">
              <a:lnSpc>
                <a:spcPct val="108800"/>
              </a:lnSpc>
              <a:buNone/>
            </a:pPr>
            <a:r>
              <a:rPr lang="en-US" sz="650" b="1" dirty="0">
                <a:solidFill>
                  <a:srgbClr val="102033"/>
                </a:solidFill>
                <a:latin typeface="Inter Bold" pitchFamily="34" charset="0"/>
                <a:ea typeface="Inter Bold" pitchFamily="34" charset="-122"/>
                <a:cs typeface="Inter Bold" pitchFamily="34" charset="-120"/>
              </a:rPr>
              <a:t>证据边界</a:t>
            </a:r>
            <a:endParaRPr lang="en-US" sz="650" dirty="0"/>
          </a:p>
        </p:txBody>
      </p:sp>
      <p:sp>
        <p:nvSpPr>
          <p:cNvPr id="30" name="Text 27"/>
          <p:cNvSpPr/>
          <p:nvPr/>
        </p:nvSpPr>
        <p:spPr>
          <a:xfrm>
            <a:off x="5715000" y="3855811"/>
            <a:ext cx="2934295" cy="105370"/>
          </a:xfrm>
          <a:prstGeom prst="rect">
            <a:avLst/>
          </a:prstGeom>
          <a:noFill/>
          <a:ln/>
        </p:spPr>
        <p:txBody>
          <a:bodyPr wrap="none" lIns="0" tIns="0" rIns="0" bIns="0" rtlCol="0" anchor="t">
            <a:spAutoFit/>
          </a:bodyPr>
          <a:lstStyle/>
          <a:p>
            <a:pPr algn="l" indent="0" marL="0">
              <a:lnSpc>
                <a:spcPct val="108800"/>
              </a:lnSpc>
              <a:buNone/>
            </a:pPr>
            <a:r>
              <a:rPr lang="en-US" sz="700" dirty="0">
                <a:solidFill>
                  <a:srgbClr val="4B5F73"/>
                </a:solidFill>
                <a:latin typeface="Inter" pitchFamily="34" charset="0"/>
                <a:ea typeface="Inter" pitchFamily="34" charset="-122"/>
                <a:cs typeface="Inter" pitchFamily="34" charset="-120"/>
              </a:rPr>
              <a:t>公开文件说明方法原则和治理框架，但不披露完整训练细节或内部评估</a:t>
            </a:r>
            <a:endParaRPr lang="en-US" sz="700" dirty="0"/>
          </a:p>
        </p:txBody>
      </p:sp>
      <p:sp>
        <p:nvSpPr>
          <p:cNvPr id="31" name="Text 28"/>
          <p:cNvSpPr/>
          <p:nvPr/>
        </p:nvSpPr>
        <p:spPr>
          <a:xfrm>
            <a:off x="5715000" y="3984036"/>
            <a:ext cx="283964" cy="105370"/>
          </a:xfrm>
          <a:prstGeom prst="rect">
            <a:avLst/>
          </a:prstGeom>
          <a:noFill/>
          <a:ln/>
        </p:spPr>
        <p:txBody>
          <a:bodyPr wrap="none" lIns="0" tIns="0" rIns="0" bIns="0" rtlCol="0" anchor="t">
            <a:spAutoFit/>
          </a:bodyPr>
          <a:lstStyle/>
          <a:p>
            <a:pPr algn="l" indent="0" marL="0">
              <a:lnSpc>
                <a:spcPct val="108800"/>
              </a:lnSpc>
              <a:buNone/>
            </a:pPr>
            <a:r>
              <a:rPr lang="en-US" sz="700" dirty="0">
                <a:solidFill>
                  <a:srgbClr val="4B5F73"/>
                </a:solidFill>
                <a:latin typeface="Inter" pitchFamily="34" charset="0"/>
                <a:ea typeface="Inter" pitchFamily="34" charset="-122"/>
                <a:cs typeface="Inter" pitchFamily="34" charset="-120"/>
              </a:rPr>
              <a:t>数据。</a:t>
            </a:r>
            <a:endParaRPr lang="en-US" sz="700" dirty="0"/>
          </a:p>
        </p:txBody>
      </p:sp>
      <p:sp>
        <p:nvSpPr>
          <p:cNvPr id="32" name="Text 29"/>
          <p:cNvSpPr/>
          <p:nvPr/>
        </p:nvSpPr>
        <p:spPr>
          <a:xfrm>
            <a:off x="428625" y="4338377"/>
            <a:ext cx="8286750" cy="146447"/>
          </a:xfrm>
          <a:prstGeom prst="rect">
            <a:avLst/>
          </a:prstGeom>
          <a:noFill/>
          <a:ln/>
        </p:spPr>
        <p:txBody>
          <a:bodyPr wrap="square" lIns="0" tIns="51054" rIns="0" bIns="0" rtlCol="0" anchor="t">
            <a:spAutoFit/>
          </a:bodyPr>
          <a:lstStyle/>
          <a:p>
            <a:pPr algn="l" indent="0" marL="0">
              <a:lnSpc>
                <a:spcPct val="100000"/>
              </a:lnSpc>
              <a:buNone/>
            </a:pPr>
            <a:r>
              <a:rPr lang="en-US" sz="550" dirty="0">
                <a:solidFill>
                  <a:srgbClr val="6B7A8A"/>
                </a:solidFill>
                <a:latin typeface="Inter" pitchFamily="34" charset="0"/>
                <a:ea typeface="Inter" pitchFamily="34" charset="-122"/>
                <a:cs typeface="Inter" pitchFamily="34" charset="-120"/>
              </a:rPr>
              <a:t>来源：Anthropic Constitutional AI research；Claude Constitution；Responsible Scaling Policy；Claude Trust / Enterprise pages。</a:t>
            </a:r>
            <a:endParaRPr lang="en-US" sz="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314325"/>
            <a:ext cx="8286750" cy="98227"/>
          </a:xfrm>
          <a:prstGeom prst="rect">
            <a:avLst/>
          </a:prstGeom>
          <a:noFill/>
          <a:ln/>
        </p:spPr>
        <p:txBody>
          <a:bodyPr wrap="square" lIns="0" tIns="0" rIns="0" bIns="0" rtlCol="0" anchor="t">
            <a:spAutoFit/>
          </a:bodyPr>
          <a:lstStyle/>
          <a:p>
            <a:pPr algn="l" indent="0" marL="0">
              <a:buNone/>
            </a:pPr>
            <a:r>
              <a:rPr lang="en-US" sz="600" b="1" spc="2" kern="0" dirty="0">
                <a:solidFill>
                  <a:srgbClr val="0B8F5A"/>
                </a:solidFill>
                <a:latin typeface="Inter ExtraBold" pitchFamily="34" charset="0"/>
                <a:ea typeface="Inter ExtraBold" pitchFamily="34" charset="-122"/>
                <a:cs typeface="Inter ExtraBold" pitchFamily="34" charset="-120"/>
              </a:rPr>
              <a:t>PRODUCT MATRIX</a:t>
            </a:r>
            <a:endParaRPr lang="en-US" sz="600" dirty="0"/>
          </a:p>
        </p:txBody>
      </p:sp>
      <p:sp>
        <p:nvSpPr>
          <p:cNvPr id="4" name="Text 1"/>
          <p:cNvSpPr/>
          <p:nvPr/>
        </p:nvSpPr>
        <p:spPr>
          <a:xfrm>
            <a:off x="428625" y="483989"/>
            <a:ext cx="8286750" cy="275034"/>
          </a:xfrm>
          <a:prstGeom prst="rect">
            <a:avLst/>
          </a:prstGeom>
          <a:noFill/>
          <a:ln/>
        </p:spPr>
        <p:txBody>
          <a:bodyPr wrap="none" lIns="0" tIns="0" rIns="0" bIns="0" rtlCol="0" anchor="t">
            <a:spAutoFit/>
          </a:bodyPr>
          <a:lstStyle/>
          <a:p>
            <a:pPr algn="l" indent="0" marL="0">
              <a:lnSpc>
                <a:spcPct val="88000"/>
              </a:lnSpc>
              <a:buNone/>
            </a:pPr>
            <a:r>
              <a:rPr lang="en-US" sz="1750" b="1" dirty="0">
                <a:solidFill>
                  <a:srgbClr val="102033"/>
                </a:solidFill>
                <a:latin typeface="Inter Bold" pitchFamily="34" charset="0"/>
                <a:ea typeface="Inter Bold" pitchFamily="34" charset="-122"/>
                <a:cs typeface="Inter Bold" pitchFamily="34" charset="-120"/>
              </a:rPr>
              <a:t>产品全景：从 Claude 到企业智能体平台</a:t>
            </a:r>
            <a:endParaRPr lang="en-US" sz="1750" dirty="0"/>
          </a:p>
        </p:txBody>
      </p:sp>
      <p:sp>
        <p:nvSpPr>
          <p:cNvPr id="5" name="Text 2"/>
          <p:cNvSpPr/>
          <p:nvPr/>
        </p:nvSpPr>
        <p:spPr>
          <a:xfrm>
            <a:off x="428625" y="830461"/>
            <a:ext cx="7715250" cy="150019"/>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4B5F73"/>
                </a:solidFill>
                <a:latin typeface="Inter" pitchFamily="34" charset="0"/>
                <a:ea typeface="Inter" pitchFamily="34" charset="-122"/>
                <a:cs typeface="Inter" pitchFamily="34" charset="-120"/>
              </a:rPr>
              <a:t>Anthropic 的产品不是一个单点聊天工具，而是由模型、应用、企业工作台、开发者平台、工程工具、连接器和云渠道组成的体系。</a:t>
            </a:r>
            <a:endParaRPr lang="en-US" sz="800" dirty="0"/>
          </a:p>
        </p:txBody>
      </p:sp>
      <p:sp>
        <p:nvSpPr>
          <p:cNvPr id="6" name="Text 3"/>
          <p:cNvSpPr/>
          <p:nvPr/>
        </p:nvSpPr>
        <p:spPr>
          <a:xfrm>
            <a:off x="428625" y="1294805"/>
            <a:ext cx="2638416" cy="187523"/>
          </a:xfrm>
          <a:prstGeom prst="rect">
            <a:avLst/>
          </a:prstGeom>
          <a:noFill/>
          <a:ln/>
        </p:spPr>
        <p:txBody>
          <a:bodyPr wrap="square" lIns="0" tIns="0" rIns="0" bIns="0" rtlCol="0" anchor="t">
            <a:spAutoFit/>
          </a:bodyPr>
          <a:lstStyle/>
          <a:p>
            <a:pPr algn="l" indent="0" marL="0">
              <a:buNone/>
            </a:pPr>
            <a:r>
              <a:rPr lang="en-US" sz="900" b="1" dirty="0">
                <a:solidFill>
                  <a:srgbClr val="1E63FF"/>
                </a:solidFill>
                <a:latin typeface="Inter Bold" pitchFamily="34" charset="0"/>
                <a:ea typeface="Inter Bold" pitchFamily="34" charset="-122"/>
                <a:cs typeface="Inter Bold" pitchFamily="34" charset="-120"/>
              </a:rPr>
              <a:t>1. Claude 用户应用</a:t>
            </a:r>
            <a:endParaRPr lang="en-US" sz="900" dirty="0"/>
          </a:p>
        </p:txBody>
      </p:sp>
      <p:sp>
        <p:nvSpPr>
          <p:cNvPr id="7" name="Text 4"/>
          <p:cNvSpPr/>
          <p:nvPr/>
        </p:nvSpPr>
        <p:spPr>
          <a:xfrm>
            <a:off x="428625" y="1539478"/>
            <a:ext cx="2638416" cy="252654"/>
          </a:xfrm>
          <a:prstGeom prst="rect">
            <a:avLst/>
          </a:prstGeom>
          <a:noFill/>
          <a:ln/>
        </p:spPr>
        <p:txBody>
          <a:bodyPr wrap="square" lIns="0" tIns="0" rIns="0" bIns="0" rtlCol="0" anchor="t">
            <a:spAutoFit/>
          </a:bodyPr>
          <a:lstStyle/>
          <a:p>
            <a:pPr algn="l" indent="0" marL="0">
              <a:lnSpc>
                <a:spcPct val="107200"/>
              </a:lnSpc>
              <a:buNone/>
            </a:pPr>
            <a:r>
              <a:rPr lang="en-US" sz="650" b="1" dirty="0">
                <a:solidFill>
                  <a:srgbClr val="102033"/>
                </a:solidFill>
                <a:latin typeface="Inter Bold" pitchFamily="34" charset="0"/>
                <a:ea typeface="Inter Bold" pitchFamily="34" charset="-122"/>
                <a:cs typeface="Inter Bold" pitchFamily="34" charset="-120"/>
              </a:rPr>
              <a:t>Claude.ai / Desktop / Mobile</a:t>
            </a:r>
            <a:r>
              <a:rPr lang="en-US" sz="700" dirty="0">
                <a:solidFill>
                  <a:srgbClr val="4B5F73"/>
                </a:solidFill>
                <a:latin typeface="Inter" pitchFamily="34" charset="0"/>
                <a:ea typeface="Inter" pitchFamily="34" charset="-122"/>
                <a:cs typeface="Inter" pitchFamily="34" charset="-120"/>
              </a:rPr>
              <a:t>：面向个人与团队的对话、写</a:t>
            </a:r>
            <a:r>
              <a:rPr lang="en-US" sz="700" dirty="0">
                <a:solidFill>
                  <a:srgbClr val="4B5F73"/>
                </a:solidFill>
                <a:latin typeface="Inter" pitchFamily="34" charset="0"/>
                <a:ea typeface="Inter" pitchFamily="34" charset="-122"/>
                <a:cs typeface="Inter" pitchFamily="34" charset="-120"/>
              </a:rPr>
              <a:t>作、分析、文件理解和日常知识工作入口。</a:t>
            </a:r>
            <a:endParaRPr lang="en-US" sz="650" dirty="0"/>
          </a:p>
        </p:txBody>
      </p:sp>
      <p:sp>
        <p:nvSpPr>
          <p:cNvPr id="8" name="Text 5"/>
          <p:cNvSpPr/>
          <p:nvPr/>
        </p:nvSpPr>
        <p:spPr>
          <a:xfrm>
            <a:off x="3252778" y="1294805"/>
            <a:ext cx="2638416" cy="146447"/>
          </a:xfrm>
          <a:prstGeom prst="rect">
            <a:avLst/>
          </a:prstGeom>
          <a:noFill/>
          <a:ln/>
        </p:spPr>
        <p:txBody>
          <a:bodyPr wrap="square" lIns="0" tIns="0" rIns="0" bIns="0" rtlCol="0" anchor="t">
            <a:spAutoFit/>
          </a:bodyPr>
          <a:lstStyle/>
          <a:p>
            <a:pPr algn="l" indent="0" marL="0">
              <a:buNone/>
            </a:pPr>
            <a:r>
              <a:rPr lang="en-US" sz="900" b="1" dirty="0">
                <a:solidFill>
                  <a:srgbClr val="1E63FF"/>
                </a:solidFill>
                <a:latin typeface="Inter Bold" pitchFamily="34" charset="0"/>
                <a:ea typeface="Inter Bold" pitchFamily="34" charset="-122"/>
                <a:cs typeface="Inter Bold" pitchFamily="34" charset="-120"/>
              </a:rPr>
              <a:t>2. Claude Enterprise</a:t>
            </a:r>
            <a:endParaRPr lang="en-US" sz="900" dirty="0"/>
          </a:p>
        </p:txBody>
      </p:sp>
      <p:sp>
        <p:nvSpPr>
          <p:cNvPr id="9" name="Text 6"/>
          <p:cNvSpPr/>
          <p:nvPr/>
        </p:nvSpPr>
        <p:spPr>
          <a:xfrm>
            <a:off x="3252778" y="1498402"/>
            <a:ext cx="2638416" cy="252654"/>
          </a:xfrm>
          <a:prstGeom prst="rect">
            <a:avLst/>
          </a:prstGeom>
          <a:noFill/>
          <a:ln/>
        </p:spPr>
        <p:txBody>
          <a:bodyPr wrap="square" lIns="0" tIns="0" rIns="0" bIns="0" rtlCol="0" anchor="t">
            <a:spAutoFit/>
          </a:bodyPr>
          <a:lstStyle/>
          <a:p>
            <a:pPr algn="l" indent="0" marL="0">
              <a:lnSpc>
                <a:spcPct val="107200"/>
              </a:lnSpc>
              <a:buNone/>
            </a:pPr>
            <a:r>
              <a:rPr lang="en-US" sz="650" b="1" dirty="0">
                <a:solidFill>
                  <a:srgbClr val="102033"/>
                </a:solidFill>
                <a:latin typeface="Inter Bold" pitchFamily="34" charset="0"/>
                <a:ea typeface="Inter Bold" pitchFamily="34" charset="-122"/>
                <a:cs typeface="Inter Bold" pitchFamily="34" charset="-120"/>
              </a:rPr>
              <a:t>企业员工 AI 工作台</a:t>
            </a:r>
            <a:r>
              <a:rPr lang="en-US" sz="700" dirty="0">
                <a:solidFill>
                  <a:srgbClr val="4B5F73"/>
                </a:solidFill>
                <a:latin typeface="Inter" pitchFamily="34" charset="0"/>
                <a:ea typeface="Inter" pitchFamily="34" charset="-122"/>
                <a:cs typeface="Inter" pitchFamily="34" charset="-120"/>
              </a:rPr>
              <a:t>：身份、权限、审计、数据承诺、企业连接</a:t>
            </a:r>
            <a:r>
              <a:rPr lang="en-US" sz="700" dirty="0">
                <a:solidFill>
                  <a:srgbClr val="4B5F73"/>
                </a:solidFill>
                <a:latin typeface="Inter" pitchFamily="34" charset="0"/>
                <a:ea typeface="Inter" pitchFamily="34" charset="-122"/>
                <a:cs typeface="Inter" pitchFamily="34" charset="-120"/>
              </a:rPr>
              <a:t>器和团队管理，面向组织级部署。</a:t>
            </a:r>
            <a:endParaRPr lang="en-US" sz="650" dirty="0"/>
          </a:p>
        </p:txBody>
      </p:sp>
      <p:sp>
        <p:nvSpPr>
          <p:cNvPr id="10" name="Text 7"/>
          <p:cNvSpPr/>
          <p:nvPr/>
        </p:nvSpPr>
        <p:spPr>
          <a:xfrm>
            <a:off x="6076931" y="1294805"/>
            <a:ext cx="2638444" cy="146447"/>
          </a:xfrm>
          <a:prstGeom prst="rect">
            <a:avLst/>
          </a:prstGeom>
          <a:noFill/>
          <a:ln/>
        </p:spPr>
        <p:txBody>
          <a:bodyPr wrap="square" lIns="0" tIns="0" rIns="0" bIns="0" rtlCol="0" anchor="t">
            <a:spAutoFit/>
          </a:bodyPr>
          <a:lstStyle/>
          <a:p>
            <a:pPr algn="l" indent="0" marL="0">
              <a:buNone/>
            </a:pPr>
            <a:r>
              <a:rPr lang="en-US" sz="900" b="1" dirty="0">
                <a:solidFill>
                  <a:srgbClr val="1E63FF"/>
                </a:solidFill>
                <a:latin typeface="Inter Bold" pitchFamily="34" charset="0"/>
                <a:ea typeface="Inter Bold" pitchFamily="34" charset="-122"/>
                <a:cs typeface="Inter Bold" pitchFamily="34" charset="-120"/>
              </a:rPr>
              <a:t>3. Claude Platform</a:t>
            </a:r>
            <a:endParaRPr lang="en-US" sz="900" dirty="0"/>
          </a:p>
        </p:txBody>
      </p:sp>
      <p:sp>
        <p:nvSpPr>
          <p:cNvPr id="11" name="Text 8"/>
          <p:cNvSpPr/>
          <p:nvPr/>
        </p:nvSpPr>
        <p:spPr>
          <a:xfrm>
            <a:off x="6076931" y="1498402"/>
            <a:ext cx="2638444" cy="252654"/>
          </a:xfrm>
          <a:prstGeom prst="rect">
            <a:avLst/>
          </a:prstGeom>
          <a:noFill/>
          <a:ln/>
        </p:spPr>
        <p:txBody>
          <a:bodyPr wrap="square" lIns="0" tIns="0" rIns="0" bIns="0" rtlCol="0" anchor="t">
            <a:spAutoFit/>
          </a:bodyPr>
          <a:lstStyle/>
          <a:p>
            <a:pPr algn="l" indent="0" marL="0">
              <a:lnSpc>
                <a:spcPct val="107200"/>
              </a:lnSpc>
              <a:buNone/>
            </a:pPr>
            <a:r>
              <a:rPr lang="en-US" sz="650" b="1" dirty="0">
                <a:solidFill>
                  <a:srgbClr val="102033"/>
                </a:solidFill>
                <a:latin typeface="Inter Bold" pitchFamily="34" charset="0"/>
                <a:ea typeface="Inter Bold" pitchFamily="34" charset="-122"/>
                <a:cs typeface="Inter Bold" pitchFamily="34" charset="-120"/>
              </a:rPr>
              <a:t>API / Console</a:t>
            </a:r>
            <a:r>
              <a:rPr lang="en-US" sz="700" dirty="0">
                <a:solidFill>
                  <a:srgbClr val="4B5F73"/>
                </a:solidFill>
                <a:latin typeface="Inter" pitchFamily="34" charset="0"/>
                <a:ea typeface="Inter" pitchFamily="34" charset="-122"/>
                <a:cs typeface="Inter" pitchFamily="34" charset="-120"/>
              </a:rPr>
              <a:t>：Messages、Batches、Files、Prompt 工具、</a:t>
            </a:r>
            <a:r>
              <a:rPr lang="en-US" sz="700" dirty="0">
                <a:solidFill>
                  <a:srgbClr val="4B5F73"/>
                </a:solidFill>
                <a:latin typeface="Inter" pitchFamily="34" charset="0"/>
                <a:ea typeface="Inter" pitchFamily="34" charset="-122"/>
                <a:cs typeface="Inter" pitchFamily="34" charset="-120"/>
              </a:rPr>
              <a:t>模型调用、用量与密钥管理，面向开发者和企业内嵌。</a:t>
            </a:r>
            <a:endParaRPr lang="en-US" sz="650" dirty="0"/>
          </a:p>
        </p:txBody>
      </p:sp>
      <p:sp>
        <p:nvSpPr>
          <p:cNvPr id="12" name="Text 9"/>
          <p:cNvSpPr/>
          <p:nvPr/>
        </p:nvSpPr>
        <p:spPr>
          <a:xfrm>
            <a:off x="428625" y="2323505"/>
            <a:ext cx="2638416" cy="146447"/>
          </a:xfrm>
          <a:prstGeom prst="rect">
            <a:avLst/>
          </a:prstGeom>
          <a:noFill/>
          <a:ln/>
        </p:spPr>
        <p:txBody>
          <a:bodyPr wrap="square" lIns="0" tIns="0" rIns="0" bIns="0" rtlCol="0" anchor="t">
            <a:spAutoFit/>
          </a:bodyPr>
          <a:lstStyle/>
          <a:p>
            <a:pPr algn="l" indent="0" marL="0">
              <a:buNone/>
            </a:pPr>
            <a:r>
              <a:rPr lang="en-US" sz="900" b="1" dirty="0">
                <a:solidFill>
                  <a:srgbClr val="1E63FF"/>
                </a:solidFill>
                <a:latin typeface="Inter Bold" pitchFamily="34" charset="0"/>
                <a:ea typeface="Inter Bold" pitchFamily="34" charset="-122"/>
                <a:cs typeface="Inter Bold" pitchFamily="34" charset="-120"/>
              </a:rPr>
              <a:t>4. Claude Code</a:t>
            </a:r>
            <a:endParaRPr lang="en-US" sz="900" dirty="0"/>
          </a:p>
        </p:txBody>
      </p:sp>
      <p:sp>
        <p:nvSpPr>
          <p:cNvPr id="13" name="Text 10"/>
          <p:cNvSpPr/>
          <p:nvPr/>
        </p:nvSpPr>
        <p:spPr>
          <a:xfrm>
            <a:off x="428625" y="2527102"/>
            <a:ext cx="2638416" cy="252654"/>
          </a:xfrm>
          <a:prstGeom prst="rect">
            <a:avLst/>
          </a:prstGeom>
          <a:noFill/>
          <a:ln/>
        </p:spPr>
        <p:txBody>
          <a:bodyPr wrap="square" lIns="0" tIns="0" rIns="0" bIns="0" rtlCol="0" anchor="t">
            <a:spAutoFit/>
          </a:bodyPr>
          <a:lstStyle/>
          <a:p>
            <a:pPr algn="l" indent="0" marL="0">
              <a:lnSpc>
                <a:spcPct val="107200"/>
              </a:lnSpc>
              <a:buNone/>
            </a:pPr>
            <a:r>
              <a:rPr lang="en-US" sz="650" b="1" dirty="0">
                <a:solidFill>
                  <a:srgbClr val="102033"/>
                </a:solidFill>
                <a:latin typeface="Inter Bold" pitchFamily="34" charset="0"/>
                <a:ea typeface="Inter Bold" pitchFamily="34" charset="-122"/>
                <a:cs typeface="Inter Bold" pitchFamily="34" charset="-120"/>
              </a:rPr>
              <a:t>CLI / IDE / Enterprise</a:t>
            </a:r>
            <a:r>
              <a:rPr lang="en-US" sz="700" dirty="0">
                <a:solidFill>
                  <a:srgbClr val="4B5F73"/>
                </a:solidFill>
                <a:latin typeface="Inter" pitchFamily="34" charset="0"/>
                <a:ea typeface="Inter" pitchFamily="34" charset="-122"/>
                <a:cs typeface="Inter" pitchFamily="34" charset="-120"/>
              </a:rPr>
              <a:t>：工程组织的代码理解、改造、测试、调</a:t>
            </a:r>
            <a:r>
              <a:rPr lang="en-US" sz="700" dirty="0">
                <a:solidFill>
                  <a:srgbClr val="4B5F73"/>
                </a:solidFill>
                <a:latin typeface="Inter" pitchFamily="34" charset="0"/>
                <a:ea typeface="Inter" pitchFamily="34" charset="-122"/>
                <a:cs typeface="Inter" pitchFamily="34" charset="-120"/>
              </a:rPr>
              <a:t>试、安全修复和代码库知识代理。</a:t>
            </a:r>
            <a:endParaRPr lang="en-US" sz="650" dirty="0"/>
          </a:p>
        </p:txBody>
      </p:sp>
      <p:sp>
        <p:nvSpPr>
          <p:cNvPr id="14" name="Text 11"/>
          <p:cNvSpPr/>
          <p:nvPr/>
        </p:nvSpPr>
        <p:spPr>
          <a:xfrm>
            <a:off x="3252778" y="2323505"/>
            <a:ext cx="2638416" cy="146447"/>
          </a:xfrm>
          <a:prstGeom prst="rect">
            <a:avLst/>
          </a:prstGeom>
          <a:noFill/>
          <a:ln/>
        </p:spPr>
        <p:txBody>
          <a:bodyPr wrap="square" lIns="0" tIns="0" rIns="0" bIns="0" rtlCol="0" anchor="t">
            <a:spAutoFit/>
          </a:bodyPr>
          <a:lstStyle/>
          <a:p>
            <a:pPr algn="l" indent="0" marL="0">
              <a:buNone/>
            </a:pPr>
            <a:r>
              <a:rPr lang="en-US" sz="900" b="1" dirty="0">
                <a:solidFill>
                  <a:srgbClr val="1E63FF"/>
                </a:solidFill>
                <a:latin typeface="Inter Bold" pitchFamily="34" charset="0"/>
                <a:ea typeface="Inter Bold" pitchFamily="34" charset="-122"/>
                <a:cs typeface="Inter Bold" pitchFamily="34" charset="-120"/>
              </a:rPr>
              <a:t>5. Claude Cowork</a:t>
            </a:r>
            <a:endParaRPr lang="en-US" sz="900" dirty="0"/>
          </a:p>
        </p:txBody>
      </p:sp>
      <p:sp>
        <p:nvSpPr>
          <p:cNvPr id="15" name="Text 12"/>
          <p:cNvSpPr/>
          <p:nvPr/>
        </p:nvSpPr>
        <p:spPr>
          <a:xfrm>
            <a:off x="3252778" y="2527102"/>
            <a:ext cx="2638416" cy="252654"/>
          </a:xfrm>
          <a:prstGeom prst="rect">
            <a:avLst/>
          </a:prstGeom>
          <a:noFill/>
          <a:ln/>
        </p:spPr>
        <p:txBody>
          <a:bodyPr wrap="square" lIns="0" tIns="0" rIns="0" bIns="0" rtlCol="0" anchor="t">
            <a:spAutoFit/>
          </a:bodyPr>
          <a:lstStyle/>
          <a:p>
            <a:pPr algn="l" indent="0" marL="0">
              <a:lnSpc>
                <a:spcPct val="107200"/>
              </a:lnSpc>
              <a:buNone/>
            </a:pPr>
            <a:r>
              <a:rPr lang="en-US" sz="650" b="1" dirty="0">
                <a:solidFill>
                  <a:srgbClr val="102033"/>
                </a:solidFill>
                <a:latin typeface="Inter Bold" pitchFamily="34" charset="0"/>
                <a:ea typeface="Inter Bold" pitchFamily="34" charset="-122"/>
                <a:cs typeface="Inter Bold" pitchFamily="34" charset="-120"/>
              </a:rPr>
              <a:t>运营流程智能体</a:t>
            </a:r>
            <a:r>
              <a:rPr lang="en-US" sz="700" dirty="0">
                <a:solidFill>
                  <a:srgbClr val="4B5F73"/>
                </a:solidFill>
                <a:latin typeface="Inter" pitchFamily="34" charset="0"/>
                <a:ea typeface="Inter" pitchFamily="34" charset="-122"/>
                <a:cs typeface="Inter" pitchFamily="34" charset="-120"/>
              </a:rPr>
              <a:t>：通过浏览器、桌面、连接器和计划任务执行</a:t>
            </a:r>
            <a:r>
              <a:rPr lang="en-US" sz="700" dirty="0">
                <a:solidFill>
                  <a:srgbClr val="4B5F73"/>
                </a:solidFill>
                <a:latin typeface="Inter" pitchFamily="34" charset="0"/>
                <a:ea typeface="Inter" pitchFamily="34" charset="-122"/>
                <a:cs typeface="Inter" pitchFamily="34" charset="-120"/>
              </a:rPr>
              <a:t>非编码工作流，覆盖研究、运营与后台流程。</a:t>
            </a:r>
            <a:endParaRPr lang="en-US" sz="650" dirty="0"/>
          </a:p>
        </p:txBody>
      </p:sp>
      <p:sp>
        <p:nvSpPr>
          <p:cNvPr id="16" name="Text 13"/>
          <p:cNvSpPr/>
          <p:nvPr/>
        </p:nvSpPr>
        <p:spPr>
          <a:xfrm>
            <a:off x="6076931" y="2323505"/>
            <a:ext cx="2638444" cy="146447"/>
          </a:xfrm>
          <a:prstGeom prst="rect">
            <a:avLst/>
          </a:prstGeom>
          <a:noFill/>
          <a:ln/>
        </p:spPr>
        <p:txBody>
          <a:bodyPr wrap="square" lIns="0" tIns="0" rIns="0" bIns="0" rtlCol="0" anchor="t">
            <a:spAutoFit/>
          </a:bodyPr>
          <a:lstStyle/>
          <a:p>
            <a:pPr algn="l" indent="0" marL="0">
              <a:buNone/>
            </a:pPr>
            <a:r>
              <a:rPr lang="en-US" sz="900" b="1" dirty="0">
                <a:solidFill>
                  <a:srgbClr val="1E63FF"/>
                </a:solidFill>
                <a:latin typeface="Inter Bold" pitchFamily="34" charset="0"/>
                <a:ea typeface="Inter Bold" pitchFamily="34" charset="-122"/>
                <a:cs typeface="Inter Bold" pitchFamily="34" charset="-120"/>
              </a:rPr>
              <a:t>6. Claude Security</a:t>
            </a:r>
            <a:endParaRPr lang="en-US" sz="900" dirty="0"/>
          </a:p>
        </p:txBody>
      </p:sp>
      <p:sp>
        <p:nvSpPr>
          <p:cNvPr id="17" name="Text 14"/>
          <p:cNvSpPr/>
          <p:nvPr/>
        </p:nvSpPr>
        <p:spPr>
          <a:xfrm>
            <a:off x="6076931" y="2527102"/>
            <a:ext cx="2638444" cy="252654"/>
          </a:xfrm>
          <a:prstGeom prst="rect">
            <a:avLst/>
          </a:prstGeom>
          <a:noFill/>
          <a:ln/>
        </p:spPr>
        <p:txBody>
          <a:bodyPr wrap="square" lIns="0" tIns="0" rIns="0" bIns="0" rtlCol="0" anchor="t">
            <a:spAutoFit/>
          </a:bodyPr>
          <a:lstStyle/>
          <a:p>
            <a:pPr algn="l" indent="0" marL="0">
              <a:lnSpc>
                <a:spcPct val="107200"/>
              </a:lnSpc>
              <a:buNone/>
            </a:pPr>
            <a:r>
              <a:rPr lang="en-US" sz="650" b="1" dirty="0">
                <a:solidFill>
                  <a:srgbClr val="102033"/>
                </a:solidFill>
                <a:latin typeface="Inter Bold" pitchFamily="34" charset="0"/>
                <a:ea typeface="Inter Bold" pitchFamily="34" charset="-122"/>
                <a:cs typeface="Inter Bold" pitchFamily="34" charset="-120"/>
              </a:rPr>
              <a:t>安全团队产品</a:t>
            </a:r>
            <a:r>
              <a:rPr lang="en-US" sz="700" dirty="0">
                <a:solidFill>
                  <a:srgbClr val="4B5F73"/>
                </a:solidFill>
                <a:latin typeface="Inter" pitchFamily="34" charset="0"/>
                <a:ea typeface="Inter" pitchFamily="34" charset="-122"/>
                <a:cs typeface="Inter" pitchFamily="34" charset="-120"/>
              </a:rPr>
              <a:t>：面向安全分析、漏洞处置、告警归因、代码安</a:t>
            </a:r>
            <a:r>
              <a:rPr lang="en-US" sz="700" dirty="0">
                <a:solidFill>
                  <a:srgbClr val="4B5F73"/>
                </a:solidFill>
                <a:latin typeface="Inter" pitchFamily="34" charset="0"/>
                <a:ea typeface="Inter" pitchFamily="34" charset="-122"/>
                <a:cs typeface="Inter" pitchFamily="34" charset="-120"/>
              </a:rPr>
              <a:t>全和安全运营的 Claude 能力包装。</a:t>
            </a:r>
            <a:endParaRPr lang="en-US" sz="650" dirty="0"/>
          </a:p>
        </p:txBody>
      </p:sp>
      <p:sp>
        <p:nvSpPr>
          <p:cNvPr id="18" name="Text 15"/>
          <p:cNvSpPr/>
          <p:nvPr/>
        </p:nvSpPr>
        <p:spPr>
          <a:xfrm>
            <a:off x="428625" y="3352205"/>
            <a:ext cx="2638416" cy="187523"/>
          </a:xfrm>
          <a:prstGeom prst="rect">
            <a:avLst/>
          </a:prstGeom>
          <a:noFill/>
          <a:ln/>
        </p:spPr>
        <p:txBody>
          <a:bodyPr wrap="square" lIns="0" tIns="0" rIns="0" bIns="0" rtlCol="0" anchor="t">
            <a:spAutoFit/>
          </a:bodyPr>
          <a:lstStyle/>
          <a:p>
            <a:pPr algn="l" indent="0" marL="0">
              <a:buNone/>
            </a:pPr>
            <a:r>
              <a:rPr lang="en-US" sz="900" b="1" dirty="0">
                <a:solidFill>
                  <a:srgbClr val="1E63FF"/>
                </a:solidFill>
                <a:latin typeface="Inter Bold" pitchFamily="34" charset="0"/>
                <a:ea typeface="Inter Bold" pitchFamily="34" charset="-122"/>
                <a:cs typeface="Inter Bold" pitchFamily="34" charset="-120"/>
              </a:rPr>
              <a:t>7. 模型产品</a:t>
            </a:r>
            <a:endParaRPr lang="en-US" sz="900" dirty="0"/>
          </a:p>
        </p:txBody>
      </p:sp>
      <p:sp>
        <p:nvSpPr>
          <p:cNvPr id="19" name="Text 16"/>
          <p:cNvSpPr/>
          <p:nvPr/>
        </p:nvSpPr>
        <p:spPr>
          <a:xfrm>
            <a:off x="428625" y="3596878"/>
            <a:ext cx="2638416" cy="252654"/>
          </a:xfrm>
          <a:prstGeom prst="rect">
            <a:avLst/>
          </a:prstGeom>
          <a:noFill/>
          <a:ln/>
        </p:spPr>
        <p:txBody>
          <a:bodyPr wrap="square" lIns="0" tIns="0" rIns="0" bIns="0" rtlCol="0" anchor="t">
            <a:spAutoFit/>
          </a:bodyPr>
          <a:lstStyle/>
          <a:p>
            <a:pPr algn="l" indent="0" marL="0">
              <a:lnSpc>
                <a:spcPct val="107200"/>
              </a:lnSpc>
              <a:buNone/>
            </a:pPr>
            <a:r>
              <a:rPr lang="en-US" sz="650" b="1" dirty="0">
                <a:solidFill>
                  <a:srgbClr val="102033"/>
                </a:solidFill>
                <a:latin typeface="Inter Bold" pitchFamily="34" charset="0"/>
                <a:ea typeface="Inter Bold" pitchFamily="34" charset="-122"/>
                <a:cs typeface="Inter Bold" pitchFamily="34" charset="-120"/>
              </a:rPr>
              <a:t>Opus / Sonnet / Haiku</a:t>
            </a:r>
            <a:r>
              <a:rPr lang="en-US" sz="700" dirty="0">
                <a:solidFill>
                  <a:srgbClr val="4B5F73"/>
                </a:solidFill>
                <a:latin typeface="Inter" pitchFamily="34" charset="0"/>
                <a:ea typeface="Inter" pitchFamily="34" charset="-122"/>
                <a:cs typeface="Inter" pitchFamily="34" charset="-120"/>
              </a:rPr>
              <a:t> 等模型族，覆盖复杂推理、企业主力、</a:t>
            </a:r>
            <a:r>
              <a:rPr lang="en-US" sz="700" dirty="0">
                <a:solidFill>
                  <a:srgbClr val="4B5F73"/>
                </a:solidFill>
                <a:latin typeface="Inter" pitchFamily="34" charset="0"/>
                <a:ea typeface="Inter" pitchFamily="34" charset="-122"/>
                <a:cs typeface="Inter" pitchFamily="34" charset="-120"/>
              </a:rPr>
              <a:t>低延迟与成本敏感场景。</a:t>
            </a:r>
            <a:endParaRPr lang="en-US" sz="650" dirty="0"/>
          </a:p>
        </p:txBody>
      </p:sp>
      <p:sp>
        <p:nvSpPr>
          <p:cNvPr id="20" name="Text 17"/>
          <p:cNvSpPr/>
          <p:nvPr/>
        </p:nvSpPr>
        <p:spPr>
          <a:xfrm>
            <a:off x="3252778" y="3352205"/>
            <a:ext cx="2638416" cy="146447"/>
          </a:xfrm>
          <a:prstGeom prst="rect">
            <a:avLst/>
          </a:prstGeom>
          <a:noFill/>
          <a:ln/>
        </p:spPr>
        <p:txBody>
          <a:bodyPr wrap="square" lIns="0" tIns="0" rIns="0" bIns="0" rtlCol="0" anchor="t">
            <a:spAutoFit/>
          </a:bodyPr>
          <a:lstStyle/>
          <a:p>
            <a:pPr algn="l" indent="0" marL="0">
              <a:buNone/>
            </a:pPr>
            <a:r>
              <a:rPr lang="en-US" sz="900" b="1" dirty="0">
                <a:solidFill>
                  <a:srgbClr val="1E63FF"/>
                </a:solidFill>
                <a:latin typeface="Inter Bold" pitchFamily="34" charset="0"/>
                <a:ea typeface="Inter Bold" pitchFamily="34" charset="-122"/>
                <a:cs typeface="Inter Bold" pitchFamily="34" charset="-120"/>
              </a:rPr>
              <a:t>8. Context Ecosystem</a:t>
            </a:r>
            <a:endParaRPr lang="en-US" sz="900" dirty="0"/>
          </a:p>
        </p:txBody>
      </p:sp>
      <p:sp>
        <p:nvSpPr>
          <p:cNvPr id="21" name="Text 18"/>
          <p:cNvSpPr/>
          <p:nvPr/>
        </p:nvSpPr>
        <p:spPr>
          <a:xfrm>
            <a:off x="3252778" y="3555802"/>
            <a:ext cx="2638416" cy="252654"/>
          </a:xfrm>
          <a:prstGeom prst="rect">
            <a:avLst/>
          </a:prstGeom>
          <a:noFill/>
          <a:ln/>
        </p:spPr>
        <p:txBody>
          <a:bodyPr wrap="square" lIns="0" tIns="0" rIns="0" bIns="0" rtlCol="0" anchor="t">
            <a:spAutoFit/>
          </a:bodyPr>
          <a:lstStyle/>
          <a:p>
            <a:pPr algn="l" indent="0" marL="0">
              <a:lnSpc>
                <a:spcPct val="107200"/>
              </a:lnSpc>
              <a:buNone/>
            </a:pPr>
            <a:r>
              <a:rPr lang="en-US" sz="650" b="1" dirty="0">
                <a:solidFill>
                  <a:srgbClr val="102033"/>
                </a:solidFill>
                <a:latin typeface="Inter Bold" pitchFamily="34" charset="0"/>
                <a:ea typeface="Inter Bold" pitchFamily="34" charset="-122"/>
                <a:cs typeface="Inter Bold" pitchFamily="34" charset="-120"/>
              </a:rPr>
              <a:t>Connectors / MCP / Skills / Plugins / Artifacts / Projects</a:t>
            </a:r>
            <a:r>
              <a:rPr lang="en-US" sz="700" dirty="0">
                <a:solidFill>
                  <a:srgbClr val="4B5F73"/>
                </a:solidFill>
                <a:latin typeface="Inter" pitchFamily="34" charset="0"/>
                <a:ea typeface="Inter" pitchFamily="34" charset="-122"/>
                <a:cs typeface="Inter" pitchFamily="34" charset="-120"/>
              </a:rPr>
              <a:t>：</a:t>
            </a:r>
            <a:r>
              <a:rPr lang="en-US" sz="700" dirty="0">
                <a:solidFill>
                  <a:srgbClr val="4B5F73"/>
                </a:solidFill>
                <a:latin typeface="Inter" pitchFamily="34" charset="0"/>
                <a:ea typeface="Inter" pitchFamily="34" charset="-122"/>
                <a:cs typeface="Inter" pitchFamily="34" charset="-120"/>
              </a:rPr>
              <a:t>把工具、数据、SOP 和输出物组织为可复用上下文。</a:t>
            </a:r>
            <a:endParaRPr lang="en-US" sz="650" dirty="0"/>
          </a:p>
        </p:txBody>
      </p:sp>
      <p:sp>
        <p:nvSpPr>
          <p:cNvPr id="22" name="Text 19"/>
          <p:cNvSpPr/>
          <p:nvPr/>
        </p:nvSpPr>
        <p:spPr>
          <a:xfrm>
            <a:off x="6076931" y="3352205"/>
            <a:ext cx="2638444" cy="187523"/>
          </a:xfrm>
          <a:prstGeom prst="rect">
            <a:avLst/>
          </a:prstGeom>
          <a:noFill/>
          <a:ln/>
        </p:spPr>
        <p:txBody>
          <a:bodyPr wrap="square" lIns="0" tIns="0" rIns="0" bIns="0" rtlCol="0" anchor="t">
            <a:spAutoFit/>
          </a:bodyPr>
          <a:lstStyle/>
          <a:p>
            <a:pPr algn="l" indent="0" marL="0">
              <a:buNone/>
            </a:pPr>
            <a:r>
              <a:rPr lang="en-US" sz="900" b="1" dirty="0">
                <a:solidFill>
                  <a:srgbClr val="1E63FF"/>
                </a:solidFill>
                <a:latin typeface="Inter Bold" pitchFamily="34" charset="0"/>
                <a:ea typeface="Inter Bold" pitchFamily="34" charset="-122"/>
                <a:cs typeface="Inter Bold" pitchFamily="34" charset="-120"/>
              </a:rPr>
              <a:t>9. 渠道与套餐</a:t>
            </a:r>
            <a:endParaRPr lang="en-US" sz="900" dirty="0"/>
          </a:p>
        </p:txBody>
      </p:sp>
      <p:sp>
        <p:nvSpPr>
          <p:cNvPr id="23" name="Text 20"/>
          <p:cNvSpPr/>
          <p:nvPr/>
        </p:nvSpPr>
        <p:spPr>
          <a:xfrm>
            <a:off x="6076931" y="3596878"/>
            <a:ext cx="2638444" cy="252654"/>
          </a:xfrm>
          <a:prstGeom prst="rect">
            <a:avLst/>
          </a:prstGeom>
          <a:noFill/>
          <a:ln/>
        </p:spPr>
        <p:txBody>
          <a:bodyPr wrap="square" lIns="0" tIns="0" rIns="0" bIns="0" rtlCol="0" anchor="t">
            <a:spAutoFit/>
          </a:bodyPr>
          <a:lstStyle/>
          <a:p>
            <a:pPr algn="l" indent="0" marL="0">
              <a:lnSpc>
                <a:spcPct val="107200"/>
              </a:lnSpc>
              <a:buNone/>
            </a:pPr>
            <a:r>
              <a:rPr lang="en-US" sz="650" b="1" dirty="0">
                <a:solidFill>
                  <a:srgbClr val="102033"/>
                </a:solidFill>
                <a:latin typeface="Inter Bold" pitchFamily="34" charset="0"/>
                <a:ea typeface="Inter Bold" pitchFamily="34" charset="-122"/>
                <a:cs typeface="Inter Bold" pitchFamily="34" charset="-120"/>
              </a:rPr>
              <a:t>Free / Pro / Max / Team / Enterprise</a:t>
            </a:r>
            <a:r>
              <a:rPr lang="en-US" sz="700" dirty="0">
                <a:solidFill>
                  <a:srgbClr val="4B5F73"/>
                </a:solidFill>
                <a:latin typeface="Inter" pitchFamily="34" charset="0"/>
                <a:ea typeface="Inter" pitchFamily="34" charset="-122"/>
                <a:cs typeface="Inter" pitchFamily="34" charset="-120"/>
              </a:rPr>
              <a:t>；云渠道包括 AWS、</a:t>
            </a:r>
            <a:r>
              <a:rPr lang="en-US" sz="700" dirty="0">
                <a:solidFill>
                  <a:srgbClr val="4B5F73"/>
                </a:solidFill>
                <a:latin typeface="Inter" pitchFamily="34" charset="0"/>
                <a:ea typeface="Inter" pitchFamily="34" charset="-122"/>
                <a:cs typeface="Inter" pitchFamily="34" charset="-120"/>
              </a:rPr>
              <a:t>Google Cloud、Microsoft Foundry 等。</a:t>
            </a:r>
            <a:endParaRPr lang="en-US" sz="650" dirty="0"/>
          </a:p>
        </p:txBody>
      </p:sp>
      <p:sp>
        <p:nvSpPr>
          <p:cNvPr id="24" name="Text 21"/>
          <p:cNvSpPr/>
          <p:nvPr/>
        </p:nvSpPr>
        <p:spPr>
          <a:xfrm>
            <a:off x="428625" y="4288036"/>
            <a:ext cx="8286750" cy="146447"/>
          </a:xfrm>
          <a:prstGeom prst="rect">
            <a:avLst/>
          </a:prstGeom>
          <a:noFill/>
          <a:ln/>
        </p:spPr>
        <p:txBody>
          <a:bodyPr wrap="square" lIns="0" tIns="51054" rIns="0" bIns="0" rtlCol="0" anchor="t">
            <a:spAutoFit/>
          </a:bodyPr>
          <a:lstStyle/>
          <a:p>
            <a:pPr algn="l" indent="0" marL="0">
              <a:lnSpc>
                <a:spcPct val="100000"/>
              </a:lnSpc>
              <a:buNone/>
            </a:pPr>
            <a:r>
              <a:rPr lang="en-US" sz="550" dirty="0">
                <a:solidFill>
                  <a:srgbClr val="6B7A8A"/>
                </a:solidFill>
                <a:latin typeface="Inter" pitchFamily="34" charset="0"/>
                <a:ea typeface="Inter" pitchFamily="34" charset="-122"/>
                <a:cs typeface="Inter" pitchFamily="34" charset="-120"/>
              </a:rPr>
              <a:t>来源：Claude Product Overview；Claude Enterprise；Claude Platform Docs；Claude Code / Cowork / Security / Connectors / Skills / Pricing 官方页面。</a:t>
            </a:r>
            <a:endParaRPr lang="en-US" sz="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328613"/>
            <a:ext cx="8286750" cy="98227"/>
          </a:xfrm>
          <a:prstGeom prst="rect">
            <a:avLst/>
          </a:prstGeom>
          <a:noFill/>
          <a:ln/>
        </p:spPr>
        <p:txBody>
          <a:bodyPr wrap="square" lIns="0" tIns="0" rIns="0" bIns="0" rtlCol="0" anchor="t">
            <a:spAutoFit/>
          </a:bodyPr>
          <a:lstStyle/>
          <a:p>
            <a:pPr algn="l" indent="0" marL="0">
              <a:buNone/>
            </a:pPr>
            <a:r>
              <a:rPr lang="en-US" sz="600" b="1" spc="2" kern="0" dirty="0">
                <a:solidFill>
                  <a:srgbClr val="0B8F5A"/>
                </a:solidFill>
                <a:latin typeface="Inter ExtraBold" pitchFamily="34" charset="0"/>
                <a:ea typeface="Inter ExtraBold" pitchFamily="34" charset="-122"/>
                <a:cs typeface="Inter ExtraBold" pitchFamily="34" charset="-120"/>
              </a:rPr>
              <a:t>PRODUCT TAXONOMY</a:t>
            </a:r>
            <a:endParaRPr lang="en-US" sz="600" dirty="0"/>
          </a:p>
        </p:txBody>
      </p:sp>
      <p:sp>
        <p:nvSpPr>
          <p:cNvPr id="4" name="Text 1"/>
          <p:cNvSpPr/>
          <p:nvPr/>
        </p:nvSpPr>
        <p:spPr>
          <a:xfrm>
            <a:off x="428625" y="498277"/>
            <a:ext cx="8286750" cy="275034"/>
          </a:xfrm>
          <a:prstGeom prst="rect">
            <a:avLst/>
          </a:prstGeom>
          <a:noFill/>
          <a:ln/>
        </p:spPr>
        <p:txBody>
          <a:bodyPr wrap="none" lIns="0" tIns="0" rIns="0" bIns="0" rtlCol="0" anchor="t">
            <a:spAutoFit/>
          </a:bodyPr>
          <a:lstStyle/>
          <a:p>
            <a:pPr algn="l" indent="0" marL="0">
              <a:lnSpc>
                <a:spcPct val="88000"/>
              </a:lnSpc>
              <a:buNone/>
            </a:pPr>
            <a:r>
              <a:rPr lang="en-US" sz="1750" b="1" dirty="0">
                <a:solidFill>
                  <a:srgbClr val="102033"/>
                </a:solidFill>
                <a:latin typeface="Inter Bold" pitchFamily="34" charset="0"/>
                <a:ea typeface="Inter Bold" pitchFamily="34" charset="-122"/>
                <a:cs typeface="Inter Bold" pitchFamily="34" charset="-120"/>
              </a:rPr>
              <a:t>产品不是单点工具，而是五层平台</a:t>
            </a:r>
            <a:endParaRPr lang="en-US" sz="1750" dirty="0"/>
          </a:p>
        </p:txBody>
      </p:sp>
      <p:sp>
        <p:nvSpPr>
          <p:cNvPr id="5" name="Text 2"/>
          <p:cNvSpPr/>
          <p:nvPr/>
        </p:nvSpPr>
        <p:spPr>
          <a:xfrm>
            <a:off x="428625" y="844748"/>
            <a:ext cx="7715250" cy="152140"/>
          </a:xfrm>
          <a:prstGeom prst="rect">
            <a:avLst/>
          </a:prstGeom>
          <a:noFill/>
          <a:ln/>
        </p:spPr>
        <p:txBody>
          <a:bodyPr wrap="none" lIns="0" tIns="0" rIns="0" bIns="0" rtlCol="0" anchor="t">
            <a:spAutoFit/>
          </a:bodyPr>
          <a:lstStyle/>
          <a:p>
            <a:pPr algn="l" indent="0" marL="0">
              <a:lnSpc>
                <a:spcPct val="113600"/>
              </a:lnSpc>
              <a:buNone/>
            </a:pPr>
            <a:r>
              <a:rPr lang="en-US" sz="800" dirty="0">
                <a:solidFill>
                  <a:srgbClr val="4B5F73"/>
                </a:solidFill>
                <a:latin typeface="Inter" pitchFamily="34" charset="0"/>
                <a:ea typeface="Inter" pitchFamily="34" charset="-122"/>
                <a:cs typeface="Inter" pitchFamily="34" charset="-120"/>
              </a:rPr>
              <a:t>Anthropic 的 To B 架构逻辑，是把“模型能力”逐层包装成可采购、可治理、可集成、可复用的企业能力。</a:t>
            </a:r>
            <a:endParaRPr lang="en-US" sz="800" dirty="0"/>
          </a:p>
        </p:txBody>
      </p:sp>
      <p:sp>
        <p:nvSpPr>
          <p:cNvPr id="6" name="Text 3"/>
          <p:cNvSpPr/>
          <p:nvPr/>
        </p:nvSpPr>
        <p:spPr>
          <a:xfrm>
            <a:off x="428625" y="1354075"/>
            <a:ext cx="1500188" cy="221456"/>
          </a:xfrm>
          <a:prstGeom prst="rect">
            <a:avLst/>
          </a:prstGeom>
          <a:noFill/>
          <a:ln/>
        </p:spPr>
        <p:txBody>
          <a:bodyPr wrap="square" lIns="0" tIns="0" rIns="0" bIns="0" rtlCol="0" anchor="t">
            <a:spAutoFit/>
          </a:bodyPr>
          <a:lstStyle/>
          <a:p>
            <a:pPr algn="l" indent="0" marL="0">
              <a:buNone/>
            </a:pPr>
            <a:r>
              <a:rPr lang="en-US" sz="1000" b="1" dirty="0">
                <a:solidFill>
                  <a:srgbClr val="1E63FF"/>
                </a:solidFill>
                <a:latin typeface="Inter Bold" pitchFamily="34" charset="0"/>
                <a:ea typeface="Inter Bold" pitchFamily="34" charset="-122"/>
                <a:cs typeface="Inter Bold" pitchFamily="34" charset="-120"/>
              </a:rPr>
              <a:t>模型层</a:t>
            </a:r>
            <a:endParaRPr lang="en-US" sz="1000" dirty="0"/>
          </a:p>
        </p:txBody>
      </p:sp>
      <p:sp>
        <p:nvSpPr>
          <p:cNvPr id="7" name="Text 4"/>
          <p:cNvSpPr/>
          <p:nvPr/>
        </p:nvSpPr>
        <p:spPr>
          <a:xfrm>
            <a:off x="2114550" y="1354075"/>
            <a:ext cx="6600825" cy="221456"/>
          </a:xfrm>
          <a:prstGeom prst="rect">
            <a:avLst/>
          </a:prstGeom>
          <a:noFill/>
          <a:ln/>
        </p:spPr>
        <p:txBody>
          <a:bodyPr wrap="square" lIns="0" tIns="0" rIns="0" bIns="0" rtlCol="0" anchor="t">
            <a:spAutoFit/>
          </a:bodyPr>
          <a:lstStyle/>
          <a:p>
            <a:pPr algn="l" indent="0" marL="0">
              <a:lnSpc>
                <a:spcPct val="108000"/>
              </a:lnSpc>
              <a:buNone/>
            </a:pPr>
            <a:r>
              <a:rPr lang="en-US" sz="700" dirty="0">
                <a:solidFill>
                  <a:srgbClr val="4B5F73"/>
                </a:solidFill>
                <a:latin typeface="Inter" pitchFamily="34" charset="0"/>
                <a:ea typeface="Inter" pitchFamily="34" charset="-122"/>
                <a:cs typeface="Inter" pitchFamily="34" charset="-120"/>
              </a:rPr>
              <a:t>Claude 模型族提供推理、写作、代码、视觉理解、长上下文和工具调用等基础能力。</a:t>
            </a:r>
            <a:endParaRPr lang="en-US" sz="700" dirty="0"/>
          </a:p>
        </p:txBody>
      </p:sp>
      <p:sp>
        <p:nvSpPr>
          <p:cNvPr id="8" name="Text 5"/>
          <p:cNvSpPr/>
          <p:nvPr/>
        </p:nvSpPr>
        <p:spPr>
          <a:xfrm>
            <a:off x="428625" y="1632682"/>
            <a:ext cx="1500188" cy="221456"/>
          </a:xfrm>
          <a:prstGeom prst="rect">
            <a:avLst/>
          </a:prstGeom>
          <a:noFill/>
          <a:ln/>
        </p:spPr>
        <p:txBody>
          <a:bodyPr wrap="square" lIns="0" tIns="0" rIns="0" bIns="0" rtlCol="0" anchor="t">
            <a:spAutoFit/>
          </a:bodyPr>
          <a:lstStyle/>
          <a:p>
            <a:pPr algn="l" indent="0" marL="0">
              <a:buNone/>
            </a:pPr>
            <a:r>
              <a:rPr lang="en-US" sz="600" b="1" dirty="0">
                <a:solidFill>
                  <a:srgbClr val="0B8F5A"/>
                </a:solidFill>
                <a:latin typeface="Inter Bold" pitchFamily="34" charset="0"/>
                <a:ea typeface="Inter Bold" pitchFamily="34" charset="-122"/>
                <a:cs typeface="Inter Bold" pitchFamily="34" charset="-120"/>
              </a:rPr>
              <a:t>Opus / Sonnet / Haiku / Multimodal / Tool Use</a:t>
            </a:r>
            <a:endParaRPr lang="en-US" sz="600" dirty="0"/>
          </a:p>
        </p:txBody>
      </p:sp>
      <p:sp>
        <p:nvSpPr>
          <p:cNvPr id="9" name="Text 6"/>
          <p:cNvSpPr/>
          <p:nvPr/>
        </p:nvSpPr>
        <p:spPr>
          <a:xfrm>
            <a:off x="428625" y="1939863"/>
            <a:ext cx="1500188" cy="221456"/>
          </a:xfrm>
          <a:prstGeom prst="rect">
            <a:avLst/>
          </a:prstGeom>
          <a:noFill/>
          <a:ln/>
        </p:spPr>
        <p:txBody>
          <a:bodyPr wrap="square" lIns="0" tIns="0" rIns="0" bIns="0" rtlCol="0" anchor="t">
            <a:spAutoFit/>
          </a:bodyPr>
          <a:lstStyle/>
          <a:p>
            <a:pPr algn="l" indent="0" marL="0">
              <a:buNone/>
            </a:pPr>
            <a:r>
              <a:rPr lang="en-US" sz="1000" b="1" dirty="0">
                <a:solidFill>
                  <a:srgbClr val="1E63FF"/>
                </a:solidFill>
                <a:latin typeface="Inter Bold" pitchFamily="34" charset="0"/>
                <a:ea typeface="Inter Bold" pitchFamily="34" charset="-122"/>
                <a:cs typeface="Inter Bold" pitchFamily="34" charset="-120"/>
              </a:rPr>
              <a:t>应用层</a:t>
            </a:r>
            <a:endParaRPr lang="en-US" sz="1000" dirty="0"/>
          </a:p>
        </p:txBody>
      </p:sp>
      <p:sp>
        <p:nvSpPr>
          <p:cNvPr id="10" name="Text 7"/>
          <p:cNvSpPr/>
          <p:nvPr/>
        </p:nvSpPr>
        <p:spPr>
          <a:xfrm>
            <a:off x="2114550" y="1939863"/>
            <a:ext cx="6600825" cy="221456"/>
          </a:xfrm>
          <a:prstGeom prst="rect">
            <a:avLst/>
          </a:prstGeom>
          <a:noFill/>
          <a:ln/>
        </p:spPr>
        <p:txBody>
          <a:bodyPr wrap="square" lIns="0" tIns="0" rIns="0" bIns="0" rtlCol="0" anchor="t">
            <a:spAutoFit/>
          </a:bodyPr>
          <a:lstStyle/>
          <a:p>
            <a:pPr algn="l" indent="0" marL="0">
              <a:lnSpc>
                <a:spcPct val="108000"/>
              </a:lnSpc>
              <a:buNone/>
            </a:pPr>
            <a:r>
              <a:rPr lang="en-US" sz="700" dirty="0">
                <a:solidFill>
                  <a:srgbClr val="4B5F73"/>
                </a:solidFill>
                <a:latin typeface="Inter" pitchFamily="34" charset="0"/>
                <a:ea typeface="Inter" pitchFamily="34" charset="-122"/>
                <a:cs typeface="Inter" pitchFamily="34" charset="-120"/>
              </a:rPr>
              <a:t>将模型能力包装成终端用户可直接使用的助手、工程代理和流程代理。</a:t>
            </a:r>
            <a:endParaRPr lang="en-US" sz="700" dirty="0"/>
          </a:p>
        </p:txBody>
      </p:sp>
      <p:sp>
        <p:nvSpPr>
          <p:cNvPr id="11" name="Text 8"/>
          <p:cNvSpPr/>
          <p:nvPr/>
        </p:nvSpPr>
        <p:spPr>
          <a:xfrm>
            <a:off x="428625" y="2218469"/>
            <a:ext cx="1500188" cy="221456"/>
          </a:xfrm>
          <a:prstGeom prst="rect">
            <a:avLst/>
          </a:prstGeom>
          <a:noFill/>
          <a:ln/>
        </p:spPr>
        <p:txBody>
          <a:bodyPr wrap="square" lIns="0" tIns="0" rIns="0" bIns="0" rtlCol="0" anchor="t">
            <a:spAutoFit/>
          </a:bodyPr>
          <a:lstStyle/>
          <a:p>
            <a:pPr algn="l" indent="0" marL="0">
              <a:buNone/>
            </a:pPr>
            <a:r>
              <a:rPr lang="en-US" sz="600" b="1" dirty="0">
                <a:solidFill>
                  <a:srgbClr val="0B8F5A"/>
                </a:solidFill>
                <a:latin typeface="Inter Bold" pitchFamily="34" charset="0"/>
                <a:ea typeface="Inter Bold" pitchFamily="34" charset="-122"/>
                <a:cs typeface="Inter Bold" pitchFamily="34" charset="-120"/>
              </a:rPr>
              <a:t>Claude.ai / Enterprise / Code / Cowork / Security</a:t>
            </a:r>
            <a:endParaRPr lang="en-US" sz="600" dirty="0"/>
          </a:p>
        </p:txBody>
      </p:sp>
      <p:sp>
        <p:nvSpPr>
          <p:cNvPr id="12" name="Text 9"/>
          <p:cNvSpPr/>
          <p:nvPr/>
        </p:nvSpPr>
        <p:spPr>
          <a:xfrm>
            <a:off x="428625" y="2525650"/>
            <a:ext cx="1500188" cy="221456"/>
          </a:xfrm>
          <a:prstGeom prst="rect">
            <a:avLst/>
          </a:prstGeom>
          <a:noFill/>
          <a:ln/>
        </p:spPr>
        <p:txBody>
          <a:bodyPr wrap="square" lIns="0" tIns="0" rIns="0" bIns="0" rtlCol="0" anchor="t">
            <a:spAutoFit/>
          </a:bodyPr>
          <a:lstStyle/>
          <a:p>
            <a:pPr algn="l" indent="0" marL="0">
              <a:buNone/>
            </a:pPr>
            <a:r>
              <a:rPr lang="en-US" sz="1000" b="1" dirty="0">
                <a:solidFill>
                  <a:srgbClr val="1E63FF"/>
                </a:solidFill>
                <a:latin typeface="Inter Bold" pitchFamily="34" charset="0"/>
                <a:ea typeface="Inter Bold" pitchFamily="34" charset="-122"/>
                <a:cs typeface="Inter Bold" pitchFamily="34" charset="-120"/>
              </a:rPr>
              <a:t>平台层</a:t>
            </a:r>
            <a:endParaRPr lang="en-US" sz="1000" dirty="0"/>
          </a:p>
        </p:txBody>
      </p:sp>
      <p:sp>
        <p:nvSpPr>
          <p:cNvPr id="13" name="Text 10"/>
          <p:cNvSpPr/>
          <p:nvPr/>
        </p:nvSpPr>
        <p:spPr>
          <a:xfrm>
            <a:off x="2114550" y="2525650"/>
            <a:ext cx="6600825" cy="221456"/>
          </a:xfrm>
          <a:prstGeom prst="rect">
            <a:avLst/>
          </a:prstGeom>
          <a:noFill/>
          <a:ln/>
        </p:spPr>
        <p:txBody>
          <a:bodyPr wrap="square" lIns="0" tIns="0" rIns="0" bIns="0" rtlCol="0" anchor="t">
            <a:spAutoFit/>
          </a:bodyPr>
          <a:lstStyle/>
          <a:p>
            <a:pPr algn="l" indent="0" marL="0">
              <a:lnSpc>
                <a:spcPct val="108000"/>
              </a:lnSpc>
              <a:buNone/>
            </a:pPr>
            <a:r>
              <a:rPr lang="en-US" sz="700" dirty="0">
                <a:solidFill>
                  <a:srgbClr val="4B5F73"/>
                </a:solidFill>
                <a:latin typeface="Inter" pitchFamily="34" charset="0"/>
                <a:ea typeface="Inter" pitchFamily="34" charset="-122"/>
                <a:cs typeface="Inter" pitchFamily="34" charset="-120"/>
              </a:rPr>
              <a:t>给企业开发者提供 API、批处理、文件、提示词、智能体运行时和用量治理。</a:t>
            </a:r>
            <a:endParaRPr lang="en-US" sz="700" dirty="0"/>
          </a:p>
        </p:txBody>
      </p:sp>
      <p:sp>
        <p:nvSpPr>
          <p:cNvPr id="14" name="Text 11"/>
          <p:cNvSpPr/>
          <p:nvPr/>
        </p:nvSpPr>
        <p:spPr>
          <a:xfrm>
            <a:off x="428625" y="2804257"/>
            <a:ext cx="1500188" cy="221456"/>
          </a:xfrm>
          <a:prstGeom prst="rect">
            <a:avLst/>
          </a:prstGeom>
          <a:noFill/>
          <a:ln/>
        </p:spPr>
        <p:txBody>
          <a:bodyPr wrap="square" lIns="0" tIns="0" rIns="0" bIns="0" rtlCol="0" anchor="t">
            <a:spAutoFit/>
          </a:bodyPr>
          <a:lstStyle/>
          <a:p>
            <a:pPr algn="l" indent="0" marL="0">
              <a:buNone/>
            </a:pPr>
            <a:r>
              <a:rPr lang="en-US" sz="600" b="1" dirty="0">
                <a:solidFill>
                  <a:srgbClr val="0B8F5A"/>
                </a:solidFill>
                <a:latin typeface="Inter Bold" pitchFamily="34" charset="0"/>
                <a:ea typeface="Inter Bold" pitchFamily="34" charset="-122"/>
                <a:cs typeface="Inter Bold" pitchFamily="34" charset="-120"/>
              </a:rPr>
              <a:t>Messages / Batches / Files / Agents / Console</a:t>
            </a:r>
            <a:endParaRPr lang="en-US" sz="600" dirty="0"/>
          </a:p>
        </p:txBody>
      </p:sp>
      <p:sp>
        <p:nvSpPr>
          <p:cNvPr id="15" name="Text 12"/>
          <p:cNvSpPr/>
          <p:nvPr/>
        </p:nvSpPr>
        <p:spPr>
          <a:xfrm>
            <a:off x="428625" y="3111438"/>
            <a:ext cx="1500188" cy="221456"/>
          </a:xfrm>
          <a:prstGeom prst="rect">
            <a:avLst/>
          </a:prstGeom>
          <a:noFill/>
          <a:ln/>
        </p:spPr>
        <p:txBody>
          <a:bodyPr wrap="square" lIns="0" tIns="0" rIns="0" bIns="0" rtlCol="0" anchor="t">
            <a:spAutoFit/>
          </a:bodyPr>
          <a:lstStyle/>
          <a:p>
            <a:pPr algn="l" indent="0" marL="0">
              <a:buNone/>
            </a:pPr>
            <a:r>
              <a:rPr lang="en-US" sz="1000" b="1" dirty="0">
                <a:solidFill>
                  <a:srgbClr val="1E63FF"/>
                </a:solidFill>
                <a:latin typeface="Inter Bold" pitchFamily="34" charset="0"/>
                <a:ea typeface="Inter Bold" pitchFamily="34" charset="-122"/>
                <a:cs typeface="Inter Bold" pitchFamily="34" charset="-120"/>
              </a:rPr>
              <a:t>治理层</a:t>
            </a:r>
            <a:endParaRPr lang="en-US" sz="1000" dirty="0"/>
          </a:p>
        </p:txBody>
      </p:sp>
      <p:sp>
        <p:nvSpPr>
          <p:cNvPr id="16" name="Text 13"/>
          <p:cNvSpPr/>
          <p:nvPr/>
        </p:nvSpPr>
        <p:spPr>
          <a:xfrm>
            <a:off x="2114550" y="3111438"/>
            <a:ext cx="6600825" cy="221456"/>
          </a:xfrm>
          <a:prstGeom prst="rect">
            <a:avLst/>
          </a:prstGeom>
          <a:noFill/>
          <a:ln/>
        </p:spPr>
        <p:txBody>
          <a:bodyPr wrap="square" lIns="0" tIns="0" rIns="0" bIns="0" rtlCol="0" anchor="t">
            <a:spAutoFit/>
          </a:bodyPr>
          <a:lstStyle/>
          <a:p>
            <a:pPr algn="l" indent="0" marL="0">
              <a:lnSpc>
                <a:spcPct val="108000"/>
              </a:lnSpc>
              <a:buNone/>
            </a:pPr>
            <a:r>
              <a:rPr lang="en-US" sz="700" dirty="0">
                <a:solidFill>
                  <a:srgbClr val="4B5F73"/>
                </a:solidFill>
                <a:latin typeface="Inter" pitchFamily="34" charset="0"/>
                <a:ea typeface="Inter" pitchFamily="34" charset="-122"/>
                <a:cs typeface="Inter" pitchFamily="34" charset="-120"/>
              </a:rPr>
              <a:t>面向企业采购、安全和 IT 的身份、权限、审计、数据承诺、合规和管理后台。</a:t>
            </a:r>
            <a:endParaRPr lang="en-US" sz="700" dirty="0"/>
          </a:p>
        </p:txBody>
      </p:sp>
      <p:sp>
        <p:nvSpPr>
          <p:cNvPr id="17" name="Text 14"/>
          <p:cNvSpPr/>
          <p:nvPr/>
        </p:nvSpPr>
        <p:spPr>
          <a:xfrm>
            <a:off x="428625" y="3390044"/>
            <a:ext cx="1500188" cy="221456"/>
          </a:xfrm>
          <a:prstGeom prst="rect">
            <a:avLst/>
          </a:prstGeom>
          <a:noFill/>
          <a:ln/>
        </p:spPr>
        <p:txBody>
          <a:bodyPr wrap="square" lIns="0" tIns="0" rIns="0" bIns="0" rtlCol="0" anchor="t">
            <a:spAutoFit/>
          </a:bodyPr>
          <a:lstStyle/>
          <a:p>
            <a:pPr algn="l" indent="0" marL="0">
              <a:buNone/>
            </a:pPr>
            <a:r>
              <a:rPr lang="en-US" sz="600" b="1" dirty="0">
                <a:solidFill>
                  <a:srgbClr val="0B8F5A"/>
                </a:solidFill>
                <a:latin typeface="Inter Bold" pitchFamily="34" charset="0"/>
                <a:ea typeface="Inter Bold" pitchFamily="34" charset="-122"/>
                <a:cs typeface="Inter Bold" pitchFamily="34" charset="-120"/>
              </a:rPr>
              <a:t>SSO / SCIM / Audit / Admin / Data Controls</a:t>
            </a:r>
            <a:endParaRPr lang="en-US" sz="600" dirty="0"/>
          </a:p>
        </p:txBody>
      </p:sp>
      <p:sp>
        <p:nvSpPr>
          <p:cNvPr id="18" name="Text 15"/>
          <p:cNvSpPr/>
          <p:nvPr/>
        </p:nvSpPr>
        <p:spPr>
          <a:xfrm>
            <a:off x="428625" y="3697225"/>
            <a:ext cx="1500188" cy="221456"/>
          </a:xfrm>
          <a:prstGeom prst="rect">
            <a:avLst/>
          </a:prstGeom>
          <a:noFill/>
          <a:ln/>
        </p:spPr>
        <p:txBody>
          <a:bodyPr wrap="square" lIns="0" tIns="0" rIns="0" bIns="0" rtlCol="0" anchor="t">
            <a:spAutoFit/>
          </a:bodyPr>
          <a:lstStyle/>
          <a:p>
            <a:pPr algn="l" indent="0" marL="0">
              <a:buNone/>
            </a:pPr>
            <a:r>
              <a:rPr lang="en-US" sz="1000" b="1" dirty="0">
                <a:solidFill>
                  <a:srgbClr val="1E63FF"/>
                </a:solidFill>
                <a:latin typeface="Inter Bold" pitchFamily="34" charset="0"/>
                <a:ea typeface="Inter Bold" pitchFamily="34" charset="-122"/>
                <a:cs typeface="Inter Bold" pitchFamily="34" charset="-120"/>
              </a:rPr>
              <a:t>生态层</a:t>
            </a:r>
            <a:endParaRPr lang="en-US" sz="1000" dirty="0"/>
          </a:p>
        </p:txBody>
      </p:sp>
      <p:sp>
        <p:nvSpPr>
          <p:cNvPr id="19" name="Text 16"/>
          <p:cNvSpPr/>
          <p:nvPr/>
        </p:nvSpPr>
        <p:spPr>
          <a:xfrm>
            <a:off x="2114550" y="3697225"/>
            <a:ext cx="6600825" cy="221456"/>
          </a:xfrm>
          <a:prstGeom prst="rect">
            <a:avLst/>
          </a:prstGeom>
          <a:noFill/>
          <a:ln/>
        </p:spPr>
        <p:txBody>
          <a:bodyPr wrap="square" lIns="0" tIns="0" rIns="0" bIns="0" rtlCol="0" anchor="t">
            <a:spAutoFit/>
          </a:bodyPr>
          <a:lstStyle/>
          <a:p>
            <a:pPr algn="l" indent="0" marL="0">
              <a:lnSpc>
                <a:spcPct val="108000"/>
              </a:lnSpc>
              <a:buNone/>
            </a:pPr>
            <a:r>
              <a:rPr lang="en-US" sz="700" dirty="0">
                <a:solidFill>
                  <a:srgbClr val="4B5F73"/>
                </a:solidFill>
                <a:latin typeface="Inter" pitchFamily="34" charset="0"/>
                <a:ea typeface="Inter" pitchFamily="34" charset="-122"/>
                <a:cs typeface="Inter" pitchFamily="34" charset="-120"/>
              </a:rPr>
              <a:t>通过连接器、MCP、Skills、Plugins 与云渠道接入企业系统、SaaS 和行业工作流。</a:t>
            </a:r>
            <a:endParaRPr lang="en-US" sz="700" dirty="0"/>
          </a:p>
        </p:txBody>
      </p:sp>
      <p:sp>
        <p:nvSpPr>
          <p:cNvPr id="20" name="Text 17"/>
          <p:cNvSpPr/>
          <p:nvPr/>
        </p:nvSpPr>
        <p:spPr>
          <a:xfrm>
            <a:off x="428625" y="3975832"/>
            <a:ext cx="1500188" cy="221456"/>
          </a:xfrm>
          <a:prstGeom prst="rect">
            <a:avLst/>
          </a:prstGeom>
          <a:noFill/>
          <a:ln/>
        </p:spPr>
        <p:txBody>
          <a:bodyPr wrap="square" lIns="0" tIns="0" rIns="0" bIns="0" rtlCol="0" anchor="t">
            <a:spAutoFit/>
          </a:bodyPr>
          <a:lstStyle/>
          <a:p>
            <a:pPr algn="l" indent="0" marL="0">
              <a:buNone/>
            </a:pPr>
            <a:r>
              <a:rPr lang="en-US" sz="600" b="1" dirty="0">
                <a:solidFill>
                  <a:srgbClr val="0B8F5A"/>
                </a:solidFill>
                <a:latin typeface="Inter Bold" pitchFamily="34" charset="0"/>
                <a:ea typeface="Inter Bold" pitchFamily="34" charset="-122"/>
                <a:cs typeface="Inter Bold" pitchFamily="34" charset="-120"/>
              </a:rPr>
              <a:t>MCP / Connectors / Skills / AWS / GCP / Microsoft</a:t>
            </a:r>
            <a:endParaRPr lang="en-US" sz="600" dirty="0"/>
          </a:p>
        </p:txBody>
      </p:sp>
      <p:sp>
        <p:nvSpPr>
          <p:cNvPr id="21" name="Text 18"/>
          <p:cNvSpPr/>
          <p:nvPr/>
        </p:nvSpPr>
        <p:spPr>
          <a:xfrm>
            <a:off x="428625" y="4347307"/>
            <a:ext cx="8286750" cy="232870"/>
          </a:xfrm>
          <a:prstGeom prst="rect">
            <a:avLst/>
          </a:prstGeom>
          <a:noFill/>
          <a:ln/>
        </p:spPr>
        <p:txBody>
          <a:bodyPr wrap="square" lIns="0" tIns="102108" rIns="0" bIns="0" rtlCol="0" anchor="t">
            <a:spAutoFit/>
          </a:bodyPr>
          <a:lstStyle/>
          <a:p>
            <a:pPr algn="l" indent="0" marL="0">
              <a:lnSpc>
                <a:spcPct val="112000"/>
              </a:lnSpc>
              <a:buNone/>
            </a:pPr>
            <a:r>
              <a:rPr lang="en-US" sz="700" b="1" dirty="0">
                <a:solidFill>
                  <a:srgbClr val="0B8F5A"/>
                </a:solidFill>
                <a:latin typeface="Inter Bold" pitchFamily="34" charset="0"/>
                <a:ea typeface="Inter Bold" pitchFamily="34" charset="-122"/>
                <a:cs typeface="Inter Bold" pitchFamily="34" charset="-120"/>
              </a:rPr>
              <a:t>结论：</a:t>
            </a:r>
            <a:r>
              <a:rPr lang="en-US" sz="750" dirty="0">
                <a:solidFill>
                  <a:srgbClr val="4B5F73"/>
                </a:solidFill>
                <a:latin typeface="Inter" pitchFamily="34" charset="0"/>
                <a:ea typeface="Inter" pitchFamily="34" charset="-122"/>
                <a:cs typeface="Inter" pitchFamily="34" charset="-120"/>
              </a:rPr>
              <a:t>Anthropic 的产品策略可以概括为“模型能力平台化，平台能力企业化，企业能力生态化”。</a:t>
            </a:r>
            <a:endParaRPr lang="en-US" sz="700" dirty="0"/>
          </a:p>
        </p:txBody>
      </p:sp>
      <p:sp>
        <p:nvSpPr>
          <p:cNvPr id="22" name="Text 19"/>
          <p:cNvSpPr/>
          <p:nvPr/>
        </p:nvSpPr>
        <p:spPr>
          <a:xfrm>
            <a:off x="428625" y="4694476"/>
            <a:ext cx="8286750" cy="146447"/>
          </a:xfrm>
          <a:prstGeom prst="rect">
            <a:avLst/>
          </a:prstGeom>
          <a:noFill/>
          <a:ln/>
        </p:spPr>
        <p:txBody>
          <a:bodyPr wrap="square" lIns="0" tIns="51054" rIns="0" bIns="0" rtlCol="0" anchor="t">
            <a:spAutoFit/>
          </a:bodyPr>
          <a:lstStyle/>
          <a:p>
            <a:pPr algn="l" indent="0" marL="0">
              <a:lnSpc>
                <a:spcPct val="100000"/>
              </a:lnSpc>
              <a:buNone/>
            </a:pPr>
            <a:r>
              <a:rPr lang="en-US" sz="550" dirty="0">
                <a:solidFill>
                  <a:srgbClr val="6B7A8A"/>
                </a:solidFill>
                <a:latin typeface="Inter" pitchFamily="34" charset="0"/>
                <a:ea typeface="Inter" pitchFamily="34" charset="-122"/>
                <a:cs typeface="Inter" pitchFamily="34" charset="-120"/>
              </a:rPr>
              <a:t>来源：Claude Product pages；Claude Platform docs；Claude Enterprise and connectors pages。</a:t>
            </a:r>
            <a:endParaRPr lang="en-US" sz="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285750"/>
            <a:ext cx="8286750" cy="98227"/>
          </a:xfrm>
          <a:prstGeom prst="rect">
            <a:avLst/>
          </a:prstGeom>
          <a:noFill/>
          <a:ln/>
        </p:spPr>
        <p:txBody>
          <a:bodyPr wrap="square" lIns="0" tIns="0" rIns="0" bIns="0" rtlCol="0" anchor="t">
            <a:spAutoFit/>
          </a:bodyPr>
          <a:lstStyle/>
          <a:p>
            <a:pPr algn="l" indent="0" marL="0">
              <a:buNone/>
            </a:pPr>
            <a:r>
              <a:rPr lang="en-US" sz="600" b="1" spc="2" kern="0" dirty="0">
                <a:solidFill>
                  <a:srgbClr val="0B8F5A"/>
                </a:solidFill>
                <a:latin typeface="Inter ExtraBold" pitchFamily="34" charset="0"/>
                <a:ea typeface="Inter ExtraBold" pitchFamily="34" charset="-122"/>
                <a:cs typeface="Inter ExtraBold" pitchFamily="34" charset="-120"/>
              </a:rPr>
              <a:t>COMPLETE CATALOG</a:t>
            </a:r>
            <a:endParaRPr lang="en-US" sz="600" dirty="0"/>
          </a:p>
        </p:txBody>
      </p:sp>
      <p:sp>
        <p:nvSpPr>
          <p:cNvPr id="4" name="Text 1"/>
          <p:cNvSpPr/>
          <p:nvPr/>
        </p:nvSpPr>
        <p:spPr>
          <a:xfrm>
            <a:off x="428625" y="441127"/>
            <a:ext cx="8286750" cy="259296"/>
          </a:xfrm>
          <a:prstGeom prst="rect">
            <a:avLst/>
          </a:prstGeom>
          <a:noFill/>
          <a:ln/>
        </p:spPr>
        <p:txBody>
          <a:bodyPr wrap="none" lIns="0" tIns="0" rIns="0" bIns="0" rtlCol="0" anchor="t">
            <a:spAutoFit/>
          </a:bodyPr>
          <a:lstStyle/>
          <a:p>
            <a:pPr algn="l" indent="0" marL="0">
              <a:lnSpc>
                <a:spcPct val="88000"/>
              </a:lnSpc>
              <a:buNone/>
            </a:pPr>
            <a:r>
              <a:rPr lang="en-US" sz="1650" b="1" dirty="0">
                <a:solidFill>
                  <a:srgbClr val="102033"/>
                </a:solidFill>
                <a:latin typeface="Inter Bold" pitchFamily="34" charset="0"/>
                <a:ea typeface="Inter Bold" pitchFamily="34" charset="-122"/>
                <a:cs typeface="Inter Bold" pitchFamily="34" charset="-120"/>
              </a:rPr>
              <a:t>官方产品清单：产品、功能、模型、平台、套餐</a:t>
            </a:r>
            <a:endParaRPr lang="en-US" sz="1650" dirty="0"/>
          </a:p>
        </p:txBody>
      </p:sp>
      <p:sp>
        <p:nvSpPr>
          <p:cNvPr id="5" name="Text 2"/>
          <p:cNvSpPr/>
          <p:nvPr/>
        </p:nvSpPr>
        <p:spPr>
          <a:xfrm>
            <a:off x="428625" y="757572"/>
            <a:ext cx="7715250" cy="135899"/>
          </a:xfrm>
          <a:prstGeom prst="rect">
            <a:avLst/>
          </a:prstGeom>
          <a:noFill/>
          <a:ln/>
        </p:spPr>
        <p:txBody>
          <a:bodyPr wrap="none" lIns="0" tIns="0" rIns="0" bIns="0" rtlCol="0" anchor="t">
            <a:spAutoFit/>
          </a:bodyPr>
          <a:lstStyle/>
          <a:p>
            <a:pPr algn="l" indent="0" marL="0">
              <a:lnSpc>
                <a:spcPct val="107200"/>
              </a:lnSpc>
              <a:buNone/>
            </a:pPr>
            <a:r>
              <a:rPr lang="en-US" sz="750" dirty="0">
                <a:solidFill>
                  <a:srgbClr val="4B5F73"/>
                </a:solidFill>
                <a:latin typeface="Inter" pitchFamily="34" charset="0"/>
                <a:ea typeface="Inter" pitchFamily="34" charset="-122"/>
                <a:cs typeface="Inter" pitchFamily="34" charset="-120"/>
              </a:rPr>
              <a:t>以下按公开官方页面归纳；Anthropic 会频繁更新命名与功能，本页以已核验公开页面为边界。</a:t>
            </a:r>
            <a:endParaRPr lang="en-US" sz="750" dirty="0"/>
          </a:p>
        </p:txBody>
      </p:sp>
      <p:sp>
        <p:nvSpPr>
          <p:cNvPr id="6" name="Text 3"/>
          <p:cNvSpPr/>
          <p:nvPr/>
        </p:nvSpPr>
        <p:spPr>
          <a:xfrm>
            <a:off x="428625" y="989912"/>
            <a:ext cx="885825" cy="200025"/>
          </a:xfrm>
          <a:prstGeom prst="rect">
            <a:avLst/>
          </a:prstGeom>
          <a:noFill/>
          <a:ln/>
        </p:spPr>
        <p:txBody>
          <a:bodyPr wrap="none" lIns="8509" tIns="8509" rIns="8509" bIns="8509" rtlCol="0" anchor="ctr">
            <a:spAutoFit/>
          </a:bodyPr>
          <a:lstStyle/>
          <a:p>
            <a:pPr algn="l" indent="0" marL="0">
              <a:buNone/>
            </a:pPr>
            <a:r>
              <a:rPr lang="en-US" sz="600" b="1" dirty="0">
                <a:solidFill>
                  <a:srgbClr val="0B8F5A"/>
                </a:solidFill>
                <a:latin typeface="Inter Bold" pitchFamily="34" charset="0"/>
                <a:ea typeface="Inter Bold" pitchFamily="34" charset="-122"/>
                <a:cs typeface="Inter Bold" pitchFamily="34" charset="-120"/>
              </a:rPr>
              <a:t>类别</a:t>
            </a:r>
            <a:endParaRPr lang="en-US" sz="600" dirty="0"/>
          </a:p>
        </p:txBody>
      </p:sp>
      <p:sp>
        <p:nvSpPr>
          <p:cNvPr id="7" name="Text 4"/>
          <p:cNvSpPr/>
          <p:nvPr/>
        </p:nvSpPr>
        <p:spPr>
          <a:xfrm>
            <a:off x="1314450" y="989912"/>
            <a:ext cx="2357438" cy="200025"/>
          </a:xfrm>
          <a:prstGeom prst="rect">
            <a:avLst/>
          </a:prstGeom>
          <a:noFill/>
          <a:ln/>
        </p:spPr>
        <p:txBody>
          <a:bodyPr wrap="square" lIns="8509" tIns="8509" rIns="8509" bIns="8509" rtlCol="0" anchor="ctr">
            <a:spAutoFit/>
          </a:bodyPr>
          <a:lstStyle/>
          <a:p>
            <a:pPr algn="l" indent="0" marL="0">
              <a:buNone/>
            </a:pPr>
            <a:r>
              <a:rPr lang="en-US" sz="600" b="1" dirty="0">
                <a:solidFill>
                  <a:srgbClr val="0B8F5A"/>
                </a:solidFill>
                <a:latin typeface="Inter Bold" pitchFamily="34" charset="0"/>
                <a:ea typeface="Inter Bold" pitchFamily="34" charset="-122"/>
                <a:cs typeface="Inter Bold" pitchFamily="34" charset="-120"/>
              </a:rPr>
              <a:t>产品/能力</a:t>
            </a:r>
            <a:endParaRPr lang="en-US" sz="600" dirty="0"/>
          </a:p>
        </p:txBody>
      </p:sp>
      <p:sp>
        <p:nvSpPr>
          <p:cNvPr id="8" name="Text 5"/>
          <p:cNvSpPr/>
          <p:nvPr/>
        </p:nvSpPr>
        <p:spPr>
          <a:xfrm>
            <a:off x="3671888" y="989912"/>
            <a:ext cx="5043488" cy="200025"/>
          </a:xfrm>
          <a:prstGeom prst="rect">
            <a:avLst/>
          </a:prstGeom>
          <a:noFill/>
          <a:ln/>
        </p:spPr>
        <p:txBody>
          <a:bodyPr wrap="square" lIns="8509" tIns="8509" rIns="8509" bIns="8509" rtlCol="0" anchor="ctr">
            <a:spAutoFit/>
          </a:bodyPr>
          <a:lstStyle/>
          <a:p>
            <a:pPr algn="l" indent="0" marL="0">
              <a:buNone/>
            </a:pPr>
            <a:r>
              <a:rPr lang="en-US" sz="600" b="1" dirty="0">
                <a:solidFill>
                  <a:srgbClr val="0B8F5A"/>
                </a:solidFill>
                <a:latin typeface="Inter Bold" pitchFamily="34" charset="0"/>
                <a:ea typeface="Inter Bold" pitchFamily="34" charset="-122"/>
                <a:cs typeface="Inter Bold" pitchFamily="34" charset="-120"/>
              </a:rPr>
              <a:t>说明与 To B 相关性</a:t>
            </a:r>
            <a:endParaRPr lang="en-US" sz="600" dirty="0"/>
          </a:p>
        </p:txBody>
      </p:sp>
      <p:sp>
        <p:nvSpPr>
          <p:cNvPr id="9" name="Text 6"/>
          <p:cNvSpPr/>
          <p:nvPr/>
        </p:nvSpPr>
        <p:spPr>
          <a:xfrm>
            <a:off x="428625" y="1189937"/>
            <a:ext cx="885825" cy="257175"/>
          </a:xfrm>
          <a:prstGeom prst="rect">
            <a:avLst/>
          </a:prstGeom>
          <a:noFill/>
          <a:ln/>
        </p:spPr>
        <p:txBody>
          <a:bodyPr wrap="square" lIns="8509" tIns="51054" rIns="8509" bIns="8509" rtlCol="0" anchor="t">
            <a:spAutoFit/>
          </a:bodyPr>
          <a:lstStyle/>
          <a:p>
            <a:pPr algn="l" indent="0" marL="0">
              <a:lnSpc>
                <a:spcPct val="97600"/>
              </a:lnSpc>
              <a:buNone/>
            </a:pPr>
            <a:r>
              <a:rPr lang="en-US" sz="600" b="1" dirty="0">
                <a:solidFill>
                  <a:srgbClr val="102033"/>
                </a:solidFill>
                <a:latin typeface="Inter ExtraBold" pitchFamily="34" charset="0"/>
                <a:ea typeface="Inter ExtraBold" pitchFamily="34" charset="-122"/>
                <a:cs typeface="Inter ExtraBold" pitchFamily="34" charset="-120"/>
              </a:rPr>
              <a:t>模型</a:t>
            </a:r>
            <a:endParaRPr lang="en-US" sz="600" dirty="0"/>
          </a:p>
        </p:txBody>
      </p:sp>
      <p:sp>
        <p:nvSpPr>
          <p:cNvPr id="10" name="Text 7"/>
          <p:cNvSpPr/>
          <p:nvPr/>
        </p:nvSpPr>
        <p:spPr>
          <a:xfrm>
            <a:off x="1314450" y="1189937"/>
            <a:ext cx="2357438" cy="257175"/>
          </a:xfrm>
          <a:prstGeom prst="rect">
            <a:avLst/>
          </a:prstGeom>
          <a:noFill/>
          <a:ln/>
        </p:spPr>
        <p:txBody>
          <a:bodyPr wrap="square" lIns="8509" tIns="51054" rIns="8509" bIns="8509" rtlCol="0" anchor="t">
            <a:spAutoFit/>
          </a:bodyPr>
          <a:lstStyle/>
          <a:p>
            <a:pPr algn="l" indent="0" marL="0">
              <a:lnSpc>
                <a:spcPct val="97600"/>
              </a:lnSpc>
              <a:buNone/>
            </a:pPr>
            <a:r>
              <a:rPr lang="en-US" sz="600" b="1" dirty="0">
                <a:solidFill>
                  <a:srgbClr val="1E63FF"/>
                </a:solidFill>
                <a:latin typeface="Inter Bold" pitchFamily="34" charset="0"/>
                <a:ea typeface="Inter Bold" pitchFamily="34" charset="-122"/>
                <a:cs typeface="Inter Bold" pitchFamily="34" charset="-120"/>
              </a:rPr>
              <a:t>Claude Opus / Sonnet / Haiku 系列</a:t>
            </a:r>
            <a:endParaRPr lang="en-US" sz="600" dirty="0"/>
          </a:p>
        </p:txBody>
      </p:sp>
      <p:sp>
        <p:nvSpPr>
          <p:cNvPr id="11" name="Text 8"/>
          <p:cNvSpPr/>
          <p:nvPr/>
        </p:nvSpPr>
        <p:spPr>
          <a:xfrm>
            <a:off x="3671888" y="1189937"/>
            <a:ext cx="5043488" cy="257175"/>
          </a:xfrm>
          <a:prstGeom prst="rect">
            <a:avLst/>
          </a:prstGeom>
          <a:noFill/>
          <a:ln/>
        </p:spPr>
        <p:txBody>
          <a:bodyPr wrap="square" lIns="8509" tIns="51054" rIns="8509" bIns="8509" rtlCol="0" anchor="t">
            <a:spAutoFit/>
          </a:bodyPr>
          <a:lstStyle/>
          <a:p>
            <a:pPr algn="l" indent="0" marL="0">
              <a:lnSpc>
                <a:spcPct val="97600"/>
              </a:lnSpc>
              <a:buNone/>
            </a:pPr>
            <a:r>
              <a:rPr lang="en-US" sz="650" dirty="0">
                <a:solidFill>
                  <a:srgbClr val="4B5F73"/>
                </a:solidFill>
                <a:latin typeface="Inter" pitchFamily="34" charset="0"/>
                <a:ea typeface="Inter" pitchFamily="34" charset="-122"/>
                <a:cs typeface="Inter" pitchFamily="34" charset="-120"/>
              </a:rPr>
              <a:t>不同能力、延迟和成本层级；企业 API 和应用产品的底座。</a:t>
            </a:r>
            <a:endParaRPr lang="en-US" sz="650" dirty="0"/>
          </a:p>
        </p:txBody>
      </p:sp>
      <p:sp>
        <p:nvSpPr>
          <p:cNvPr id="12" name="Text 9"/>
          <p:cNvSpPr/>
          <p:nvPr/>
        </p:nvSpPr>
        <p:spPr>
          <a:xfrm>
            <a:off x="428625" y="1447112"/>
            <a:ext cx="885825" cy="257175"/>
          </a:xfrm>
          <a:prstGeom prst="rect">
            <a:avLst/>
          </a:prstGeom>
          <a:noFill/>
          <a:ln/>
        </p:spPr>
        <p:txBody>
          <a:bodyPr wrap="square" lIns="8509" tIns="51054" rIns="8509" bIns="8509" rtlCol="0" anchor="t">
            <a:spAutoFit/>
          </a:bodyPr>
          <a:lstStyle/>
          <a:p>
            <a:pPr algn="l" indent="0" marL="0">
              <a:lnSpc>
                <a:spcPct val="97600"/>
              </a:lnSpc>
              <a:buNone/>
            </a:pPr>
            <a:r>
              <a:rPr lang="en-US" sz="600" b="1" dirty="0">
                <a:solidFill>
                  <a:srgbClr val="102033"/>
                </a:solidFill>
                <a:latin typeface="Inter ExtraBold" pitchFamily="34" charset="0"/>
                <a:ea typeface="Inter ExtraBold" pitchFamily="34" charset="-122"/>
                <a:cs typeface="Inter ExtraBold" pitchFamily="34" charset="-120"/>
              </a:rPr>
              <a:t>消费/团队</a:t>
            </a:r>
            <a:endParaRPr lang="en-US" sz="600" dirty="0"/>
          </a:p>
        </p:txBody>
      </p:sp>
      <p:sp>
        <p:nvSpPr>
          <p:cNvPr id="13" name="Text 10"/>
          <p:cNvSpPr/>
          <p:nvPr/>
        </p:nvSpPr>
        <p:spPr>
          <a:xfrm>
            <a:off x="1314450" y="1447112"/>
            <a:ext cx="2357438" cy="257175"/>
          </a:xfrm>
          <a:prstGeom prst="rect">
            <a:avLst/>
          </a:prstGeom>
          <a:noFill/>
          <a:ln/>
        </p:spPr>
        <p:txBody>
          <a:bodyPr wrap="square" lIns="8509" tIns="51054" rIns="8509" bIns="8509" rtlCol="0" anchor="t">
            <a:spAutoFit/>
          </a:bodyPr>
          <a:lstStyle/>
          <a:p>
            <a:pPr algn="l" indent="0" marL="0">
              <a:lnSpc>
                <a:spcPct val="97600"/>
              </a:lnSpc>
              <a:buNone/>
            </a:pPr>
            <a:r>
              <a:rPr lang="en-US" sz="600" b="1" dirty="0">
                <a:solidFill>
                  <a:srgbClr val="1E63FF"/>
                </a:solidFill>
                <a:latin typeface="Inter Bold" pitchFamily="34" charset="0"/>
                <a:ea typeface="Inter Bold" pitchFamily="34" charset="-122"/>
                <a:cs typeface="Inter Bold" pitchFamily="34" charset="-120"/>
              </a:rPr>
              <a:t>Claude Free / Pro / Max / Team</a:t>
            </a:r>
            <a:endParaRPr lang="en-US" sz="600" dirty="0"/>
          </a:p>
        </p:txBody>
      </p:sp>
      <p:sp>
        <p:nvSpPr>
          <p:cNvPr id="14" name="Text 11"/>
          <p:cNvSpPr/>
          <p:nvPr/>
        </p:nvSpPr>
        <p:spPr>
          <a:xfrm>
            <a:off x="3671888" y="1447112"/>
            <a:ext cx="5043488" cy="257175"/>
          </a:xfrm>
          <a:prstGeom prst="rect">
            <a:avLst/>
          </a:prstGeom>
          <a:noFill/>
          <a:ln/>
        </p:spPr>
        <p:txBody>
          <a:bodyPr wrap="square" lIns="8509" tIns="51054" rIns="8509" bIns="8509" rtlCol="0" anchor="t">
            <a:spAutoFit/>
          </a:bodyPr>
          <a:lstStyle/>
          <a:p>
            <a:pPr algn="l" indent="0" marL="0">
              <a:lnSpc>
                <a:spcPct val="97600"/>
              </a:lnSpc>
              <a:buNone/>
            </a:pPr>
            <a:r>
              <a:rPr lang="en-US" sz="650" dirty="0">
                <a:solidFill>
                  <a:srgbClr val="4B5F73"/>
                </a:solidFill>
                <a:latin typeface="Inter" pitchFamily="34" charset="0"/>
                <a:ea typeface="Inter" pitchFamily="34" charset="-122"/>
                <a:cs typeface="Inter" pitchFamily="34" charset="-120"/>
              </a:rPr>
              <a:t>个人和小团队使用入口；Team 具备组织协作和管理价值。</a:t>
            </a:r>
            <a:endParaRPr lang="en-US" sz="650" dirty="0"/>
          </a:p>
        </p:txBody>
      </p:sp>
      <p:sp>
        <p:nvSpPr>
          <p:cNvPr id="15" name="Text 12"/>
          <p:cNvSpPr/>
          <p:nvPr/>
        </p:nvSpPr>
        <p:spPr>
          <a:xfrm>
            <a:off x="428625" y="1704287"/>
            <a:ext cx="885825" cy="257175"/>
          </a:xfrm>
          <a:prstGeom prst="rect">
            <a:avLst/>
          </a:prstGeom>
          <a:noFill/>
          <a:ln/>
        </p:spPr>
        <p:txBody>
          <a:bodyPr wrap="square" lIns="8509" tIns="51054" rIns="8509" bIns="8509" rtlCol="0" anchor="t">
            <a:spAutoFit/>
          </a:bodyPr>
          <a:lstStyle/>
          <a:p>
            <a:pPr algn="l" indent="0" marL="0">
              <a:lnSpc>
                <a:spcPct val="97600"/>
              </a:lnSpc>
              <a:buNone/>
            </a:pPr>
            <a:r>
              <a:rPr lang="en-US" sz="600" b="1" dirty="0">
                <a:solidFill>
                  <a:srgbClr val="102033"/>
                </a:solidFill>
                <a:latin typeface="Inter ExtraBold" pitchFamily="34" charset="0"/>
                <a:ea typeface="Inter ExtraBold" pitchFamily="34" charset="-122"/>
                <a:cs typeface="Inter ExtraBold" pitchFamily="34" charset="-120"/>
              </a:rPr>
              <a:t>企业应用</a:t>
            </a:r>
            <a:endParaRPr lang="en-US" sz="600" dirty="0"/>
          </a:p>
        </p:txBody>
      </p:sp>
      <p:sp>
        <p:nvSpPr>
          <p:cNvPr id="16" name="Text 13"/>
          <p:cNvSpPr/>
          <p:nvPr/>
        </p:nvSpPr>
        <p:spPr>
          <a:xfrm>
            <a:off x="1314450" y="1704287"/>
            <a:ext cx="2357438" cy="257175"/>
          </a:xfrm>
          <a:prstGeom prst="rect">
            <a:avLst/>
          </a:prstGeom>
          <a:noFill/>
          <a:ln/>
        </p:spPr>
        <p:txBody>
          <a:bodyPr wrap="square" lIns="8509" tIns="51054" rIns="8509" bIns="8509" rtlCol="0" anchor="t">
            <a:spAutoFit/>
          </a:bodyPr>
          <a:lstStyle/>
          <a:p>
            <a:pPr algn="l" indent="0" marL="0">
              <a:lnSpc>
                <a:spcPct val="97600"/>
              </a:lnSpc>
              <a:buNone/>
            </a:pPr>
            <a:r>
              <a:rPr lang="en-US" sz="600" b="1" dirty="0">
                <a:solidFill>
                  <a:srgbClr val="1E63FF"/>
                </a:solidFill>
                <a:latin typeface="Inter Bold" pitchFamily="34" charset="0"/>
                <a:ea typeface="Inter Bold" pitchFamily="34" charset="-122"/>
                <a:cs typeface="Inter Bold" pitchFamily="34" charset="-120"/>
              </a:rPr>
              <a:t>Claude Enterprise</a:t>
            </a:r>
            <a:endParaRPr lang="en-US" sz="600" dirty="0"/>
          </a:p>
        </p:txBody>
      </p:sp>
      <p:sp>
        <p:nvSpPr>
          <p:cNvPr id="17" name="Text 14"/>
          <p:cNvSpPr/>
          <p:nvPr/>
        </p:nvSpPr>
        <p:spPr>
          <a:xfrm>
            <a:off x="3671888" y="1704287"/>
            <a:ext cx="5043488" cy="257175"/>
          </a:xfrm>
          <a:prstGeom prst="rect">
            <a:avLst/>
          </a:prstGeom>
          <a:noFill/>
          <a:ln/>
        </p:spPr>
        <p:txBody>
          <a:bodyPr wrap="square" lIns="8509" tIns="51054" rIns="8509" bIns="8509" rtlCol="0" anchor="t">
            <a:spAutoFit/>
          </a:bodyPr>
          <a:lstStyle/>
          <a:p>
            <a:pPr algn="l" indent="0" marL="0">
              <a:lnSpc>
                <a:spcPct val="97600"/>
              </a:lnSpc>
              <a:buNone/>
            </a:pPr>
            <a:r>
              <a:rPr lang="en-US" sz="650" dirty="0">
                <a:solidFill>
                  <a:srgbClr val="4B5F73"/>
                </a:solidFill>
                <a:latin typeface="Inter" pitchFamily="34" charset="0"/>
                <a:ea typeface="Inter" pitchFamily="34" charset="-122"/>
                <a:cs typeface="Inter" pitchFamily="34" charset="-120"/>
              </a:rPr>
              <a:t>组织级工作台，支持身份、管理、审计、数据承诺和企业连接。</a:t>
            </a:r>
            <a:endParaRPr lang="en-US" sz="650" dirty="0"/>
          </a:p>
        </p:txBody>
      </p:sp>
      <p:sp>
        <p:nvSpPr>
          <p:cNvPr id="18" name="Text 15"/>
          <p:cNvSpPr/>
          <p:nvPr/>
        </p:nvSpPr>
        <p:spPr>
          <a:xfrm>
            <a:off x="428625" y="1961462"/>
            <a:ext cx="885825" cy="257175"/>
          </a:xfrm>
          <a:prstGeom prst="rect">
            <a:avLst/>
          </a:prstGeom>
          <a:noFill/>
          <a:ln/>
        </p:spPr>
        <p:txBody>
          <a:bodyPr wrap="square" lIns="8509" tIns="51054" rIns="8509" bIns="8509" rtlCol="0" anchor="t">
            <a:spAutoFit/>
          </a:bodyPr>
          <a:lstStyle/>
          <a:p>
            <a:pPr algn="l" indent="0" marL="0">
              <a:lnSpc>
                <a:spcPct val="97600"/>
              </a:lnSpc>
              <a:buNone/>
            </a:pPr>
            <a:r>
              <a:rPr lang="en-US" sz="600" b="1" dirty="0">
                <a:solidFill>
                  <a:srgbClr val="102033"/>
                </a:solidFill>
                <a:latin typeface="Inter ExtraBold" pitchFamily="34" charset="0"/>
                <a:ea typeface="Inter ExtraBold" pitchFamily="34" charset="-122"/>
                <a:cs typeface="Inter ExtraBold" pitchFamily="34" charset="-120"/>
              </a:rPr>
              <a:t>开发者平台</a:t>
            </a:r>
            <a:endParaRPr lang="en-US" sz="600" dirty="0"/>
          </a:p>
        </p:txBody>
      </p:sp>
      <p:sp>
        <p:nvSpPr>
          <p:cNvPr id="19" name="Text 16"/>
          <p:cNvSpPr/>
          <p:nvPr/>
        </p:nvSpPr>
        <p:spPr>
          <a:xfrm>
            <a:off x="1314450" y="1961462"/>
            <a:ext cx="2357438" cy="257175"/>
          </a:xfrm>
          <a:prstGeom prst="rect">
            <a:avLst/>
          </a:prstGeom>
          <a:noFill/>
          <a:ln/>
        </p:spPr>
        <p:txBody>
          <a:bodyPr wrap="square" lIns="8509" tIns="51054" rIns="8509" bIns="8509" rtlCol="0" anchor="t">
            <a:spAutoFit/>
          </a:bodyPr>
          <a:lstStyle/>
          <a:p>
            <a:pPr algn="l" indent="0" marL="0">
              <a:lnSpc>
                <a:spcPct val="97600"/>
              </a:lnSpc>
              <a:buNone/>
            </a:pPr>
            <a:r>
              <a:rPr lang="en-US" sz="600" b="1" dirty="0">
                <a:solidFill>
                  <a:srgbClr val="1E63FF"/>
                </a:solidFill>
                <a:latin typeface="Inter Bold" pitchFamily="34" charset="0"/>
                <a:ea typeface="Inter Bold" pitchFamily="34" charset="-122"/>
                <a:cs typeface="Inter Bold" pitchFamily="34" charset="-120"/>
              </a:rPr>
              <a:t>Claude Platform / API / Console</a:t>
            </a:r>
            <a:endParaRPr lang="en-US" sz="600" dirty="0"/>
          </a:p>
        </p:txBody>
      </p:sp>
      <p:sp>
        <p:nvSpPr>
          <p:cNvPr id="20" name="Text 17"/>
          <p:cNvSpPr/>
          <p:nvPr/>
        </p:nvSpPr>
        <p:spPr>
          <a:xfrm>
            <a:off x="3671888" y="1961462"/>
            <a:ext cx="5043488" cy="257175"/>
          </a:xfrm>
          <a:prstGeom prst="rect">
            <a:avLst/>
          </a:prstGeom>
          <a:noFill/>
          <a:ln/>
        </p:spPr>
        <p:txBody>
          <a:bodyPr wrap="square" lIns="8509" tIns="51054" rIns="8509" bIns="8509" rtlCol="0" anchor="t">
            <a:spAutoFit/>
          </a:bodyPr>
          <a:lstStyle/>
          <a:p>
            <a:pPr algn="l" indent="0" marL="0">
              <a:lnSpc>
                <a:spcPct val="97600"/>
              </a:lnSpc>
              <a:buNone/>
            </a:pPr>
            <a:r>
              <a:rPr lang="en-US" sz="650" dirty="0">
                <a:solidFill>
                  <a:srgbClr val="4B5F73"/>
                </a:solidFill>
                <a:latin typeface="Inter" pitchFamily="34" charset="0"/>
                <a:ea typeface="Inter" pitchFamily="34" charset="-122"/>
                <a:cs typeface="Inter" pitchFamily="34" charset="-120"/>
              </a:rPr>
              <a:t>企业将 Claude 嵌入自有产品、后台流程和智能体系统的主入口。</a:t>
            </a:r>
            <a:endParaRPr lang="en-US" sz="650" dirty="0"/>
          </a:p>
        </p:txBody>
      </p:sp>
      <p:sp>
        <p:nvSpPr>
          <p:cNvPr id="21" name="Text 18"/>
          <p:cNvSpPr/>
          <p:nvPr/>
        </p:nvSpPr>
        <p:spPr>
          <a:xfrm>
            <a:off x="428625" y="2218637"/>
            <a:ext cx="885825" cy="257175"/>
          </a:xfrm>
          <a:prstGeom prst="rect">
            <a:avLst/>
          </a:prstGeom>
          <a:noFill/>
          <a:ln/>
        </p:spPr>
        <p:txBody>
          <a:bodyPr wrap="square" lIns="8509" tIns="51054" rIns="8509" bIns="8509" rtlCol="0" anchor="t">
            <a:spAutoFit/>
          </a:bodyPr>
          <a:lstStyle/>
          <a:p>
            <a:pPr algn="l" indent="0" marL="0">
              <a:lnSpc>
                <a:spcPct val="97600"/>
              </a:lnSpc>
              <a:buNone/>
            </a:pPr>
            <a:r>
              <a:rPr lang="en-US" sz="600" b="1" dirty="0">
                <a:solidFill>
                  <a:srgbClr val="102033"/>
                </a:solidFill>
                <a:latin typeface="Inter ExtraBold" pitchFamily="34" charset="0"/>
                <a:ea typeface="Inter ExtraBold" pitchFamily="34" charset="-122"/>
                <a:cs typeface="Inter ExtraBold" pitchFamily="34" charset="-120"/>
              </a:rPr>
              <a:t>工程产品</a:t>
            </a:r>
            <a:endParaRPr lang="en-US" sz="600" dirty="0"/>
          </a:p>
        </p:txBody>
      </p:sp>
      <p:sp>
        <p:nvSpPr>
          <p:cNvPr id="22" name="Text 19"/>
          <p:cNvSpPr/>
          <p:nvPr/>
        </p:nvSpPr>
        <p:spPr>
          <a:xfrm>
            <a:off x="1314450" y="2218637"/>
            <a:ext cx="2357438" cy="257175"/>
          </a:xfrm>
          <a:prstGeom prst="rect">
            <a:avLst/>
          </a:prstGeom>
          <a:noFill/>
          <a:ln/>
        </p:spPr>
        <p:txBody>
          <a:bodyPr wrap="square" lIns="8509" tIns="51054" rIns="8509" bIns="8509" rtlCol="0" anchor="t">
            <a:spAutoFit/>
          </a:bodyPr>
          <a:lstStyle/>
          <a:p>
            <a:pPr algn="l" indent="0" marL="0">
              <a:lnSpc>
                <a:spcPct val="97600"/>
              </a:lnSpc>
              <a:buNone/>
            </a:pPr>
            <a:r>
              <a:rPr lang="en-US" sz="600" b="1" dirty="0">
                <a:solidFill>
                  <a:srgbClr val="1E63FF"/>
                </a:solidFill>
                <a:latin typeface="Inter Bold" pitchFamily="34" charset="0"/>
                <a:ea typeface="Inter Bold" pitchFamily="34" charset="-122"/>
                <a:cs typeface="Inter Bold" pitchFamily="34" charset="-120"/>
              </a:rPr>
              <a:t>Claude Code / Claude Code Enterprise</a:t>
            </a:r>
            <a:endParaRPr lang="en-US" sz="600" dirty="0"/>
          </a:p>
        </p:txBody>
      </p:sp>
      <p:sp>
        <p:nvSpPr>
          <p:cNvPr id="23" name="Text 20"/>
          <p:cNvSpPr/>
          <p:nvPr/>
        </p:nvSpPr>
        <p:spPr>
          <a:xfrm>
            <a:off x="3671888" y="2218637"/>
            <a:ext cx="5043488" cy="257175"/>
          </a:xfrm>
          <a:prstGeom prst="rect">
            <a:avLst/>
          </a:prstGeom>
          <a:noFill/>
          <a:ln/>
        </p:spPr>
        <p:txBody>
          <a:bodyPr wrap="square" lIns="8509" tIns="51054" rIns="8509" bIns="8509" rtlCol="0" anchor="t">
            <a:spAutoFit/>
          </a:bodyPr>
          <a:lstStyle/>
          <a:p>
            <a:pPr algn="l" indent="0" marL="0">
              <a:lnSpc>
                <a:spcPct val="97600"/>
              </a:lnSpc>
              <a:buNone/>
            </a:pPr>
            <a:r>
              <a:rPr lang="en-US" sz="650" dirty="0">
                <a:solidFill>
                  <a:srgbClr val="4B5F73"/>
                </a:solidFill>
                <a:latin typeface="Inter" pitchFamily="34" charset="0"/>
                <a:ea typeface="Inter" pitchFamily="34" charset="-122"/>
                <a:cs typeface="Inter" pitchFamily="34" charset="-120"/>
              </a:rPr>
              <a:t>代码库代理、开发者工具、工程团队协作与安全修复。</a:t>
            </a:r>
            <a:endParaRPr lang="en-US" sz="650" dirty="0"/>
          </a:p>
        </p:txBody>
      </p:sp>
      <p:sp>
        <p:nvSpPr>
          <p:cNvPr id="24" name="Text 21"/>
          <p:cNvSpPr/>
          <p:nvPr/>
        </p:nvSpPr>
        <p:spPr>
          <a:xfrm>
            <a:off x="428625" y="2475812"/>
            <a:ext cx="885825" cy="257175"/>
          </a:xfrm>
          <a:prstGeom prst="rect">
            <a:avLst/>
          </a:prstGeom>
          <a:noFill/>
          <a:ln/>
        </p:spPr>
        <p:txBody>
          <a:bodyPr wrap="square" lIns="8509" tIns="51054" rIns="8509" bIns="8509" rtlCol="0" anchor="t">
            <a:spAutoFit/>
          </a:bodyPr>
          <a:lstStyle/>
          <a:p>
            <a:pPr algn="l" indent="0" marL="0">
              <a:lnSpc>
                <a:spcPct val="97600"/>
              </a:lnSpc>
              <a:buNone/>
            </a:pPr>
            <a:r>
              <a:rPr lang="en-US" sz="600" b="1" dirty="0">
                <a:solidFill>
                  <a:srgbClr val="102033"/>
                </a:solidFill>
                <a:latin typeface="Inter ExtraBold" pitchFamily="34" charset="0"/>
                <a:ea typeface="Inter ExtraBold" pitchFamily="34" charset="-122"/>
                <a:cs typeface="Inter ExtraBold" pitchFamily="34" charset="-120"/>
              </a:rPr>
              <a:t>流程代理</a:t>
            </a:r>
            <a:endParaRPr lang="en-US" sz="600" dirty="0"/>
          </a:p>
        </p:txBody>
      </p:sp>
      <p:sp>
        <p:nvSpPr>
          <p:cNvPr id="25" name="Text 22"/>
          <p:cNvSpPr/>
          <p:nvPr/>
        </p:nvSpPr>
        <p:spPr>
          <a:xfrm>
            <a:off x="1314450" y="2475812"/>
            <a:ext cx="2357438" cy="257175"/>
          </a:xfrm>
          <a:prstGeom prst="rect">
            <a:avLst/>
          </a:prstGeom>
          <a:noFill/>
          <a:ln/>
        </p:spPr>
        <p:txBody>
          <a:bodyPr wrap="square" lIns="8509" tIns="51054" rIns="8509" bIns="8509" rtlCol="0" anchor="t">
            <a:spAutoFit/>
          </a:bodyPr>
          <a:lstStyle/>
          <a:p>
            <a:pPr algn="l" indent="0" marL="0">
              <a:lnSpc>
                <a:spcPct val="97600"/>
              </a:lnSpc>
              <a:buNone/>
            </a:pPr>
            <a:r>
              <a:rPr lang="en-US" sz="600" b="1" dirty="0">
                <a:solidFill>
                  <a:srgbClr val="1E63FF"/>
                </a:solidFill>
                <a:latin typeface="Inter Bold" pitchFamily="34" charset="0"/>
                <a:ea typeface="Inter Bold" pitchFamily="34" charset="-122"/>
                <a:cs typeface="Inter Bold" pitchFamily="34" charset="-120"/>
              </a:rPr>
              <a:t>Claude Cowork</a:t>
            </a:r>
            <a:endParaRPr lang="en-US" sz="600" dirty="0"/>
          </a:p>
        </p:txBody>
      </p:sp>
      <p:sp>
        <p:nvSpPr>
          <p:cNvPr id="26" name="Text 23"/>
          <p:cNvSpPr/>
          <p:nvPr/>
        </p:nvSpPr>
        <p:spPr>
          <a:xfrm>
            <a:off x="3671888" y="2475812"/>
            <a:ext cx="5043488" cy="257175"/>
          </a:xfrm>
          <a:prstGeom prst="rect">
            <a:avLst/>
          </a:prstGeom>
          <a:noFill/>
          <a:ln/>
        </p:spPr>
        <p:txBody>
          <a:bodyPr wrap="square" lIns="8509" tIns="51054" rIns="8509" bIns="8509" rtlCol="0" anchor="t">
            <a:spAutoFit/>
          </a:bodyPr>
          <a:lstStyle/>
          <a:p>
            <a:pPr algn="l" indent="0" marL="0">
              <a:lnSpc>
                <a:spcPct val="97600"/>
              </a:lnSpc>
              <a:buNone/>
            </a:pPr>
            <a:r>
              <a:rPr lang="en-US" sz="650" dirty="0">
                <a:solidFill>
                  <a:srgbClr val="4B5F73"/>
                </a:solidFill>
                <a:latin typeface="Inter" pitchFamily="34" charset="0"/>
                <a:ea typeface="Inter" pitchFamily="34" charset="-122"/>
                <a:cs typeface="Inter" pitchFamily="34" charset="-120"/>
              </a:rPr>
              <a:t>非编码业务流程自动化，面向研究、运营、后台与知识工作。</a:t>
            </a:r>
            <a:endParaRPr lang="en-US" sz="650" dirty="0"/>
          </a:p>
        </p:txBody>
      </p:sp>
      <p:sp>
        <p:nvSpPr>
          <p:cNvPr id="27" name="Text 24"/>
          <p:cNvSpPr/>
          <p:nvPr/>
        </p:nvSpPr>
        <p:spPr>
          <a:xfrm>
            <a:off x="428625" y="2732987"/>
            <a:ext cx="885825" cy="257175"/>
          </a:xfrm>
          <a:prstGeom prst="rect">
            <a:avLst/>
          </a:prstGeom>
          <a:noFill/>
          <a:ln/>
        </p:spPr>
        <p:txBody>
          <a:bodyPr wrap="square" lIns="8509" tIns="51054" rIns="8509" bIns="8509" rtlCol="0" anchor="t">
            <a:spAutoFit/>
          </a:bodyPr>
          <a:lstStyle/>
          <a:p>
            <a:pPr algn="l" indent="0" marL="0">
              <a:lnSpc>
                <a:spcPct val="97600"/>
              </a:lnSpc>
              <a:buNone/>
            </a:pPr>
            <a:r>
              <a:rPr lang="en-US" sz="600" b="1" dirty="0">
                <a:solidFill>
                  <a:srgbClr val="102033"/>
                </a:solidFill>
                <a:latin typeface="Inter ExtraBold" pitchFamily="34" charset="0"/>
                <a:ea typeface="Inter ExtraBold" pitchFamily="34" charset="-122"/>
                <a:cs typeface="Inter ExtraBold" pitchFamily="34" charset="-120"/>
              </a:rPr>
              <a:t>安全产品</a:t>
            </a:r>
            <a:endParaRPr lang="en-US" sz="600" dirty="0"/>
          </a:p>
        </p:txBody>
      </p:sp>
      <p:sp>
        <p:nvSpPr>
          <p:cNvPr id="28" name="Text 25"/>
          <p:cNvSpPr/>
          <p:nvPr/>
        </p:nvSpPr>
        <p:spPr>
          <a:xfrm>
            <a:off x="1314450" y="2732987"/>
            <a:ext cx="2357438" cy="257175"/>
          </a:xfrm>
          <a:prstGeom prst="rect">
            <a:avLst/>
          </a:prstGeom>
          <a:noFill/>
          <a:ln/>
        </p:spPr>
        <p:txBody>
          <a:bodyPr wrap="square" lIns="8509" tIns="51054" rIns="8509" bIns="8509" rtlCol="0" anchor="t">
            <a:spAutoFit/>
          </a:bodyPr>
          <a:lstStyle/>
          <a:p>
            <a:pPr algn="l" indent="0" marL="0">
              <a:lnSpc>
                <a:spcPct val="97600"/>
              </a:lnSpc>
              <a:buNone/>
            </a:pPr>
            <a:r>
              <a:rPr lang="en-US" sz="600" b="1" dirty="0">
                <a:solidFill>
                  <a:srgbClr val="1E63FF"/>
                </a:solidFill>
                <a:latin typeface="Inter Bold" pitchFamily="34" charset="0"/>
                <a:ea typeface="Inter Bold" pitchFamily="34" charset="-122"/>
                <a:cs typeface="Inter Bold" pitchFamily="34" charset="-120"/>
              </a:rPr>
              <a:t>Claude Security</a:t>
            </a:r>
            <a:endParaRPr lang="en-US" sz="600" dirty="0"/>
          </a:p>
        </p:txBody>
      </p:sp>
      <p:sp>
        <p:nvSpPr>
          <p:cNvPr id="29" name="Text 26"/>
          <p:cNvSpPr/>
          <p:nvPr/>
        </p:nvSpPr>
        <p:spPr>
          <a:xfrm>
            <a:off x="3671888" y="2732987"/>
            <a:ext cx="5043488" cy="257175"/>
          </a:xfrm>
          <a:prstGeom prst="rect">
            <a:avLst/>
          </a:prstGeom>
          <a:noFill/>
          <a:ln/>
        </p:spPr>
        <p:txBody>
          <a:bodyPr wrap="square" lIns="8509" tIns="51054" rIns="8509" bIns="8509" rtlCol="0" anchor="t">
            <a:spAutoFit/>
          </a:bodyPr>
          <a:lstStyle/>
          <a:p>
            <a:pPr algn="l" indent="0" marL="0">
              <a:lnSpc>
                <a:spcPct val="97600"/>
              </a:lnSpc>
              <a:buNone/>
            </a:pPr>
            <a:r>
              <a:rPr lang="en-US" sz="650" dirty="0">
                <a:solidFill>
                  <a:srgbClr val="4B5F73"/>
                </a:solidFill>
                <a:latin typeface="Inter" pitchFamily="34" charset="0"/>
                <a:ea typeface="Inter" pitchFamily="34" charset="-122"/>
                <a:cs typeface="Inter" pitchFamily="34" charset="-120"/>
              </a:rPr>
              <a:t>面向安全运营、漏洞分析、告警处置和安全工程的能力组合。</a:t>
            </a:r>
            <a:endParaRPr lang="en-US" sz="650" dirty="0"/>
          </a:p>
        </p:txBody>
      </p:sp>
      <p:sp>
        <p:nvSpPr>
          <p:cNvPr id="30" name="Text 27"/>
          <p:cNvSpPr/>
          <p:nvPr/>
        </p:nvSpPr>
        <p:spPr>
          <a:xfrm>
            <a:off x="428625" y="2990162"/>
            <a:ext cx="885825" cy="257175"/>
          </a:xfrm>
          <a:prstGeom prst="rect">
            <a:avLst/>
          </a:prstGeom>
          <a:noFill/>
          <a:ln/>
        </p:spPr>
        <p:txBody>
          <a:bodyPr wrap="square" lIns="8509" tIns="51054" rIns="8509" bIns="8509" rtlCol="0" anchor="t">
            <a:spAutoFit/>
          </a:bodyPr>
          <a:lstStyle/>
          <a:p>
            <a:pPr algn="l" indent="0" marL="0">
              <a:lnSpc>
                <a:spcPct val="97600"/>
              </a:lnSpc>
              <a:buNone/>
            </a:pPr>
            <a:r>
              <a:rPr lang="en-US" sz="600" b="1" dirty="0">
                <a:solidFill>
                  <a:srgbClr val="102033"/>
                </a:solidFill>
                <a:latin typeface="Inter ExtraBold" pitchFamily="34" charset="0"/>
                <a:ea typeface="Inter ExtraBold" pitchFamily="34" charset="-122"/>
                <a:cs typeface="Inter ExtraBold" pitchFamily="34" charset="-120"/>
              </a:rPr>
              <a:t>平台 API</a:t>
            </a:r>
            <a:endParaRPr lang="en-US" sz="600" dirty="0"/>
          </a:p>
        </p:txBody>
      </p:sp>
      <p:sp>
        <p:nvSpPr>
          <p:cNvPr id="31" name="Text 28"/>
          <p:cNvSpPr/>
          <p:nvPr/>
        </p:nvSpPr>
        <p:spPr>
          <a:xfrm>
            <a:off x="1314450" y="2990162"/>
            <a:ext cx="2357438" cy="257175"/>
          </a:xfrm>
          <a:prstGeom prst="rect">
            <a:avLst/>
          </a:prstGeom>
          <a:noFill/>
          <a:ln/>
        </p:spPr>
        <p:txBody>
          <a:bodyPr wrap="square" lIns="8509" tIns="51054" rIns="8509" bIns="8509" rtlCol="0" anchor="t">
            <a:spAutoFit/>
          </a:bodyPr>
          <a:lstStyle/>
          <a:p>
            <a:pPr algn="l" indent="0" marL="0">
              <a:lnSpc>
                <a:spcPct val="97600"/>
              </a:lnSpc>
              <a:buNone/>
            </a:pPr>
            <a:r>
              <a:rPr lang="en-US" sz="600" b="1" dirty="0">
                <a:solidFill>
                  <a:srgbClr val="1E63FF"/>
                </a:solidFill>
                <a:latin typeface="Inter Bold" pitchFamily="34" charset="0"/>
                <a:ea typeface="Inter Bold" pitchFamily="34" charset="-122"/>
                <a:cs typeface="Inter Bold" pitchFamily="34" charset="-120"/>
              </a:rPr>
              <a:t>Messages / Batches / Files / Tool Use</a:t>
            </a:r>
            <a:endParaRPr lang="en-US" sz="600" dirty="0"/>
          </a:p>
        </p:txBody>
      </p:sp>
      <p:sp>
        <p:nvSpPr>
          <p:cNvPr id="32" name="Text 29"/>
          <p:cNvSpPr/>
          <p:nvPr/>
        </p:nvSpPr>
        <p:spPr>
          <a:xfrm>
            <a:off x="3671888" y="2990162"/>
            <a:ext cx="5043488" cy="257175"/>
          </a:xfrm>
          <a:prstGeom prst="rect">
            <a:avLst/>
          </a:prstGeom>
          <a:noFill/>
          <a:ln/>
        </p:spPr>
        <p:txBody>
          <a:bodyPr wrap="square" lIns="8509" tIns="51054" rIns="8509" bIns="8509" rtlCol="0" anchor="t">
            <a:spAutoFit/>
          </a:bodyPr>
          <a:lstStyle/>
          <a:p>
            <a:pPr algn="l" indent="0" marL="0">
              <a:lnSpc>
                <a:spcPct val="97600"/>
              </a:lnSpc>
              <a:buNone/>
            </a:pPr>
            <a:r>
              <a:rPr lang="en-US" sz="650" dirty="0">
                <a:solidFill>
                  <a:srgbClr val="4B5F73"/>
                </a:solidFill>
                <a:latin typeface="Inter" pitchFamily="34" charset="0"/>
                <a:ea typeface="Inter" pitchFamily="34" charset="-122"/>
                <a:cs typeface="Inter" pitchFamily="34" charset="-120"/>
              </a:rPr>
              <a:t>实时调用、异步批处理、文件上下文和外部工具调用。</a:t>
            </a:r>
            <a:endParaRPr lang="en-US" sz="650" dirty="0"/>
          </a:p>
        </p:txBody>
      </p:sp>
      <p:sp>
        <p:nvSpPr>
          <p:cNvPr id="33" name="Text 30"/>
          <p:cNvSpPr/>
          <p:nvPr/>
        </p:nvSpPr>
        <p:spPr>
          <a:xfrm>
            <a:off x="428625" y="3247337"/>
            <a:ext cx="885825" cy="257175"/>
          </a:xfrm>
          <a:prstGeom prst="rect">
            <a:avLst/>
          </a:prstGeom>
          <a:noFill/>
          <a:ln/>
        </p:spPr>
        <p:txBody>
          <a:bodyPr wrap="square" lIns="8509" tIns="51054" rIns="8509" bIns="8509" rtlCol="0" anchor="t">
            <a:spAutoFit/>
          </a:bodyPr>
          <a:lstStyle/>
          <a:p>
            <a:pPr algn="l" indent="0" marL="0">
              <a:lnSpc>
                <a:spcPct val="97600"/>
              </a:lnSpc>
              <a:buNone/>
            </a:pPr>
            <a:r>
              <a:rPr lang="en-US" sz="600" b="1" dirty="0">
                <a:solidFill>
                  <a:srgbClr val="102033"/>
                </a:solidFill>
                <a:latin typeface="Inter ExtraBold" pitchFamily="34" charset="0"/>
                <a:ea typeface="Inter ExtraBold" pitchFamily="34" charset="-122"/>
                <a:cs typeface="Inter ExtraBold" pitchFamily="34" charset="-120"/>
              </a:rPr>
              <a:t>智能体运行时</a:t>
            </a:r>
            <a:endParaRPr lang="en-US" sz="600" dirty="0"/>
          </a:p>
        </p:txBody>
      </p:sp>
      <p:sp>
        <p:nvSpPr>
          <p:cNvPr id="34" name="Text 31"/>
          <p:cNvSpPr/>
          <p:nvPr/>
        </p:nvSpPr>
        <p:spPr>
          <a:xfrm>
            <a:off x="1314450" y="3247337"/>
            <a:ext cx="2357438" cy="257175"/>
          </a:xfrm>
          <a:prstGeom prst="rect">
            <a:avLst/>
          </a:prstGeom>
          <a:noFill/>
          <a:ln/>
        </p:spPr>
        <p:txBody>
          <a:bodyPr wrap="square" lIns="8509" tIns="51054" rIns="8509" bIns="8509" rtlCol="0" anchor="t">
            <a:spAutoFit/>
          </a:bodyPr>
          <a:lstStyle/>
          <a:p>
            <a:pPr algn="l" indent="0" marL="0">
              <a:lnSpc>
                <a:spcPct val="97600"/>
              </a:lnSpc>
              <a:buNone/>
            </a:pPr>
            <a:r>
              <a:rPr lang="en-US" sz="600" b="1" dirty="0">
                <a:solidFill>
                  <a:srgbClr val="1E63FF"/>
                </a:solidFill>
                <a:latin typeface="Inter Bold" pitchFamily="34" charset="0"/>
                <a:ea typeface="Inter Bold" pitchFamily="34" charset="-122"/>
                <a:cs typeface="Inter Bold" pitchFamily="34" charset="-120"/>
              </a:rPr>
              <a:t>Agents / Sessions / Environments</a:t>
            </a:r>
            <a:endParaRPr lang="en-US" sz="600" dirty="0"/>
          </a:p>
        </p:txBody>
      </p:sp>
      <p:sp>
        <p:nvSpPr>
          <p:cNvPr id="35" name="Text 32"/>
          <p:cNvSpPr/>
          <p:nvPr/>
        </p:nvSpPr>
        <p:spPr>
          <a:xfrm>
            <a:off x="3671888" y="3247337"/>
            <a:ext cx="5043488" cy="257175"/>
          </a:xfrm>
          <a:prstGeom prst="rect">
            <a:avLst/>
          </a:prstGeom>
          <a:noFill/>
          <a:ln/>
        </p:spPr>
        <p:txBody>
          <a:bodyPr wrap="square" lIns="8509" tIns="51054" rIns="8509" bIns="8509" rtlCol="0" anchor="t">
            <a:spAutoFit/>
          </a:bodyPr>
          <a:lstStyle/>
          <a:p>
            <a:pPr algn="l" indent="0" marL="0">
              <a:lnSpc>
                <a:spcPct val="97600"/>
              </a:lnSpc>
              <a:buNone/>
            </a:pPr>
            <a:r>
              <a:rPr lang="en-US" sz="650" dirty="0">
                <a:solidFill>
                  <a:srgbClr val="4B5F73"/>
                </a:solidFill>
                <a:latin typeface="Inter" pitchFamily="34" charset="0"/>
                <a:ea typeface="Inter" pitchFamily="34" charset="-122"/>
                <a:cs typeface="Inter" pitchFamily="34" charset="-120"/>
              </a:rPr>
              <a:t>支持长任务、状态管理、环境隔离和企业智能体构建。</a:t>
            </a:r>
            <a:endParaRPr lang="en-US" sz="650" dirty="0"/>
          </a:p>
        </p:txBody>
      </p:sp>
      <p:sp>
        <p:nvSpPr>
          <p:cNvPr id="36" name="Text 33"/>
          <p:cNvSpPr/>
          <p:nvPr/>
        </p:nvSpPr>
        <p:spPr>
          <a:xfrm>
            <a:off x="428625" y="3504512"/>
            <a:ext cx="885825" cy="257175"/>
          </a:xfrm>
          <a:prstGeom prst="rect">
            <a:avLst/>
          </a:prstGeom>
          <a:noFill/>
          <a:ln/>
        </p:spPr>
        <p:txBody>
          <a:bodyPr wrap="square" lIns="8509" tIns="51054" rIns="8509" bIns="8509" rtlCol="0" anchor="t">
            <a:spAutoFit/>
          </a:bodyPr>
          <a:lstStyle/>
          <a:p>
            <a:pPr algn="l" indent="0" marL="0">
              <a:lnSpc>
                <a:spcPct val="97600"/>
              </a:lnSpc>
              <a:buNone/>
            </a:pPr>
            <a:r>
              <a:rPr lang="en-US" sz="600" b="1" dirty="0">
                <a:solidFill>
                  <a:srgbClr val="102033"/>
                </a:solidFill>
                <a:latin typeface="Inter ExtraBold" pitchFamily="34" charset="0"/>
                <a:ea typeface="Inter ExtraBold" pitchFamily="34" charset="-122"/>
                <a:cs typeface="Inter ExtraBold" pitchFamily="34" charset="-120"/>
              </a:rPr>
              <a:t>上下文生态</a:t>
            </a:r>
            <a:endParaRPr lang="en-US" sz="600" dirty="0"/>
          </a:p>
        </p:txBody>
      </p:sp>
      <p:sp>
        <p:nvSpPr>
          <p:cNvPr id="37" name="Text 34"/>
          <p:cNvSpPr/>
          <p:nvPr/>
        </p:nvSpPr>
        <p:spPr>
          <a:xfrm>
            <a:off x="1314450" y="3504512"/>
            <a:ext cx="2357438" cy="257175"/>
          </a:xfrm>
          <a:prstGeom prst="rect">
            <a:avLst/>
          </a:prstGeom>
          <a:noFill/>
          <a:ln/>
        </p:spPr>
        <p:txBody>
          <a:bodyPr wrap="square" lIns="8509" tIns="51054" rIns="8509" bIns="8509" rtlCol="0" anchor="t">
            <a:spAutoFit/>
          </a:bodyPr>
          <a:lstStyle/>
          <a:p>
            <a:pPr algn="l" indent="0" marL="0">
              <a:lnSpc>
                <a:spcPct val="97600"/>
              </a:lnSpc>
              <a:buNone/>
            </a:pPr>
            <a:r>
              <a:rPr lang="en-US" sz="600" b="1" dirty="0">
                <a:solidFill>
                  <a:srgbClr val="1E63FF"/>
                </a:solidFill>
                <a:latin typeface="Inter Bold" pitchFamily="34" charset="0"/>
                <a:ea typeface="Inter Bold" pitchFamily="34" charset="-122"/>
                <a:cs typeface="Inter Bold" pitchFamily="34" charset="-120"/>
              </a:rPr>
              <a:t>Projects / Artifacts / Skills / Sub-agents</a:t>
            </a:r>
            <a:endParaRPr lang="en-US" sz="600" dirty="0"/>
          </a:p>
        </p:txBody>
      </p:sp>
      <p:sp>
        <p:nvSpPr>
          <p:cNvPr id="38" name="Text 35"/>
          <p:cNvSpPr/>
          <p:nvPr/>
        </p:nvSpPr>
        <p:spPr>
          <a:xfrm>
            <a:off x="3671888" y="3504512"/>
            <a:ext cx="5043488" cy="257175"/>
          </a:xfrm>
          <a:prstGeom prst="rect">
            <a:avLst/>
          </a:prstGeom>
          <a:noFill/>
          <a:ln/>
        </p:spPr>
        <p:txBody>
          <a:bodyPr wrap="square" lIns="8509" tIns="51054" rIns="8509" bIns="8509" rtlCol="0" anchor="t">
            <a:spAutoFit/>
          </a:bodyPr>
          <a:lstStyle/>
          <a:p>
            <a:pPr algn="l" indent="0" marL="0">
              <a:lnSpc>
                <a:spcPct val="97600"/>
              </a:lnSpc>
              <a:buNone/>
            </a:pPr>
            <a:r>
              <a:rPr lang="en-US" sz="650" dirty="0">
                <a:solidFill>
                  <a:srgbClr val="4B5F73"/>
                </a:solidFill>
                <a:latin typeface="Inter" pitchFamily="34" charset="0"/>
                <a:ea typeface="Inter" pitchFamily="34" charset="-122"/>
                <a:cs typeface="Inter" pitchFamily="34" charset="-120"/>
              </a:rPr>
              <a:t>组织资料、输出物、SOP 和专业角色能力的复用机制。</a:t>
            </a:r>
            <a:endParaRPr lang="en-US" sz="650" dirty="0"/>
          </a:p>
        </p:txBody>
      </p:sp>
      <p:sp>
        <p:nvSpPr>
          <p:cNvPr id="39" name="Text 36"/>
          <p:cNvSpPr/>
          <p:nvPr/>
        </p:nvSpPr>
        <p:spPr>
          <a:xfrm>
            <a:off x="428625" y="3761687"/>
            <a:ext cx="885825" cy="257175"/>
          </a:xfrm>
          <a:prstGeom prst="rect">
            <a:avLst/>
          </a:prstGeom>
          <a:noFill/>
          <a:ln/>
        </p:spPr>
        <p:txBody>
          <a:bodyPr wrap="square" lIns="8509" tIns="51054" rIns="8509" bIns="8509" rtlCol="0" anchor="t">
            <a:spAutoFit/>
          </a:bodyPr>
          <a:lstStyle/>
          <a:p>
            <a:pPr algn="l" indent="0" marL="0">
              <a:lnSpc>
                <a:spcPct val="97600"/>
              </a:lnSpc>
              <a:buNone/>
            </a:pPr>
            <a:r>
              <a:rPr lang="en-US" sz="600" b="1" dirty="0">
                <a:solidFill>
                  <a:srgbClr val="102033"/>
                </a:solidFill>
                <a:latin typeface="Inter ExtraBold" pitchFamily="34" charset="0"/>
                <a:ea typeface="Inter ExtraBold" pitchFamily="34" charset="-122"/>
                <a:cs typeface="Inter ExtraBold" pitchFamily="34" charset="-120"/>
              </a:rPr>
              <a:t>连接生态</a:t>
            </a:r>
            <a:endParaRPr lang="en-US" sz="600" dirty="0"/>
          </a:p>
        </p:txBody>
      </p:sp>
      <p:sp>
        <p:nvSpPr>
          <p:cNvPr id="40" name="Text 37"/>
          <p:cNvSpPr/>
          <p:nvPr/>
        </p:nvSpPr>
        <p:spPr>
          <a:xfrm>
            <a:off x="1314450" y="3761687"/>
            <a:ext cx="2357438" cy="257175"/>
          </a:xfrm>
          <a:prstGeom prst="rect">
            <a:avLst/>
          </a:prstGeom>
          <a:noFill/>
          <a:ln/>
        </p:spPr>
        <p:txBody>
          <a:bodyPr wrap="square" lIns="8509" tIns="51054" rIns="8509" bIns="8509" rtlCol="0" anchor="t">
            <a:spAutoFit/>
          </a:bodyPr>
          <a:lstStyle/>
          <a:p>
            <a:pPr algn="l" indent="0" marL="0">
              <a:lnSpc>
                <a:spcPct val="97600"/>
              </a:lnSpc>
              <a:buNone/>
            </a:pPr>
            <a:r>
              <a:rPr lang="en-US" sz="600" b="1" dirty="0">
                <a:solidFill>
                  <a:srgbClr val="1E63FF"/>
                </a:solidFill>
                <a:latin typeface="Inter Bold" pitchFamily="34" charset="0"/>
                <a:ea typeface="Inter Bold" pitchFamily="34" charset="-122"/>
                <a:cs typeface="Inter Bold" pitchFamily="34" charset="-120"/>
              </a:rPr>
              <a:t>MCP Connectors / Slack / M365 / Chrome</a:t>
            </a:r>
            <a:endParaRPr lang="en-US" sz="600" dirty="0"/>
          </a:p>
        </p:txBody>
      </p:sp>
      <p:sp>
        <p:nvSpPr>
          <p:cNvPr id="41" name="Text 38"/>
          <p:cNvSpPr/>
          <p:nvPr/>
        </p:nvSpPr>
        <p:spPr>
          <a:xfrm>
            <a:off x="3671888" y="3761687"/>
            <a:ext cx="5043488" cy="257175"/>
          </a:xfrm>
          <a:prstGeom prst="rect">
            <a:avLst/>
          </a:prstGeom>
          <a:noFill/>
          <a:ln/>
        </p:spPr>
        <p:txBody>
          <a:bodyPr wrap="square" lIns="8509" tIns="51054" rIns="8509" bIns="8509" rtlCol="0" anchor="t">
            <a:spAutoFit/>
          </a:bodyPr>
          <a:lstStyle/>
          <a:p>
            <a:pPr algn="l" indent="0" marL="0">
              <a:lnSpc>
                <a:spcPct val="97600"/>
              </a:lnSpc>
              <a:buNone/>
            </a:pPr>
            <a:r>
              <a:rPr lang="en-US" sz="650" dirty="0">
                <a:solidFill>
                  <a:srgbClr val="4B5F73"/>
                </a:solidFill>
                <a:latin typeface="Inter" pitchFamily="34" charset="0"/>
                <a:ea typeface="Inter" pitchFamily="34" charset="-122"/>
                <a:cs typeface="Inter" pitchFamily="34" charset="-120"/>
              </a:rPr>
              <a:t>接入 SaaS、浏览器与企业数据源，是企业落地关键。</a:t>
            </a:r>
            <a:endParaRPr lang="en-US" sz="650" dirty="0"/>
          </a:p>
        </p:txBody>
      </p:sp>
      <p:sp>
        <p:nvSpPr>
          <p:cNvPr id="42" name="Text 39"/>
          <p:cNvSpPr/>
          <p:nvPr/>
        </p:nvSpPr>
        <p:spPr>
          <a:xfrm>
            <a:off x="428625" y="4018862"/>
            <a:ext cx="885825" cy="269788"/>
          </a:xfrm>
          <a:prstGeom prst="rect">
            <a:avLst/>
          </a:prstGeom>
          <a:noFill/>
          <a:ln/>
        </p:spPr>
        <p:txBody>
          <a:bodyPr wrap="square" lIns="8509" tIns="51054" rIns="8509" bIns="8509" rtlCol="0" anchor="t">
            <a:spAutoFit/>
          </a:bodyPr>
          <a:lstStyle/>
          <a:p>
            <a:pPr algn="l" indent="0" marL="0">
              <a:lnSpc>
                <a:spcPct val="97600"/>
              </a:lnSpc>
              <a:buNone/>
            </a:pPr>
            <a:r>
              <a:rPr lang="en-US" sz="600" b="1" dirty="0">
                <a:solidFill>
                  <a:srgbClr val="102033"/>
                </a:solidFill>
                <a:latin typeface="Inter ExtraBold" pitchFamily="34" charset="0"/>
                <a:ea typeface="Inter ExtraBold" pitchFamily="34" charset="-122"/>
                <a:cs typeface="Inter ExtraBold" pitchFamily="34" charset="-120"/>
              </a:rPr>
              <a:t>云渠道</a:t>
            </a:r>
            <a:endParaRPr lang="en-US" sz="600" dirty="0"/>
          </a:p>
        </p:txBody>
      </p:sp>
      <p:sp>
        <p:nvSpPr>
          <p:cNvPr id="43" name="Text 40"/>
          <p:cNvSpPr/>
          <p:nvPr/>
        </p:nvSpPr>
        <p:spPr>
          <a:xfrm>
            <a:off x="1314450" y="4018862"/>
            <a:ext cx="2357438" cy="269788"/>
          </a:xfrm>
          <a:prstGeom prst="rect">
            <a:avLst/>
          </a:prstGeom>
          <a:noFill/>
          <a:ln/>
        </p:spPr>
        <p:txBody>
          <a:bodyPr wrap="square" lIns="8509" tIns="51054" rIns="8509" bIns="8509" rtlCol="0" anchor="t">
            <a:spAutoFit/>
          </a:bodyPr>
          <a:lstStyle/>
          <a:p>
            <a:pPr algn="l" indent="0" marL="0">
              <a:lnSpc>
                <a:spcPct val="97600"/>
              </a:lnSpc>
              <a:buNone/>
            </a:pPr>
            <a:r>
              <a:rPr lang="en-US" sz="600" b="1" dirty="0">
                <a:solidFill>
                  <a:srgbClr val="1E63FF"/>
                </a:solidFill>
                <a:latin typeface="Inter Bold" pitchFamily="34" charset="0"/>
                <a:ea typeface="Inter Bold" pitchFamily="34" charset="-122"/>
                <a:cs typeface="Inter Bold" pitchFamily="34" charset="-120"/>
              </a:rPr>
              <a:t>AWS Bedrock / Google Vertex AI / Microsoft Foundry / Marketplace</a:t>
            </a:r>
            <a:endParaRPr lang="en-US" sz="600" dirty="0"/>
          </a:p>
        </p:txBody>
      </p:sp>
      <p:sp>
        <p:nvSpPr>
          <p:cNvPr id="44" name="Text 41"/>
          <p:cNvSpPr/>
          <p:nvPr/>
        </p:nvSpPr>
        <p:spPr>
          <a:xfrm>
            <a:off x="3671888" y="4018862"/>
            <a:ext cx="5043488" cy="269788"/>
          </a:xfrm>
          <a:prstGeom prst="rect">
            <a:avLst/>
          </a:prstGeom>
          <a:noFill/>
          <a:ln/>
        </p:spPr>
        <p:txBody>
          <a:bodyPr wrap="square" lIns="8509" tIns="51054" rIns="8509" bIns="8509" rtlCol="0" anchor="t">
            <a:spAutoFit/>
          </a:bodyPr>
          <a:lstStyle/>
          <a:p>
            <a:pPr algn="l" indent="0" marL="0">
              <a:lnSpc>
                <a:spcPct val="97600"/>
              </a:lnSpc>
              <a:buNone/>
            </a:pPr>
            <a:r>
              <a:rPr lang="en-US" sz="650" dirty="0">
                <a:solidFill>
                  <a:srgbClr val="4B5F73"/>
                </a:solidFill>
                <a:latin typeface="Inter" pitchFamily="34" charset="0"/>
                <a:ea typeface="Inter" pitchFamily="34" charset="-122"/>
                <a:cs typeface="Inter" pitchFamily="34" charset="-120"/>
              </a:rPr>
              <a:t>影响采购、数据驻留、IAM、账单、合规和云原生集成速度。</a:t>
            </a:r>
            <a:endParaRPr lang="en-US" sz="650" dirty="0"/>
          </a:p>
        </p:txBody>
      </p:sp>
      <p:sp>
        <p:nvSpPr>
          <p:cNvPr id="45" name="Text 42"/>
          <p:cNvSpPr/>
          <p:nvPr/>
        </p:nvSpPr>
        <p:spPr>
          <a:xfrm>
            <a:off x="428625" y="4363659"/>
            <a:ext cx="8286750" cy="131992"/>
          </a:xfrm>
          <a:prstGeom prst="rect">
            <a:avLst/>
          </a:prstGeom>
          <a:noFill/>
          <a:ln/>
        </p:spPr>
        <p:txBody>
          <a:bodyPr wrap="none" lIns="0" tIns="42545" rIns="0" bIns="0" rtlCol="0" anchor="t">
            <a:spAutoFit/>
          </a:bodyPr>
          <a:lstStyle/>
          <a:p>
            <a:pPr algn="l" indent="0" marL="0">
              <a:lnSpc>
                <a:spcPct val="96000"/>
              </a:lnSpc>
              <a:buNone/>
            </a:pPr>
            <a:r>
              <a:rPr lang="en-US" sz="550" dirty="0">
                <a:solidFill>
                  <a:srgbClr val="6B7A8A"/>
                </a:solidFill>
                <a:latin typeface="Inter" pitchFamily="34" charset="0"/>
                <a:ea typeface="Inter" pitchFamily="34" charset="-122"/>
                <a:cs typeface="Inter" pitchFamily="34" charset="-120"/>
              </a:rPr>
              <a:t>来源：Claude pricing；Claude product pages；Anthropic API docs；AWS / Google / Microsoft 相关 Anthropic 官方新闻与产品页。</a:t>
            </a:r>
            <a:endParaRPr lang="en-US" sz="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314325"/>
            <a:ext cx="8286750" cy="98227"/>
          </a:xfrm>
          <a:prstGeom prst="rect">
            <a:avLst/>
          </a:prstGeom>
          <a:noFill/>
          <a:ln/>
        </p:spPr>
        <p:txBody>
          <a:bodyPr wrap="square" lIns="0" tIns="0" rIns="0" bIns="0" rtlCol="0" anchor="t">
            <a:spAutoFit/>
          </a:bodyPr>
          <a:lstStyle/>
          <a:p>
            <a:pPr algn="l" indent="0" marL="0">
              <a:buNone/>
            </a:pPr>
            <a:r>
              <a:rPr lang="en-US" sz="600" b="1" spc="2" kern="0" dirty="0">
                <a:solidFill>
                  <a:srgbClr val="0B8F5A"/>
                </a:solidFill>
                <a:latin typeface="Inter ExtraBold" pitchFamily="34" charset="0"/>
                <a:ea typeface="Inter ExtraBold" pitchFamily="34" charset="-122"/>
                <a:cs typeface="Inter ExtraBold" pitchFamily="34" charset="-120"/>
              </a:rPr>
              <a:t>ARCHITECTURE MAP</a:t>
            </a:r>
            <a:endParaRPr lang="en-US" sz="600" dirty="0"/>
          </a:p>
        </p:txBody>
      </p:sp>
      <p:sp>
        <p:nvSpPr>
          <p:cNvPr id="4" name="Text 1"/>
          <p:cNvSpPr/>
          <p:nvPr/>
        </p:nvSpPr>
        <p:spPr>
          <a:xfrm>
            <a:off x="428625" y="469702"/>
            <a:ext cx="8286750" cy="267165"/>
          </a:xfrm>
          <a:prstGeom prst="rect">
            <a:avLst/>
          </a:prstGeom>
          <a:noFill/>
          <a:ln/>
        </p:spPr>
        <p:txBody>
          <a:bodyPr wrap="none" lIns="0" tIns="0" rIns="0" bIns="0" rtlCol="0" anchor="t">
            <a:spAutoFit/>
          </a:bodyPr>
          <a:lstStyle/>
          <a:p>
            <a:pPr algn="l" indent="0" marL="0">
              <a:lnSpc>
                <a:spcPct val="88000"/>
              </a:lnSpc>
              <a:buNone/>
            </a:pPr>
            <a:r>
              <a:rPr lang="en-US" sz="1700" b="1" dirty="0">
                <a:solidFill>
                  <a:srgbClr val="102033"/>
                </a:solidFill>
                <a:latin typeface="Inter Bold" pitchFamily="34" charset="0"/>
                <a:ea typeface="Inter Bold" pitchFamily="34" charset="-122"/>
                <a:cs typeface="Inter Bold" pitchFamily="34" charset="-120"/>
              </a:rPr>
              <a:t>产品架构图：模型到企业落地</a:t>
            </a:r>
            <a:endParaRPr lang="en-US" sz="1700" dirty="0"/>
          </a:p>
        </p:txBody>
      </p:sp>
      <p:sp>
        <p:nvSpPr>
          <p:cNvPr id="5" name="Text 2"/>
          <p:cNvSpPr/>
          <p:nvPr/>
        </p:nvSpPr>
        <p:spPr>
          <a:xfrm>
            <a:off x="428625" y="794017"/>
            <a:ext cx="7715250" cy="140866"/>
          </a:xfrm>
          <a:prstGeom prst="rect">
            <a:avLst/>
          </a:prstGeom>
          <a:noFill/>
          <a:ln/>
        </p:spPr>
        <p:txBody>
          <a:bodyPr wrap="none" lIns="0" tIns="0" rIns="0" bIns="0" rtlCol="0" anchor="t">
            <a:spAutoFit/>
          </a:bodyPr>
          <a:lstStyle/>
          <a:p>
            <a:pPr algn="l" indent="0" marL="0">
              <a:lnSpc>
                <a:spcPct val="108800"/>
              </a:lnSpc>
              <a:buNone/>
            </a:pPr>
            <a:r>
              <a:rPr lang="en-US" sz="750" dirty="0">
                <a:solidFill>
                  <a:srgbClr val="4B5F73"/>
                </a:solidFill>
                <a:latin typeface="Inter" pitchFamily="34" charset="0"/>
                <a:ea typeface="Inter" pitchFamily="34" charset="-122"/>
                <a:cs typeface="Inter" pitchFamily="34" charset="-120"/>
              </a:rPr>
              <a:t>Anthropic 的产品架构可理解为：企业入口将任务转为上下文，平台层调度模型与工具，安全治理层贯穿全链路，云渠道决定部署边界。</a:t>
            </a:r>
            <a:endParaRPr lang="en-US" sz="750" dirty="0"/>
          </a:p>
        </p:txBody>
      </p:sp>
      <p:sp>
        <p:nvSpPr>
          <p:cNvPr id="6" name="Text 3"/>
          <p:cNvSpPr/>
          <p:nvPr/>
        </p:nvSpPr>
        <p:spPr>
          <a:xfrm>
            <a:off x="428625" y="1227776"/>
            <a:ext cx="1214438" cy="435769"/>
          </a:xfrm>
          <a:prstGeom prst="rect">
            <a:avLst/>
          </a:prstGeom>
          <a:noFill/>
          <a:ln/>
        </p:spPr>
        <p:txBody>
          <a:bodyPr wrap="none" lIns="0" tIns="0" rIns="0" bIns="0" rtlCol="0" anchor="t">
            <a:spAutoFit/>
          </a:bodyPr>
          <a:lstStyle/>
          <a:p>
            <a:pPr algn="l" indent="0" marL="0">
              <a:buNone/>
            </a:pPr>
            <a:r>
              <a:rPr lang="en-US" sz="650" b="1" spc="1" kern="0" dirty="0">
                <a:solidFill>
                  <a:srgbClr val="0B8F5A"/>
                </a:solidFill>
                <a:latin typeface="Inter ExtraBold" pitchFamily="34" charset="0"/>
                <a:ea typeface="Inter ExtraBold" pitchFamily="34" charset="-122"/>
                <a:cs typeface="Inter ExtraBold" pitchFamily="34" charset="-120"/>
              </a:rPr>
              <a:t>入口</a:t>
            </a:r>
            <a:endParaRPr lang="en-US" sz="650" dirty="0"/>
          </a:p>
        </p:txBody>
      </p:sp>
      <p:sp>
        <p:nvSpPr>
          <p:cNvPr id="7" name="Text 4"/>
          <p:cNvSpPr/>
          <p:nvPr/>
        </p:nvSpPr>
        <p:spPr>
          <a:xfrm>
            <a:off x="1728788" y="1284926"/>
            <a:ext cx="1328738" cy="111621"/>
          </a:xfrm>
          <a:prstGeom prst="rect">
            <a:avLst/>
          </a:prstGeom>
          <a:noFill/>
          <a:ln/>
        </p:spPr>
        <p:txBody>
          <a:bodyPr wrap="none" lIns="0" tIns="0" rIns="0" bIns="0" rtlCol="0" anchor="t">
            <a:spAutoFit/>
          </a:bodyPr>
          <a:lstStyle/>
          <a:p>
            <a:pPr algn="l" indent="0" marL="0">
              <a:lnSpc>
                <a:spcPct val="100000"/>
              </a:lnSpc>
              <a:buNone/>
            </a:pPr>
            <a:r>
              <a:rPr lang="en-US" sz="600" b="1" dirty="0">
                <a:solidFill>
                  <a:srgbClr val="102033"/>
                </a:solidFill>
                <a:latin typeface="Inter Bold" pitchFamily="34" charset="0"/>
                <a:ea typeface="Inter Bold" pitchFamily="34" charset="-122"/>
                <a:cs typeface="Inter Bold" pitchFamily="34" charset="-120"/>
              </a:rPr>
              <a:t>员工入口</a:t>
            </a:r>
            <a:endParaRPr lang="en-US" sz="600" dirty="0"/>
          </a:p>
        </p:txBody>
      </p:sp>
      <p:sp>
        <p:nvSpPr>
          <p:cNvPr id="8" name="Text 5"/>
          <p:cNvSpPr/>
          <p:nvPr/>
        </p:nvSpPr>
        <p:spPr>
          <a:xfrm>
            <a:off x="1728788" y="1423336"/>
            <a:ext cx="714794" cy="100013"/>
          </a:xfrm>
          <a:prstGeom prst="rect">
            <a:avLst/>
          </a:prstGeom>
          <a:noFill/>
          <a:ln/>
        </p:spPr>
        <p:txBody>
          <a:bodyPr wrap="none" lIns="0" tIns="0" rIns="0" bIns="0"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Claude Enterprise</a:t>
            </a:r>
            <a:endParaRPr lang="en-US" sz="650" dirty="0"/>
          </a:p>
        </p:txBody>
      </p:sp>
      <p:sp>
        <p:nvSpPr>
          <p:cNvPr id="9" name="Text 6"/>
          <p:cNvSpPr/>
          <p:nvPr/>
        </p:nvSpPr>
        <p:spPr>
          <a:xfrm>
            <a:off x="3143250" y="1284926"/>
            <a:ext cx="1328738" cy="111621"/>
          </a:xfrm>
          <a:prstGeom prst="rect">
            <a:avLst/>
          </a:prstGeom>
          <a:noFill/>
          <a:ln/>
        </p:spPr>
        <p:txBody>
          <a:bodyPr wrap="none" lIns="0" tIns="0" rIns="0" bIns="0" rtlCol="0" anchor="t">
            <a:spAutoFit/>
          </a:bodyPr>
          <a:lstStyle/>
          <a:p>
            <a:pPr algn="l" indent="0" marL="0">
              <a:lnSpc>
                <a:spcPct val="100000"/>
              </a:lnSpc>
              <a:buNone/>
            </a:pPr>
            <a:r>
              <a:rPr lang="en-US" sz="600" b="1" dirty="0">
                <a:solidFill>
                  <a:srgbClr val="102033"/>
                </a:solidFill>
                <a:latin typeface="Inter Bold" pitchFamily="34" charset="0"/>
                <a:ea typeface="Inter Bold" pitchFamily="34" charset="-122"/>
                <a:cs typeface="Inter Bold" pitchFamily="34" charset="-120"/>
              </a:rPr>
              <a:t>工程入口</a:t>
            </a:r>
            <a:endParaRPr lang="en-US" sz="600" dirty="0"/>
          </a:p>
        </p:txBody>
      </p:sp>
      <p:sp>
        <p:nvSpPr>
          <p:cNvPr id="10" name="Text 7"/>
          <p:cNvSpPr/>
          <p:nvPr/>
        </p:nvSpPr>
        <p:spPr>
          <a:xfrm>
            <a:off x="3143250" y="1423336"/>
            <a:ext cx="521271" cy="100013"/>
          </a:xfrm>
          <a:prstGeom prst="rect">
            <a:avLst/>
          </a:prstGeom>
          <a:noFill/>
          <a:ln/>
        </p:spPr>
        <p:txBody>
          <a:bodyPr wrap="none" lIns="0" tIns="0" rIns="0" bIns="0"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Claude Code</a:t>
            </a:r>
            <a:endParaRPr lang="en-US" sz="650" dirty="0"/>
          </a:p>
        </p:txBody>
      </p:sp>
      <p:sp>
        <p:nvSpPr>
          <p:cNvPr id="11" name="Text 8"/>
          <p:cNvSpPr/>
          <p:nvPr/>
        </p:nvSpPr>
        <p:spPr>
          <a:xfrm>
            <a:off x="4557713" y="1284926"/>
            <a:ext cx="1328738" cy="111621"/>
          </a:xfrm>
          <a:prstGeom prst="rect">
            <a:avLst/>
          </a:prstGeom>
          <a:noFill/>
          <a:ln/>
        </p:spPr>
        <p:txBody>
          <a:bodyPr wrap="none" lIns="0" tIns="0" rIns="0" bIns="0" rtlCol="0" anchor="t">
            <a:spAutoFit/>
          </a:bodyPr>
          <a:lstStyle/>
          <a:p>
            <a:pPr algn="l" indent="0" marL="0">
              <a:lnSpc>
                <a:spcPct val="100000"/>
              </a:lnSpc>
              <a:buNone/>
            </a:pPr>
            <a:r>
              <a:rPr lang="en-US" sz="600" b="1" dirty="0">
                <a:solidFill>
                  <a:srgbClr val="102033"/>
                </a:solidFill>
                <a:latin typeface="Inter Bold" pitchFamily="34" charset="0"/>
                <a:ea typeface="Inter Bold" pitchFamily="34" charset="-122"/>
                <a:cs typeface="Inter Bold" pitchFamily="34" charset="-120"/>
              </a:rPr>
              <a:t>流程入口</a:t>
            </a:r>
            <a:endParaRPr lang="en-US" sz="600" dirty="0"/>
          </a:p>
        </p:txBody>
      </p:sp>
      <p:sp>
        <p:nvSpPr>
          <p:cNvPr id="12" name="Text 9"/>
          <p:cNvSpPr/>
          <p:nvPr/>
        </p:nvSpPr>
        <p:spPr>
          <a:xfrm>
            <a:off x="4557713" y="1423336"/>
            <a:ext cx="302689" cy="100013"/>
          </a:xfrm>
          <a:prstGeom prst="rect">
            <a:avLst/>
          </a:prstGeom>
          <a:noFill/>
          <a:ln/>
        </p:spPr>
        <p:txBody>
          <a:bodyPr wrap="none" lIns="0" tIns="0" rIns="0" bIns="0"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Cowork</a:t>
            </a:r>
            <a:endParaRPr lang="en-US" sz="650" dirty="0"/>
          </a:p>
        </p:txBody>
      </p:sp>
      <p:sp>
        <p:nvSpPr>
          <p:cNvPr id="13" name="Text 10"/>
          <p:cNvSpPr/>
          <p:nvPr/>
        </p:nvSpPr>
        <p:spPr>
          <a:xfrm>
            <a:off x="5972175" y="1284926"/>
            <a:ext cx="1328738" cy="111621"/>
          </a:xfrm>
          <a:prstGeom prst="rect">
            <a:avLst/>
          </a:prstGeom>
          <a:noFill/>
          <a:ln/>
        </p:spPr>
        <p:txBody>
          <a:bodyPr wrap="none" lIns="0" tIns="0" rIns="0" bIns="0" rtlCol="0" anchor="t">
            <a:spAutoFit/>
          </a:bodyPr>
          <a:lstStyle/>
          <a:p>
            <a:pPr algn="l" indent="0" marL="0">
              <a:lnSpc>
                <a:spcPct val="100000"/>
              </a:lnSpc>
              <a:buNone/>
            </a:pPr>
            <a:r>
              <a:rPr lang="en-US" sz="600" b="1" dirty="0">
                <a:solidFill>
                  <a:srgbClr val="102033"/>
                </a:solidFill>
                <a:latin typeface="Inter Bold" pitchFamily="34" charset="0"/>
                <a:ea typeface="Inter Bold" pitchFamily="34" charset="-122"/>
                <a:cs typeface="Inter Bold" pitchFamily="34" charset="-120"/>
              </a:rPr>
              <a:t>开发者入口</a:t>
            </a:r>
            <a:endParaRPr lang="en-US" sz="600" dirty="0"/>
          </a:p>
        </p:txBody>
      </p:sp>
      <p:sp>
        <p:nvSpPr>
          <p:cNvPr id="14" name="Text 11"/>
          <p:cNvSpPr/>
          <p:nvPr/>
        </p:nvSpPr>
        <p:spPr>
          <a:xfrm>
            <a:off x="5972175" y="1423336"/>
            <a:ext cx="545995" cy="100013"/>
          </a:xfrm>
          <a:prstGeom prst="rect">
            <a:avLst/>
          </a:prstGeom>
          <a:noFill/>
          <a:ln/>
        </p:spPr>
        <p:txBody>
          <a:bodyPr wrap="none" lIns="0" tIns="0" rIns="0" bIns="0"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API / Console</a:t>
            </a:r>
            <a:endParaRPr lang="en-US" sz="650" dirty="0"/>
          </a:p>
        </p:txBody>
      </p:sp>
      <p:sp>
        <p:nvSpPr>
          <p:cNvPr id="15" name="Text 12"/>
          <p:cNvSpPr/>
          <p:nvPr/>
        </p:nvSpPr>
        <p:spPr>
          <a:xfrm>
            <a:off x="7386638" y="1284926"/>
            <a:ext cx="1328738" cy="111621"/>
          </a:xfrm>
          <a:prstGeom prst="rect">
            <a:avLst/>
          </a:prstGeom>
          <a:noFill/>
          <a:ln/>
        </p:spPr>
        <p:txBody>
          <a:bodyPr wrap="none" lIns="0" tIns="0" rIns="0" bIns="0" rtlCol="0" anchor="t">
            <a:spAutoFit/>
          </a:bodyPr>
          <a:lstStyle/>
          <a:p>
            <a:pPr algn="l" indent="0" marL="0">
              <a:lnSpc>
                <a:spcPct val="100000"/>
              </a:lnSpc>
              <a:buNone/>
            </a:pPr>
            <a:r>
              <a:rPr lang="en-US" sz="600" b="1" dirty="0">
                <a:solidFill>
                  <a:srgbClr val="102033"/>
                </a:solidFill>
                <a:latin typeface="Inter Bold" pitchFamily="34" charset="0"/>
                <a:ea typeface="Inter Bold" pitchFamily="34" charset="-122"/>
                <a:cs typeface="Inter Bold" pitchFamily="34" charset="-120"/>
              </a:rPr>
              <a:t>云入口</a:t>
            </a:r>
            <a:endParaRPr lang="en-US" sz="600" dirty="0"/>
          </a:p>
        </p:txBody>
      </p:sp>
      <p:sp>
        <p:nvSpPr>
          <p:cNvPr id="16" name="Text 13"/>
          <p:cNvSpPr/>
          <p:nvPr/>
        </p:nvSpPr>
        <p:spPr>
          <a:xfrm>
            <a:off x="7386638" y="1423336"/>
            <a:ext cx="1057191" cy="100013"/>
          </a:xfrm>
          <a:prstGeom prst="rect">
            <a:avLst/>
          </a:prstGeom>
          <a:noFill/>
          <a:ln/>
        </p:spPr>
        <p:txBody>
          <a:bodyPr wrap="none" lIns="0" tIns="0" rIns="0" bIns="0"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Bedrock / Vertex / Foundry</a:t>
            </a:r>
            <a:endParaRPr lang="en-US" sz="650" dirty="0"/>
          </a:p>
        </p:txBody>
      </p:sp>
      <p:sp>
        <p:nvSpPr>
          <p:cNvPr id="17" name="Text 14"/>
          <p:cNvSpPr/>
          <p:nvPr/>
        </p:nvSpPr>
        <p:spPr>
          <a:xfrm>
            <a:off x="428625" y="1742126"/>
            <a:ext cx="1214438" cy="435769"/>
          </a:xfrm>
          <a:prstGeom prst="rect">
            <a:avLst/>
          </a:prstGeom>
          <a:noFill/>
          <a:ln/>
        </p:spPr>
        <p:txBody>
          <a:bodyPr wrap="none" lIns="0" tIns="0" rIns="0" bIns="0" rtlCol="0" anchor="t">
            <a:spAutoFit/>
          </a:bodyPr>
          <a:lstStyle/>
          <a:p>
            <a:pPr algn="l" indent="0" marL="0">
              <a:buNone/>
            </a:pPr>
            <a:r>
              <a:rPr lang="en-US" sz="650" b="1" spc="1" kern="0" dirty="0">
                <a:solidFill>
                  <a:srgbClr val="0B8F5A"/>
                </a:solidFill>
                <a:latin typeface="Inter ExtraBold" pitchFamily="34" charset="0"/>
                <a:ea typeface="Inter ExtraBold" pitchFamily="34" charset="-122"/>
                <a:cs typeface="Inter ExtraBold" pitchFamily="34" charset="-120"/>
              </a:rPr>
              <a:t>应用层</a:t>
            </a:r>
            <a:endParaRPr lang="en-US" sz="650" dirty="0"/>
          </a:p>
        </p:txBody>
      </p:sp>
      <p:sp>
        <p:nvSpPr>
          <p:cNvPr id="18" name="Text 15"/>
          <p:cNvSpPr/>
          <p:nvPr/>
        </p:nvSpPr>
        <p:spPr>
          <a:xfrm>
            <a:off x="1728788" y="1799276"/>
            <a:ext cx="1328738" cy="111621"/>
          </a:xfrm>
          <a:prstGeom prst="rect">
            <a:avLst/>
          </a:prstGeom>
          <a:noFill/>
          <a:ln/>
        </p:spPr>
        <p:txBody>
          <a:bodyPr wrap="none" lIns="0" tIns="0" rIns="0" bIns="0" rtlCol="0" anchor="t">
            <a:spAutoFit/>
          </a:bodyPr>
          <a:lstStyle/>
          <a:p>
            <a:pPr algn="l" indent="0" marL="0">
              <a:lnSpc>
                <a:spcPct val="100000"/>
              </a:lnSpc>
              <a:buNone/>
            </a:pPr>
            <a:r>
              <a:rPr lang="en-US" sz="600" b="1" dirty="0">
                <a:solidFill>
                  <a:srgbClr val="102033"/>
                </a:solidFill>
                <a:latin typeface="Inter Bold" pitchFamily="34" charset="0"/>
                <a:ea typeface="Inter Bold" pitchFamily="34" charset="-122"/>
                <a:cs typeface="Inter Bold" pitchFamily="34" charset="-120"/>
              </a:rPr>
              <a:t>聊天与分析</a:t>
            </a:r>
            <a:endParaRPr lang="en-US" sz="600" dirty="0"/>
          </a:p>
        </p:txBody>
      </p:sp>
      <p:sp>
        <p:nvSpPr>
          <p:cNvPr id="19" name="Text 16"/>
          <p:cNvSpPr/>
          <p:nvPr/>
        </p:nvSpPr>
        <p:spPr>
          <a:xfrm>
            <a:off x="1728788" y="1937686"/>
            <a:ext cx="714375" cy="100013"/>
          </a:xfrm>
          <a:prstGeom prst="rect">
            <a:avLst/>
          </a:prstGeom>
          <a:noFill/>
          <a:ln/>
        </p:spPr>
        <p:txBody>
          <a:bodyPr wrap="none" lIns="0" tIns="0" rIns="0" bIns="0"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文件、写作、研究</a:t>
            </a:r>
            <a:endParaRPr lang="en-US" sz="650" dirty="0"/>
          </a:p>
        </p:txBody>
      </p:sp>
      <p:sp>
        <p:nvSpPr>
          <p:cNvPr id="20" name="Text 17"/>
          <p:cNvSpPr/>
          <p:nvPr/>
        </p:nvSpPr>
        <p:spPr>
          <a:xfrm>
            <a:off x="3143250" y="1799276"/>
            <a:ext cx="1328738" cy="111621"/>
          </a:xfrm>
          <a:prstGeom prst="rect">
            <a:avLst/>
          </a:prstGeom>
          <a:noFill/>
          <a:ln/>
        </p:spPr>
        <p:txBody>
          <a:bodyPr wrap="none" lIns="0" tIns="0" rIns="0" bIns="0" rtlCol="0" anchor="t">
            <a:spAutoFit/>
          </a:bodyPr>
          <a:lstStyle/>
          <a:p>
            <a:pPr algn="l" indent="0" marL="0">
              <a:lnSpc>
                <a:spcPct val="100000"/>
              </a:lnSpc>
              <a:buNone/>
            </a:pPr>
            <a:r>
              <a:rPr lang="en-US" sz="600" b="1" dirty="0">
                <a:solidFill>
                  <a:srgbClr val="102033"/>
                </a:solidFill>
                <a:latin typeface="Inter Bold" pitchFamily="34" charset="0"/>
                <a:ea typeface="Inter Bold" pitchFamily="34" charset="-122"/>
                <a:cs typeface="Inter Bold" pitchFamily="34" charset="-120"/>
              </a:rPr>
              <a:t>代码代理</a:t>
            </a:r>
            <a:endParaRPr lang="en-US" sz="600" dirty="0"/>
          </a:p>
        </p:txBody>
      </p:sp>
      <p:sp>
        <p:nvSpPr>
          <p:cNvPr id="21" name="Text 18"/>
          <p:cNvSpPr/>
          <p:nvPr/>
        </p:nvSpPr>
        <p:spPr>
          <a:xfrm>
            <a:off x="3143250" y="1937686"/>
            <a:ext cx="714375" cy="100013"/>
          </a:xfrm>
          <a:prstGeom prst="rect">
            <a:avLst/>
          </a:prstGeom>
          <a:noFill/>
          <a:ln/>
        </p:spPr>
        <p:txBody>
          <a:bodyPr wrap="none" lIns="0" tIns="0" rIns="0" bIns="0"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理解、修改、测试</a:t>
            </a:r>
            <a:endParaRPr lang="en-US" sz="650" dirty="0"/>
          </a:p>
        </p:txBody>
      </p:sp>
      <p:sp>
        <p:nvSpPr>
          <p:cNvPr id="22" name="Text 19"/>
          <p:cNvSpPr/>
          <p:nvPr/>
        </p:nvSpPr>
        <p:spPr>
          <a:xfrm>
            <a:off x="4557713" y="1799276"/>
            <a:ext cx="1328738" cy="111621"/>
          </a:xfrm>
          <a:prstGeom prst="rect">
            <a:avLst/>
          </a:prstGeom>
          <a:noFill/>
          <a:ln/>
        </p:spPr>
        <p:txBody>
          <a:bodyPr wrap="none" lIns="0" tIns="0" rIns="0" bIns="0" rtlCol="0" anchor="t">
            <a:spAutoFit/>
          </a:bodyPr>
          <a:lstStyle/>
          <a:p>
            <a:pPr algn="l" indent="0" marL="0">
              <a:lnSpc>
                <a:spcPct val="100000"/>
              </a:lnSpc>
              <a:buNone/>
            </a:pPr>
            <a:r>
              <a:rPr lang="en-US" sz="600" b="1" dirty="0">
                <a:solidFill>
                  <a:srgbClr val="102033"/>
                </a:solidFill>
                <a:latin typeface="Inter Bold" pitchFamily="34" charset="0"/>
                <a:ea typeface="Inter Bold" pitchFamily="34" charset="-122"/>
                <a:cs typeface="Inter Bold" pitchFamily="34" charset="-120"/>
              </a:rPr>
              <a:t>任务代理</a:t>
            </a:r>
            <a:endParaRPr lang="en-US" sz="600" dirty="0"/>
          </a:p>
        </p:txBody>
      </p:sp>
      <p:sp>
        <p:nvSpPr>
          <p:cNvPr id="23" name="Text 20"/>
          <p:cNvSpPr/>
          <p:nvPr/>
        </p:nvSpPr>
        <p:spPr>
          <a:xfrm>
            <a:off x="4557713" y="1937686"/>
            <a:ext cx="803672" cy="100013"/>
          </a:xfrm>
          <a:prstGeom prst="rect">
            <a:avLst/>
          </a:prstGeom>
          <a:noFill/>
          <a:ln/>
        </p:spPr>
        <p:txBody>
          <a:bodyPr wrap="none" lIns="0" tIns="0" rIns="0" bIns="0"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浏览器、桌面、计划</a:t>
            </a:r>
            <a:endParaRPr lang="en-US" sz="650" dirty="0"/>
          </a:p>
        </p:txBody>
      </p:sp>
      <p:sp>
        <p:nvSpPr>
          <p:cNvPr id="24" name="Text 21"/>
          <p:cNvSpPr/>
          <p:nvPr/>
        </p:nvSpPr>
        <p:spPr>
          <a:xfrm>
            <a:off x="5972175" y="1799276"/>
            <a:ext cx="1328738" cy="111621"/>
          </a:xfrm>
          <a:prstGeom prst="rect">
            <a:avLst/>
          </a:prstGeom>
          <a:noFill/>
          <a:ln/>
        </p:spPr>
        <p:txBody>
          <a:bodyPr wrap="none" lIns="0" tIns="0" rIns="0" bIns="0" rtlCol="0" anchor="t">
            <a:spAutoFit/>
          </a:bodyPr>
          <a:lstStyle/>
          <a:p>
            <a:pPr algn="l" indent="0" marL="0">
              <a:lnSpc>
                <a:spcPct val="100000"/>
              </a:lnSpc>
              <a:buNone/>
            </a:pPr>
            <a:r>
              <a:rPr lang="en-US" sz="600" b="1" dirty="0">
                <a:solidFill>
                  <a:srgbClr val="102033"/>
                </a:solidFill>
                <a:latin typeface="Inter Bold" pitchFamily="34" charset="0"/>
                <a:ea typeface="Inter Bold" pitchFamily="34" charset="-122"/>
                <a:cs typeface="Inter Bold" pitchFamily="34" charset="-120"/>
              </a:rPr>
              <a:t>产品内嵌</a:t>
            </a:r>
            <a:endParaRPr lang="en-US" sz="600" dirty="0"/>
          </a:p>
        </p:txBody>
      </p:sp>
      <p:sp>
        <p:nvSpPr>
          <p:cNvPr id="25" name="Text 22"/>
          <p:cNvSpPr/>
          <p:nvPr/>
        </p:nvSpPr>
        <p:spPr>
          <a:xfrm>
            <a:off x="5972175" y="1937686"/>
            <a:ext cx="535781" cy="100013"/>
          </a:xfrm>
          <a:prstGeom prst="rect">
            <a:avLst/>
          </a:prstGeom>
          <a:noFill/>
          <a:ln/>
        </p:spPr>
        <p:txBody>
          <a:bodyPr wrap="none" lIns="0" tIns="0" rIns="0" bIns="0"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自有应用调用</a:t>
            </a:r>
            <a:endParaRPr lang="en-US" sz="650" dirty="0"/>
          </a:p>
        </p:txBody>
      </p:sp>
      <p:sp>
        <p:nvSpPr>
          <p:cNvPr id="26" name="Text 23"/>
          <p:cNvSpPr/>
          <p:nvPr/>
        </p:nvSpPr>
        <p:spPr>
          <a:xfrm>
            <a:off x="7386638" y="1799276"/>
            <a:ext cx="1328738" cy="111621"/>
          </a:xfrm>
          <a:prstGeom prst="rect">
            <a:avLst/>
          </a:prstGeom>
          <a:noFill/>
          <a:ln/>
        </p:spPr>
        <p:txBody>
          <a:bodyPr wrap="none" lIns="0" tIns="0" rIns="0" bIns="0" rtlCol="0" anchor="t">
            <a:spAutoFit/>
          </a:bodyPr>
          <a:lstStyle/>
          <a:p>
            <a:pPr algn="l" indent="0" marL="0">
              <a:lnSpc>
                <a:spcPct val="100000"/>
              </a:lnSpc>
              <a:buNone/>
            </a:pPr>
            <a:r>
              <a:rPr lang="en-US" sz="600" b="1" dirty="0">
                <a:solidFill>
                  <a:srgbClr val="102033"/>
                </a:solidFill>
                <a:latin typeface="Inter Bold" pitchFamily="34" charset="0"/>
                <a:ea typeface="Inter Bold" pitchFamily="34" charset="-122"/>
                <a:cs typeface="Inter Bold" pitchFamily="34" charset="-120"/>
              </a:rPr>
              <a:t>行业方案</a:t>
            </a:r>
            <a:endParaRPr lang="en-US" sz="600" dirty="0"/>
          </a:p>
        </p:txBody>
      </p:sp>
      <p:sp>
        <p:nvSpPr>
          <p:cNvPr id="27" name="Text 24"/>
          <p:cNvSpPr/>
          <p:nvPr/>
        </p:nvSpPr>
        <p:spPr>
          <a:xfrm>
            <a:off x="7386638" y="1937686"/>
            <a:ext cx="803672" cy="100013"/>
          </a:xfrm>
          <a:prstGeom prst="rect">
            <a:avLst/>
          </a:prstGeom>
          <a:noFill/>
          <a:ln/>
        </p:spPr>
        <p:txBody>
          <a:bodyPr wrap="none" lIns="0" tIns="0" rIns="0" bIns="0"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金融、法律、医疗等</a:t>
            </a:r>
            <a:endParaRPr lang="en-US" sz="650" dirty="0"/>
          </a:p>
        </p:txBody>
      </p:sp>
      <p:sp>
        <p:nvSpPr>
          <p:cNvPr id="28" name="Text 25"/>
          <p:cNvSpPr/>
          <p:nvPr/>
        </p:nvSpPr>
        <p:spPr>
          <a:xfrm>
            <a:off x="428625" y="2256476"/>
            <a:ext cx="1214438" cy="435769"/>
          </a:xfrm>
          <a:prstGeom prst="rect">
            <a:avLst/>
          </a:prstGeom>
          <a:noFill/>
          <a:ln/>
        </p:spPr>
        <p:txBody>
          <a:bodyPr wrap="none" lIns="0" tIns="0" rIns="0" bIns="0" rtlCol="0" anchor="t">
            <a:spAutoFit/>
          </a:bodyPr>
          <a:lstStyle/>
          <a:p>
            <a:pPr algn="l" indent="0" marL="0">
              <a:buNone/>
            </a:pPr>
            <a:r>
              <a:rPr lang="en-US" sz="650" b="1" spc="1" kern="0" dirty="0">
                <a:solidFill>
                  <a:srgbClr val="0B8F5A"/>
                </a:solidFill>
                <a:latin typeface="Inter ExtraBold" pitchFamily="34" charset="0"/>
                <a:ea typeface="Inter ExtraBold" pitchFamily="34" charset="-122"/>
                <a:cs typeface="Inter ExtraBold" pitchFamily="34" charset="-120"/>
              </a:rPr>
              <a:t>上下文层</a:t>
            </a:r>
            <a:endParaRPr lang="en-US" sz="650" dirty="0"/>
          </a:p>
        </p:txBody>
      </p:sp>
      <p:sp>
        <p:nvSpPr>
          <p:cNvPr id="29" name="Text 26"/>
          <p:cNvSpPr/>
          <p:nvPr/>
        </p:nvSpPr>
        <p:spPr>
          <a:xfrm>
            <a:off x="1728788" y="2313626"/>
            <a:ext cx="1328738" cy="111621"/>
          </a:xfrm>
          <a:prstGeom prst="rect">
            <a:avLst/>
          </a:prstGeom>
          <a:noFill/>
          <a:ln/>
        </p:spPr>
        <p:txBody>
          <a:bodyPr wrap="none" lIns="0" tIns="0" rIns="0" bIns="0" rtlCol="0" anchor="t">
            <a:spAutoFit/>
          </a:bodyPr>
          <a:lstStyle/>
          <a:p>
            <a:pPr algn="l" indent="0" marL="0">
              <a:lnSpc>
                <a:spcPct val="100000"/>
              </a:lnSpc>
              <a:buNone/>
            </a:pPr>
            <a:r>
              <a:rPr lang="en-US" sz="600" b="1" dirty="0">
                <a:solidFill>
                  <a:srgbClr val="102033"/>
                </a:solidFill>
                <a:latin typeface="Inter Bold" pitchFamily="34" charset="0"/>
                <a:ea typeface="Inter Bold" pitchFamily="34" charset="-122"/>
                <a:cs typeface="Inter Bold" pitchFamily="34" charset="-120"/>
              </a:rPr>
              <a:t>Projects</a:t>
            </a:r>
            <a:endParaRPr lang="en-US" sz="600" dirty="0"/>
          </a:p>
        </p:txBody>
      </p:sp>
      <p:sp>
        <p:nvSpPr>
          <p:cNvPr id="30" name="Text 27"/>
          <p:cNvSpPr/>
          <p:nvPr/>
        </p:nvSpPr>
        <p:spPr>
          <a:xfrm>
            <a:off x="1728788" y="2452036"/>
            <a:ext cx="357188" cy="100013"/>
          </a:xfrm>
          <a:prstGeom prst="rect">
            <a:avLst/>
          </a:prstGeom>
          <a:noFill/>
          <a:ln/>
        </p:spPr>
        <p:txBody>
          <a:bodyPr wrap="none" lIns="0" tIns="0" rIns="0" bIns="0"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团队资料</a:t>
            </a:r>
            <a:endParaRPr lang="en-US" sz="650" dirty="0"/>
          </a:p>
        </p:txBody>
      </p:sp>
      <p:sp>
        <p:nvSpPr>
          <p:cNvPr id="31" name="Text 28"/>
          <p:cNvSpPr/>
          <p:nvPr/>
        </p:nvSpPr>
        <p:spPr>
          <a:xfrm>
            <a:off x="3143250" y="2313626"/>
            <a:ext cx="1328738" cy="111621"/>
          </a:xfrm>
          <a:prstGeom prst="rect">
            <a:avLst/>
          </a:prstGeom>
          <a:noFill/>
          <a:ln/>
        </p:spPr>
        <p:txBody>
          <a:bodyPr wrap="none" lIns="0" tIns="0" rIns="0" bIns="0" rtlCol="0" anchor="t">
            <a:spAutoFit/>
          </a:bodyPr>
          <a:lstStyle/>
          <a:p>
            <a:pPr algn="l" indent="0" marL="0">
              <a:lnSpc>
                <a:spcPct val="100000"/>
              </a:lnSpc>
              <a:buNone/>
            </a:pPr>
            <a:r>
              <a:rPr lang="en-US" sz="600" b="1" dirty="0">
                <a:solidFill>
                  <a:srgbClr val="102033"/>
                </a:solidFill>
                <a:latin typeface="Inter Bold" pitchFamily="34" charset="0"/>
                <a:ea typeface="Inter Bold" pitchFamily="34" charset="-122"/>
                <a:cs typeface="Inter Bold" pitchFamily="34" charset="-120"/>
              </a:rPr>
              <a:t>Files</a:t>
            </a:r>
            <a:endParaRPr lang="en-US" sz="600" dirty="0"/>
          </a:p>
        </p:txBody>
      </p:sp>
      <p:sp>
        <p:nvSpPr>
          <p:cNvPr id="32" name="Text 29"/>
          <p:cNvSpPr/>
          <p:nvPr/>
        </p:nvSpPr>
        <p:spPr>
          <a:xfrm>
            <a:off x="3143250" y="2452036"/>
            <a:ext cx="446484" cy="100013"/>
          </a:xfrm>
          <a:prstGeom prst="rect">
            <a:avLst/>
          </a:prstGeom>
          <a:noFill/>
          <a:ln/>
        </p:spPr>
        <p:txBody>
          <a:bodyPr wrap="none" lIns="0" tIns="0" rIns="0" bIns="0"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文档与数据</a:t>
            </a:r>
            <a:endParaRPr lang="en-US" sz="650" dirty="0"/>
          </a:p>
        </p:txBody>
      </p:sp>
      <p:sp>
        <p:nvSpPr>
          <p:cNvPr id="33" name="Text 30"/>
          <p:cNvSpPr/>
          <p:nvPr/>
        </p:nvSpPr>
        <p:spPr>
          <a:xfrm>
            <a:off x="4557713" y="2313626"/>
            <a:ext cx="1328738" cy="111621"/>
          </a:xfrm>
          <a:prstGeom prst="rect">
            <a:avLst/>
          </a:prstGeom>
          <a:noFill/>
          <a:ln/>
        </p:spPr>
        <p:txBody>
          <a:bodyPr wrap="none" lIns="0" tIns="0" rIns="0" bIns="0" rtlCol="0" anchor="t">
            <a:spAutoFit/>
          </a:bodyPr>
          <a:lstStyle/>
          <a:p>
            <a:pPr algn="l" indent="0" marL="0">
              <a:lnSpc>
                <a:spcPct val="100000"/>
              </a:lnSpc>
              <a:buNone/>
            </a:pPr>
            <a:r>
              <a:rPr lang="en-US" sz="600" b="1" dirty="0">
                <a:solidFill>
                  <a:srgbClr val="102033"/>
                </a:solidFill>
                <a:latin typeface="Inter Bold" pitchFamily="34" charset="0"/>
                <a:ea typeface="Inter Bold" pitchFamily="34" charset="-122"/>
                <a:cs typeface="Inter Bold" pitchFamily="34" charset="-120"/>
              </a:rPr>
              <a:t>Skills</a:t>
            </a:r>
            <a:endParaRPr lang="en-US" sz="600" dirty="0"/>
          </a:p>
        </p:txBody>
      </p:sp>
      <p:sp>
        <p:nvSpPr>
          <p:cNvPr id="34" name="Text 31"/>
          <p:cNvSpPr/>
          <p:nvPr/>
        </p:nvSpPr>
        <p:spPr>
          <a:xfrm>
            <a:off x="4557713" y="2452036"/>
            <a:ext cx="390395" cy="100013"/>
          </a:xfrm>
          <a:prstGeom prst="rect">
            <a:avLst/>
          </a:prstGeom>
          <a:noFill/>
          <a:ln/>
        </p:spPr>
        <p:txBody>
          <a:bodyPr wrap="none" lIns="0" tIns="0" rIns="0" bIns="0"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SOP 封装</a:t>
            </a:r>
            <a:endParaRPr lang="en-US" sz="650" dirty="0"/>
          </a:p>
        </p:txBody>
      </p:sp>
      <p:sp>
        <p:nvSpPr>
          <p:cNvPr id="35" name="Text 32"/>
          <p:cNvSpPr/>
          <p:nvPr/>
        </p:nvSpPr>
        <p:spPr>
          <a:xfrm>
            <a:off x="5972175" y="2313626"/>
            <a:ext cx="1328738" cy="111621"/>
          </a:xfrm>
          <a:prstGeom prst="rect">
            <a:avLst/>
          </a:prstGeom>
          <a:noFill/>
          <a:ln/>
        </p:spPr>
        <p:txBody>
          <a:bodyPr wrap="none" lIns="0" tIns="0" rIns="0" bIns="0" rtlCol="0" anchor="t">
            <a:spAutoFit/>
          </a:bodyPr>
          <a:lstStyle/>
          <a:p>
            <a:pPr algn="l" indent="0" marL="0">
              <a:lnSpc>
                <a:spcPct val="100000"/>
              </a:lnSpc>
              <a:buNone/>
            </a:pPr>
            <a:r>
              <a:rPr lang="en-US" sz="600" b="1" dirty="0">
                <a:solidFill>
                  <a:srgbClr val="102033"/>
                </a:solidFill>
                <a:latin typeface="Inter Bold" pitchFamily="34" charset="0"/>
                <a:ea typeface="Inter Bold" pitchFamily="34" charset="-122"/>
                <a:cs typeface="Inter Bold" pitchFamily="34" charset="-120"/>
              </a:rPr>
              <a:t>MCP</a:t>
            </a:r>
            <a:endParaRPr lang="en-US" sz="600" dirty="0"/>
          </a:p>
        </p:txBody>
      </p:sp>
      <p:sp>
        <p:nvSpPr>
          <p:cNvPr id="36" name="Text 33"/>
          <p:cNvSpPr/>
          <p:nvPr/>
        </p:nvSpPr>
        <p:spPr>
          <a:xfrm>
            <a:off x="5972175" y="2452036"/>
            <a:ext cx="535781" cy="100013"/>
          </a:xfrm>
          <a:prstGeom prst="rect">
            <a:avLst/>
          </a:prstGeom>
          <a:noFill/>
          <a:ln/>
        </p:spPr>
        <p:txBody>
          <a:bodyPr wrap="none" lIns="0" tIns="0" rIns="0" bIns="0"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工具与数据库</a:t>
            </a:r>
            <a:endParaRPr lang="en-US" sz="650" dirty="0"/>
          </a:p>
        </p:txBody>
      </p:sp>
      <p:sp>
        <p:nvSpPr>
          <p:cNvPr id="37" name="Text 34"/>
          <p:cNvSpPr/>
          <p:nvPr/>
        </p:nvSpPr>
        <p:spPr>
          <a:xfrm>
            <a:off x="7386638" y="2313626"/>
            <a:ext cx="1328738" cy="111621"/>
          </a:xfrm>
          <a:prstGeom prst="rect">
            <a:avLst/>
          </a:prstGeom>
          <a:noFill/>
          <a:ln/>
        </p:spPr>
        <p:txBody>
          <a:bodyPr wrap="none" lIns="0" tIns="0" rIns="0" bIns="0" rtlCol="0" anchor="t">
            <a:spAutoFit/>
          </a:bodyPr>
          <a:lstStyle/>
          <a:p>
            <a:pPr algn="l" indent="0" marL="0">
              <a:lnSpc>
                <a:spcPct val="100000"/>
              </a:lnSpc>
              <a:buNone/>
            </a:pPr>
            <a:r>
              <a:rPr lang="en-US" sz="600" b="1" dirty="0">
                <a:solidFill>
                  <a:srgbClr val="102033"/>
                </a:solidFill>
                <a:latin typeface="Inter Bold" pitchFamily="34" charset="0"/>
                <a:ea typeface="Inter Bold" pitchFamily="34" charset="-122"/>
                <a:cs typeface="Inter Bold" pitchFamily="34" charset="-120"/>
              </a:rPr>
              <a:t>Connectors</a:t>
            </a:r>
            <a:endParaRPr lang="en-US" sz="600" dirty="0"/>
          </a:p>
        </p:txBody>
      </p:sp>
      <p:sp>
        <p:nvSpPr>
          <p:cNvPr id="38" name="Text 35"/>
          <p:cNvSpPr/>
          <p:nvPr/>
        </p:nvSpPr>
        <p:spPr>
          <a:xfrm>
            <a:off x="7386638" y="2452036"/>
            <a:ext cx="630269" cy="100013"/>
          </a:xfrm>
          <a:prstGeom prst="rect">
            <a:avLst/>
          </a:prstGeom>
          <a:noFill/>
          <a:ln/>
        </p:spPr>
        <p:txBody>
          <a:bodyPr wrap="none" lIns="0" tIns="0" rIns="0" bIns="0"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Slack / M365 等</a:t>
            </a:r>
            <a:endParaRPr lang="en-US" sz="650" dirty="0"/>
          </a:p>
        </p:txBody>
      </p:sp>
      <p:sp>
        <p:nvSpPr>
          <p:cNvPr id="39" name="Text 36"/>
          <p:cNvSpPr/>
          <p:nvPr/>
        </p:nvSpPr>
        <p:spPr>
          <a:xfrm>
            <a:off x="428625" y="2770826"/>
            <a:ext cx="1214438" cy="435769"/>
          </a:xfrm>
          <a:prstGeom prst="rect">
            <a:avLst/>
          </a:prstGeom>
          <a:noFill/>
          <a:ln/>
        </p:spPr>
        <p:txBody>
          <a:bodyPr wrap="none" lIns="0" tIns="0" rIns="0" bIns="0" rtlCol="0" anchor="t">
            <a:spAutoFit/>
          </a:bodyPr>
          <a:lstStyle/>
          <a:p>
            <a:pPr algn="l" indent="0" marL="0">
              <a:buNone/>
            </a:pPr>
            <a:r>
              <a:rPr lang="en-US" sz="650" b="1" spc="1" kern="0" dirty="0">
                <a:solidFill>
                  <a:srgbClr val="0B8F5A"/>
                </a:solidFill>
                <a:latin typeface="Inter ExtraBold" pitchFamily="34" charset="0"/>
                <a:ea typeface="Inter ExtraBold" pitchFamily="34" charset="-122"/>
                <a:cs typeface="Inter ExtraBold" pitchFamily="34" charset="-120"/>
              </a:rPr>
              <a:t>平台层</a:t>
            </a:r>
            <a:endParaRPr lang="en-US" sz="650" dirty="0"/>
          </a:p>
        </p:txBody>
      </p:sp>
      <p:sp>
        <p:nvSpPr>
          <p:cNvPr id="40" name="Text 37"/>
          <p:cNvSpPr/>
          <p:nvPr/>
        </p:nvSpPr>
        <p:spPr>
          <a:xfrm>
            <a:off x="1728788" y="2827976"/>
            <a:ext cx="1328738" cy="111621"/>
          </a:xfrm>
          <a:prstGeom prst="rect">
            <a:avLst/>
          </a:prstGeom>
          <a:noFill/>
          <a:ln/>
        </p:spPr>
        <p:txBody>
          <a:bodyPr wrap="none" lIns="0" tIns="0" rIns="0" bIns="0" rtlCol="0" anchor="t">
            <a:spAutoFit/>
          </a:bodyPr>
          <a:lstStyle/>
          <a:p>
            <a:pPr algn="l" indent="0" marL="0">
              <a:lnSpc>
                <a:spcPct val="100000"/>
              </a:lnSpc>
              <a:buNone/>
            </a:pPr>
            <a:r>
              <a:rPr lang="en-US" sz="600" b="1" dirty="0">
                <a:solidFill>
                  <a:srgbClr val="102033"/>
                </a:solidFill>
                <a:latin typeface="Inter Bold" pitchFamily="34" charset="0"/>
                <a:ea typeface="Inter Bold" pitchFamily="34" charset="-122"/>
                <a:cs typeface="Inter Bold" pitchFamily="34" charset="-120"/>
              </a:rPr>
              <a:t>Messages</a:t>
            </a:r>
            <a:endParaRPr lang="en-US" sz="600" dirty="0"/>
          </a:p>
        </p:txBody>
      </p:sp>
      <p:sp>
        <p:nvSpPr>
          <p:cNvPr id="41" name="Text 38"/>
          <p:cNvSpPr/>
          <p:nvPr/>
        </p:nvSpPr>
        <p:spPr>
          <a:xfrm>
            <a:off x="1728788" y="2966386"/>
            <a:ext cx="357188" cy="100013"/>
          </a:xfrm>
          <a:prstGeom prst="rect">
            <a:avLst/>
          </a:prstGeom>
          <a:noFill/>
          <a:ln/>
        </p:spPr>
        <p:txBody>
          <a:bodyPr wrap="none" lIns="0" tIns="0" rIns="0" bIns="0"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实时调用</a:t>
            </a:r>
            <a:endParaRPr lang="en-US" sz="650" dirty="0"/>
          </a:p>
        </p:txBody>
      </p:sp>
      <p:sp>
        <p:nvSpPr>
          <p:cNvPr id="42" name="Text 39"/>
          <p:cNvSpPr/>
          <p:nvPr/>
        </p:nvSpPr>
        <p:spPr>
          <a:xfrm>
            <a:off x="3143250" y="2827976"/>
            <a:ext cx="1328738" cy="111621"/>
          </a:xfrm>
          <a:prstGeom prst="rect">
            <a:avLst/>
          </a:prstGeom>
          <a:noFill/>
          <a:ln/>
        </p:spPr>
        <p:txBody>
          <a:bodyPr wrap="none" lIns="0" tIns="0" rIns="0" bIns="0" rtlCol="0" anchor="t">
            <a:spAutoFit/>
          </a:bodyPr>
          <a:lstStyle/>
          <a:p>
            <a:pPr algn="l" indent="0" marL="0">
              <a:lnSpc>
                <a:spcPct val="100000"/>
              </a:lnSpc>
              <a:buNone/>
            </a:pPr>
            <a:r>
              <a:rPr lang="en-US" sz="600" b="1" dirty="0">
                <a:solidFill>
                  <a:srgbClr val="102033"/>
                </a:solidFill>
                <a:latin typeface="Inter Bold" pitchFamily="34" charset="0"/>
                <a:ea typeface="Inter Bold" pitchFamily="34" charset="-122"/>
                <a:cs typeface="Inter Bold" pitchFamily="34" charset="-120"/>
              </a:rPr>
              <a:t>Batches</a:t>
            </a:r>
            <a:endParaRPr lang="en-US" sz="600" dirty="0"/>
          </a:p>
        </p:txBody>
      </p:sp>
      <p:sp>
        <p:nvSpPr>
          <p:cNvPr id="43" name="Text 40"/>
          <p:cNvSpPr/>
          <p:nvPr/>
        </p:nvSpPr>
        <p:spPr>
          <a:xfrm>
            <a:off x="3143250" y="2966386"/>
            <a:ext cx="446484" cy="100013"/>
          </a:xfrm>
          <a:prstGeom prst="rect">
            <a:avLst/>
          </a:prstGeom>
          <a:noFill/>
          <a:ln/>
        </p:spPr>
        <p:txBody>
          <a:bodyPr wrap="none" lIns="0" tIns="0" rIns="0" bIns="0"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异步批处理</a:t>
            </a:r>
            <a:endParaRPr lang="en-US" sz="650" dirty="0"/>
          </a:p>
        </p:txBody>
      </p:sp>
      <p:sp>
        <p:nvSpPr>
          <p:cNvPr id="44" name="Text 41"/>
          <p:cNvSpPr/>
          <p:nvPr/>
        </p:nvSpPr>
        <p:spPr>
          <a:xfrm>
            <a:off x="4557713" y="2827976"/>
            <a:ext cx="1328738" cy="111621"/>
          </a:xfrm>
          <a:prstGeom prst="rect">
            <a:avLst/>
          </a:prstGeom>
          <a:noFill/>
          <a:ln/>
        </p:spPr>
        <p:txBody>
          <a:bodyPr wrap="none" lIns="0" tIns="0" rIns="0" bIns="0" rtlCol="0" anchor="t">
            <a:spAutoFit/>
          </a:bodyPr>
          <a:lstStyle/>
          <a:p>
            <a:pPr algn="l" indent="0" marL="0">
              <a:lnSpc>
                <a:spcPct val="100000"/>
              </a:lnSpc>
              <a:buNone/>
            </a:pPr>
            <a:r>
              <a:rPr lang="en-US" sz="600" b="1" dirty="0">
                <a:solidFill>
                  <a:srgbClr val="102033"/>
                </a:solidFill>
                <a:latin typeface="Inter Bold" pitchFamily="34" charset="0"/>
                <a:ea typeface="Inter Bold" pitchFamily="34" charset="-122"/>
                <a:cs typeface="Inter Bold" pitchFamily="34" charset="-120"/>
              </a:rPr>
              <a:t>Agents</a:t>
            </a:r>
            <a:endParaRPr lang="en-US" sz="600" dirty="0"/>
          </a:p>
        </p:txBody>
      </p:sp>
      <p:sp>
        <p:nvSpPr>
          <p:cNvPr id="45" name="Text 42"/>
          <p:cNvSpPr/>
          <p:nvPr/>
        </p:nvSpPr>
        <p:spPr>
          <a:xfrm>
            <a:off x="4557713" y="2966386"/>
            <a:ext cx="625078" cy="100013"/>
          </a:xfrm>
          <a:prstGeom prst="rect">
            <a:avLst/>
          </a:prstGeom>
          <a:noFill/>
          <a:ln/>
        </p:spPr>
        <p:txBody>
          <a:bodyPr wrap="none" lIns="0" tIns="0" rIns="0" bIns="0"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智能体生命周期</a:t>
            </a:r>
            <a:endParaRPr lang="en-US" sz="650" dirty="0"/>
          </a:p>
        </p:txBody>
      </p:sp>
      <p:sp>
        <p:nvSpPr>
          <p:cNvPr id="46" name="Text 43"/>
          <p:cNvSpPr/>
          <p:nvPr/>
        </p:nvSpPr>
        <p:spPr>
          <a:xfrm>
            <a:off x="5972175" y="2827976"/>
            <a:ext cx="1328738" cy="111621"/>
          </a:xfrm>
          <a:prstGeom prst="rect">
            <a:avLst/>
          </a:prstGeom>
          <a:noFill/>
          <a:ln/>
        </p:spPr>
        <p:txBody>
          <a:bodyPr wrap="none" lIns="0" tIns="0" rIns="0" bIns="0" rtlCol="0" anchor="t">
            <a:spAutoFit/>
          </a:bodyPr>
          <a:lstStyle/>
          <a:p>
            <a:pPr algn="l" indent="0" marL="0">
              <a:lnSpc>
                <a:spcPct val="100000"/>
              </a:lnSpc>
              <a:buNone/>
            </a:pPr>
            <a:r>
              <a:rPr lang="en-US" sz="600" b="1" dirty="0">
                <a:solidFill>
                  <a:srgbClr val="102033"/>
                </a:solidFill>
                <a:latin typeface="Inter Bold" pitchFamily="34" charset="0"/>
                <a:ea typeface="Inter Bold" pitchFamily="34" charset="-122"/>
                <a:cs typeface="Inter Bold" pitchFamily="34" charset="-120"/>
              </a:rPr>
              <a:t>Sessions</a:t>
            </a:r>
            <a:endParaRPr lang="en-US" sz="600" dirty="0"/>
          </a:p>
        </p:txBody>
      </p:sp>
      <p:sp>
        <p:nvSpPr>
          <p:cNvPr id="47" name="Text 44"/>
          <p:cNvSpPr/>
          <p:nvPr/>
        </p:nvSpPr>
        <p:spPr>
          <a:xfrm>
            <a:off x="5972175" y="2966386"/>
            <a:ext cx="357188" cy="100013"/>
          </a:xfrm>
          <a:prstGeom prst="rect">
            <a:avLst/>
          </a:prstGeom>
          <a:noFill/>
          <a:ln/>
        </p:spPr>
        <p:txBody>
          <a:bodyPr wrap="none" lIns="0" tIns="0" rIns="0" bIns="0"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状态管理</a:t>
            </a:r>
            <a:endParaRPr lang="en-US" sz="650" dirty="0"/>
          </a:p>
        </p:txBody>
      </p:sp>
      <p:sp>
        <p:nvSpPr>
          <p:cNvPr id="48" name="Text 45"/>
          <p:cNvSpPr/>
          <p:nvPr/>
        </p:nvSpPr>
        <p:spPr>
          <a:xfrm>
            <a:off x="7386638" y="2827976"/>
            <a:ext cx="1328738" cy="111621"/>
          </a:xfrm>
          <a:prstGeom prst="rect">
            <a:avLst/>
          </a:prstGeom>
          <a:noFill/>
          <a:ln/>
        </p:spPr>
        <p:txBody>
          <a:bodyPr wrap="none" lIns="0" tIns="0" rIns="0" bIns="0" rtlCol="0" anchor="t">
            <a:spAutoFit/>
          </a:bodyPr>
          <a:lstStyle/>
          <a:p>
            <a:pPr algn="l" indent="0" marL="0">
              <a:lnSpc>
                <a:spcPct val="100000"/>
              </a:lnSpc>
              <a:buNone/>
            </a:pPr>
            <a:r>
              <a:rPr lang="en-US" sz="600" b="1" dirty="0">
                <a:solidFill>
                  <a:srgbClr val="102033"/>
                </a:solidFill>
                <a:latin typeface="Inter Bold" pitchFamily="34" charset="0"/>
                <a:ea typeface="Inter Bold" pitchFamily="34" charset="-122"/>
                <a:cs typeface="Inter Bold" pitchFamily="34" charset="-120"/>
              </a:rPr>
              <a:t>Environments</a:t>
            </a:r>
            <a:endParaRPr lang="en-US" sz="600" dirty="0"/>
          </a:p>
        </p:txBody>
      </p:sp>
      <p:sp>
        <p:nvSpPr>
          <p:cNvPr id="49" name="Text 46"/>
          <p:cNvSpPr/>
          <p:nvPr/>
        </p:nvSpPr>
        <p:spPr>
          <a:xfrm>
            <a:off x="7386638" y="2966386"/>
            <a:ext cx="357188" cy="100013"/>
          </a:xfrm>
          <a:prstGeom prst="rect">
            <a:avLst/>
          </a:prstGeom>
          <a:noFill/>
          <a:ln/>
        </p:spPr>
        <p:txBody>
          <a:bodyPr wrap="none" lIns="0" tIns="0" rIns="0" bIns="0"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隔离运行</a:t>
            </a:r>
            <a:endParaRPr lang="en-US" sz="650" dirty="0"/>
          </a:p>
        </p:txBody>
      </p:sp>
      <p:sp>
        <p:nvSpPr>
          <p:cNvPr id="50" name="Text 47"/>
          <p:cNvSpPr/>
          <p:nvPr/>
        </p:nvSpPr>
        <p:spPr>
          <a:xfrm>
            <a:off x="428625" y="3285176"/>
            <a:ext cx="1214438" cy="435769"/>
          </a:xfrm>
          <a:prstGeom prst="rect">
            <a:avLst/>
          </a:prstGeom>
          <a:noFill/>
          <a:ln/>
        </p:spPr>
        <p:txBody>
          <a:bodyPr wrap="none" lIns="0" tIns="0" rIns="0" bIns="0" rtlCol="0" anchor="t">
            <a:spAutoFit/>
          </a:bodyPr>
          <a:lstStyle/>
          <a:p>
            <a:pPr algn="l" indent="0" marL="0">
              <a:buNone/>
            </a:pPr>
            <a:r>
              <a:rPr lang="en-US" sz="650" b="1" spc="1" kern="0" dirty="0">
                <a:solidFill>
                  <a:srgbClr val="0B8F5A"/>
                </a:solidFill>
                <a:latin typeface="Inter ExtraBold" pitchFamily="34" charset="0"/>
                <a:ea typeface="Inter ExtraBold" pitchFamily="34" charset="-122"/>
                <a:cs typeface="Inter ExtraBold" pitchFamily="34" charset="-120"/>
              </a:rPr>
              <a:t>底座</a:t>
            </a:r>
            <a:endParaRPr lang="en-US" sz="650" dirty="0"/>
          </a:p>
        </p:txBody>
      </p:sp>
      <p:sp>
        <p:nvSpPr>
          <p:cNvPr id="51" name="Text 48"/>
          <p:cNvSpPr/>
          <p:nvPr/>
        </p:nvSpPr>
        <p:spPr>
          <a:xfrm>
            <a:off x="1728788" y="3342326"/>
            <a:ext cx="1328738" cy="111621"/>
          </a:xfrm>
          <a:prstGeom prst="rect">
            <a:avLst/>
          </a:prstGeom>
          <a:noFill/>
          <a:ln/>
        </p:spPr>
        <p:txBody>
          <a:bodyPr wrap="none" lIns="0" tIns="0" rIns="0" bIns="0" rtlCol="0" anchor="t">
            <a:spAutoFit/>
          </a:bodyPr>
          <a:lstStyle/>
          <a:p>
            <a:pPr algn="l" indent="0" marL="0">
              <a:lnSpc>
                <a:spcPct val="100000"/>
              </a:lnSpc>
              <a:buNone/>
            </a:pPr>
            <a:r>
              <a:rPr lang="en-US" sz="600" b="1" dirty="0">
                <a:solidFill>
                  <a:srgbClr val="102033"/>
                </a:solidFill>
                <a:latin typeface="Inter Bold" pitchFamily="34" charset="0"/>
                <a:ea typeface="Inter Bold" pitchFamily="34" charset="-122"/>
                <a:cs typeface="Inter Bold" pitchFamily="34" charset="-120"/>
              </a:rPr>
              <a:t>Claude Models</a:t>
            </a:r>
            <a:endParaRPr lang="en-US" sz="600" dirty="0"/>
          </a:p>
        </p:txBody>
      </p:sp>
      <p:sp>
        <p:nvSpPr>
          <p:cNvPr id="52" name="Text 49"/>
          <p:cNvSpPr/>
          <p:nvPr/>
        </p:nvSpPr>
        <p:spPr>
          <a:xfrm>
            <a:off x="1728788" y="3480736"/>
            <a:ext cx="873630" cy="100013"/>
          </a:xfrm>
          <a:prstGeom prst="rect">
            <a:avLst/>
          </a:prstGeom>
          <a:noFill/>
          <a:ln/>
        </p:spPr>
        <p:txBody>
          <a:bodyPr wrap="none" lIns="0" tIns="0" rIns="0" bIns="0"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Opus / Sonnet / Haiku</a:t>
            </a:r>
            <a:endParaRPr lang="en-US" sz="650" dirty="0"/>
          </a:p>
        </p:txBody>
      </p:sp>
      <p:sp>
        <p:nvSpPr>
          <p:cNvPr id="53" name="Text 50"/>
          <p:cNvSpPr/>
          <p:nvPr/>
        </p:nvSpPr>
        <p:spPr>
          <a:xfrm>
            <a:off x="3143250" y="3342326"/>
            <a:ext cx="1328738" cy="111621"/>
          </a:xfrm>
          <a:prstGeom prst="rect">
            <a:avLst/>
          </a:prstGeom>
          <a:noFill/>
          <a:ln/>
        </p:spPr>
        <p:txBody>
          <a:bodyPr wrap="none" lIns="0" tIns="0" rIns="0" bIns="0" rtlCol="0" anchor="t">
            <a:spAutoFit/>
          </a:bodyPr>
          <a:lstStyle/>
          <a:p>
            <a:pPr algn="l" indent="0" marL="0">
              <a:lnSpc>
                <a:spcPct val="100000"/>
              </a:lnSpc>
              <a:buNone/>
            </a:pPr>
            <a:r>
              <a:rPr lang="en-US" sz="600" b="1" dirty="0">
                <a:solidFill>
                  <a:srgbClr val="102033"/>
                </a:solidFill>
                <a:latin typeface="Inter Bold" pitchFamily="34" charset="0"/>
                <a:ea typeface="Inter Bold" pitchFamily="34" charset="-122"/>
                <a:cs typeface="Inter Bold" pitchFamily="34" charset="-120"/>
              </a:rPr>
              <a:t>Safety</a:t>
            </a:r>
            <a:endParaRPr lang="en-US" sz="600" dirty="0"/>
          </a:p>
        </p:txBody>
      </p:sp>
      <p:sp>
        <p:nvSpPr>
          <p:cNvPr id="54" name="Text 51"/>
          <p:cNvSpPr/>
          <p:nvPr/>
        </p:nvSpPr>
        <p:spPr>
          <a:xfrm>
            <a:off x="3143250" y="3480736"/>
            <a:ext cx="645309" cy="100013"/>
          </a:xfrm>
          <a:prstGeom prst="rect">
            <a:avLst/>
          </a:prstGeom>
          <a:noFill/>
          <a:ln/>
        </p:spPr>
        <p:txBody>
          <a:bodyPr wrap="none" lIns="0" tIns="0" rIns="0" bIns="0"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Constitutional AI</a:t>
            </a:r>
            <a:endParaRPr lang="en-US" sz="650" dirty="0"/>
          </a:p>
        </p:txBody>
      </p:sp>
      <p:sp>
        <p:nvSpPr>
          <p:cNvPr id="55" name="Text 52"/>
          <p:cNvSpPr/>
          <p:nvPr/>
        </p:nvSpPr>
        <p:spPr>
          <a:xfrm>
            <a:off x="4557713" y="3342326"/>
            <a:ext cx="1328738" cy="111621"/>
          </a:xfrm>
          <a:prstGeom prst="rect">
            <a:avLst/>
          </a:prstGeom>
          <a:noFill/>
          <a:ln/>
        </p:spPr>
        <p:txBody>
          <a:bodyPr wrap="none" lIns="0" tIns="0" rIns="0" bIns="0" rtlCol="0" anchor="t">
            <a:spAutoFit/>
          </a:bodyPr>
          <a:lstStyle/>
          <a:p>
            <a:pPr algn="l" indent="0" marL="0">
              <a:lnSpc>
                <a:spcPct val="100000"/>
              </a:lnSpc>
              <a:buNone/>
            </a:pPr>
            <a:r>
              <a:rPr lang="en-US" sz="600" b="1" dirty="0">
                <a:solidFill>
                  <a:srgbClr val="102033"/>
                </a:solidFill>
                <a:latin typeface="Inter Bold" pitchFamily="34" charset="0"/>
                <a:ea typeface="Inter Bold" pitchFamily="34" charset="-122"/>
                <a:cs typeface="Inter Bold" pitchFamily="34" charset="-120"/>
              </a:rPr>
              <a:t>Governance</a:t>
            </a:r>
            <a:endParaRPr lang="en-US" sz="600" dirty="0"/>
          </a:p>
        </p:txBody>
      </p:sp>
      <p:sp>
        <p:nvSpPr>
          <p:cNvPr id="56" name="Text 53"/>
          <p:cNvSpPr/>
          <p:nvPr/>
        </p:nvSpPr>
        <p:spPr>
          <a:xfrm>
            <a:off x="4557713" y="3480736"/>
            <a:ext cx="430160" cy="100013"/>
          </a:xfrm>
          <a:prstGeom prst="rect">
            <a:avLst/>
          </a:prstGeom>
          <a:noFill/>
          <a:ln/>
        </p:spPr>
        <p:txBody>
          <a:bodyPr wrap="none" lIns="0" tIns="0" rIns="0" bIns="0"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RSP / Eval</a:t>
            </a:r>
            <a:endParaRPr lang="en-US" sz="650" dirty="0"/>
          </a:p>
        </p:txBody>
      </p:sp>
      <p:sp>
        <p:nvSpPr>
          <p:cNvPr id="57" name="Text 54"/>
          <p:cNvSpPr/>
          <p:nvPr/>
        </p:nvSpPr>
        <p:spPr>
          <a:xfrm>
            <a:off x="5972175" y="3342326"/>
            <a:ext cx="1328738" cy="111621"/>
          </a:xfrm>
          <a:prstGeom prst="rect">
            <a:avLst/>
          </a:prstGeom>
          <a:noFill/>
          <a:ln/>
        </p:spPr>
        <p:txBody>
          <a:bodyPr wrap="none" lIns="0" tIns="0" rIns="0" bIns="0" rtlCol="0" anchor="t">
            <a:spAutoFit/>
          </a:bodyPr>
          <a:lstStyle/>
          <a:p>
            <a:pPr algn="l" indent="0" marL="0">
              <a:lnSpc>
                <a:spcPct val="100000"/>
              </a:lnSpc>
              <a:buNone/>
            </a:pPr>
            <a:r>
              <a:rPr lang="en-US" sz="600" b="1" dirty="0">
                <a:solidFill>
                  <a:srgbClr val="102033"/>
                </a:solidFill>
                <a:latin typeface="Inter Bold" pitchFamily="34" charset="0"/>
                <a:ea typeface="Inter Bold" pitchFamily="34" charset="-122"/>
                <a:cs typeface="Inter Bold" pitchFamily="34" charset="-120"/>
              </a:rPr>
              <a:t>Admin</a:t>
            </a:r>
            <a:endParaRPr lang="en-US" sz="600" dirty="0"/>
          </a:p>
        </p:txBody>
      </p:sp>
      <p:sp>
        <p:nvSpPr>
          <p:cNvPr id="58" name="Text 55"/>
          <p:cNvSpPr/>
          <p:nvPr/>
        </p:nvSpPr>
        <p:spPr>
          <a:xfrm>
            <a:off x="5972175" y="3480736"/>
            <a:ext cx="461637" cy="100013"/>
          </a:xfrm>
          <a:prstGeom prst="rect">
            <a:avLst/>
          </a:prstGeom>
          <a:noFill/>
          <a:ln/>
        </p:spPr>
        <p:txBody>
          <a:bodyPr wrap="none" lIns="0" tIns="0" rIns="0" bIns="0"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SSO / Audit</a:t>
            </a:r>
            <a:endParaRPr lang="en-US" sz="650" dirty="0"/>
          </a:p>
        </p:txBody>
      </p:sp>
      <p:sp>
        <p:nvSpPr>
          <p:cNvPr id="59" name="Text 56"/>
          <p:cNvSpPr/>
          <p:nvPr/>
        </p:nvSpPr>
        <p:spPr>
          <a:xfrm>
            <a:off x="7386638" y="3342326"/>
            <a:ext cx="1328738" cy="111621"/>
          </a:xfrm>
          <a:prstGeom prst="rect">
            <a:avLst/>
          </a:prstGeom>
          <a:noFill/>
          <a:ln/>
        </p:spPr>
        <p:txBody>
          <a:bodyPr wrap="none" lIns="0" tIns="0" rIns="0" bIns="0" rtlCol="0" anchor="t">
            <a:spAutoFit/>
          </a:bodyPr>
          <a:lstStyle/>
          <a:p>
            <a:pPr algn="l" indent="0" marL="0">
              <a:lnSpc>
                <a:spcPct val="100000"/>
              </a:lnSpc>
              <a:buNone/>
            </a:pPr>
            <a:r>
              <a:rPr lang="en-US" sz="600" b="1" dirty="0">
                <a:solidFill>
                  <a:srgbClr val="102033"/>
                </a:solidFill>
                <a:latin typeface="Inter Bold" pitchFamily="34" charset="0"/>
                <a:ea typeface="Inter Bold" pitchFamily="34" charset="-122"/>
                <a:cs typeface="Inter Bold" pitchFamily="34" charset="-120"/>
              </a:rPr>
              <a:t>Cloud IAM</a:t>
            </a:r>
            <a:endParaRPr lang="en-US" sz="600" dirty="0"/>
          </a:p>
        </p:txBody>
      </p:sp>
      <p:sp>
        <p:nvSpPr>
          <p:cNvPr id="60" name="Text 57"/>
          <p:cNvSpPr/>
          <p:nvPr/>
        </p:nvSpPr>
        <p:spPr>
          <a:xfrm>
            <a:off x="7386638" y="3480736"/>
            <a:ext cx="446484" cy="100013"/>
          </a:xfrm>
          <a:prstGeom prst="rect">
            <a:avLst/>
          </a:prstGeom>
          <a:noFill/>
          <a:ln/>
        </p:spPr>
        <p:txBody>
          <a:bodyPr wrap="none" lIns="0" tIns="0" rIns="0" bIns="0"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企业云治理</a:t>
            </a:r>
            <a:endParaRPr lang="en-US" sz="650" dirty="0"/>
          </a:p>
        </p:txBody>
      </p:sp>
      <p:sp>
        <p:nvSpPr>
          <p:cNvPr id="61" name="Text 58"/>
          <p:cNvSpPr/>
          <p:nvPr/>
        </p:nvSpPr>
        <p:spPr>
          <a:xfrm>
            <a:off x="428625" y="3942401"/>
            <a:ext cx="4021931" cy="129229"/>
          </a:xfrm>
          <a:prstGeom prst="rect">
            <a:avLst/>
          </a:prstGeom>
          <a:noFill/>
          <a:ln/>
        </p:spPr>
        <p:txBody>
          <a:bodyPr wrap="none" lIns="0" tIns="0" rIns="0" bIns="0" rtlCol="0" anchor="t">
            <a:spAutoFit/>
          </a:bodyPr>
          <a:lstStyle/>
          <a:p>
            <a:pPr algn="l" indent="0" marL="0">
              <a:lnSpc>
                <a:spcPct val="107200"/>
              </a:lnSpc>
              <a:buNone/>
            </a:pPr>
            <a:r>
              <a:rPr lang="en-US" sz="650" b="1" dirty="0">
                <a:solidFill>
                  <a:srgbClr val="0B8F5A"/>
                </a:solidFill>
                <a:latin typeface="Inter Bold" pitchFamily="34" charset="0"/>
                <a:ea typeface="Inter Bold" pitchFamily="34" charset="-122"/>
                <a:cs typeface="Inter Bold" pitchFamily="34" charset="-120"/>
              </a:rPr>
              <a:t>员工部署：</a:t>
            </a:r>
            <a:r>
              <a:rPr lang="en-US" sz="700" dirty="0">
                <a:solidFill>
                  <a:srgbClr val="4B5F73"/>
                </a:solidFill>
                <a:latin typeface="Inter" pitchFamily="34" charset="0"/>
                <a:ea typeface="Inter" pitchFamily="34" charset="-122"/>
                <a:cs typeface="Inter" pitchFamily="34" charset="-120"/>
              </a:rPr>
              <a:t>Enterprise + Connectors + Admin，把 Claude 放进组织工作流。</a:t>
            </a:r>
            <a:endParaRPr lang="en-US" sz="650" dirty="0"/>
          </a:p>
        </p:txBody>
      </p:sp>
      <p:sp>
        <p:nvSpPr>
          <p:cNvPr id="62" name="Text 59"/>
          <p:cNvSpPr/>
          <p:nvPr/>
        </p:nvSpPr>
        <p:spPr>
          <a:xfrm>
            <a:off x="4693444" y="3942401"/>
            <a:ext cx="4021931" cy="129229"/>
          </a:xfrm>
          <a:prstGeom prst="rect">
            <a:avLst/>
          </a:prstGeom>
          <a:noFill/>
          <a:ln/>
        </p:spPr>
        <p:txBody>
          <a:bodyPr wrap="none" lIns="0" tIns="0" rIns="0" bIns="0" rtlCol="0" anchor="t">
            <a:spAutoFit/>
          </a:bodyPr>
          <a:lstStyle/>
          <a:p>
            <a:pPr algn="l" indent="0" marL="0">
              <a:lnSpc>
                <a:spcPct val="107200"/>
              </a:lnSpc>
              <a:buNone/>
            </a:pPr>
            <a:r>
              <a:rPr lang="en-US" sz="650" b="1" dirty="0">
                <a:solidFill>
                  <a:srgbClr val="0B8F5A"/>
                </a:solidFill>
                <a:latin typeface="Inter Bold" pitchFamily="34" charset="0"/>
                <a:ea typeface="Inter Bold" pitchFamily="34" charset="-122"/>
                <a:cs typeface="Inter Bold" pitchFamily="34" charset="-120"/>
              </a:rPr>
              <a:t>平台内嵌：</a:t>
            </a:r>
            <a:r>
              <a:rPr lang="en-US" sz="700" dirty="0">
                <a:solidFill>
                  <a:srgbClr val="4B5F73"/>
                </a:solidFill>
                <a:latin typeface="Inter" pitchFamily="34" charset="0"/>
                <a:ea typeface="Inter" pitchFamily="34" charset="-122"/>
                <a:cs typeface="Inter" pitchFamily="34" charset="-120"/>
              </a:rPr>
              <a:t>API + Agents + Cloud，把 Claude 变成企业产品和后台流程的智能层。</a:t>
            </a:r>
            <a:endParaRPr lang="en-US" sz="650" dirty="0"/>
          </a:p>
        </p:txBody>
      </p:sp>
      <p:sp>
        <p:nvSpPr>
          <p:cNvPr id="63" name="Text 60"/>
          <p:cNvSpPr/>
          <p:nvPr/>
        </p:nvSpPr>
        <p:spPr>
          <a:xfrm>
            <a:off x="428625" y="4164499"/>
            <a:ext cx="8286750" cy="133722"/>
          </a:xfrm>
          <a:prstGeom prst="rect">
            <a:avLst/>
          </a:prstGeom>
          <a:noFill/>
          <a:ln/>
        </p:spPr>
        <p:txBody>
          <a:bodyPr wrap="none" lIns="0" tIns="42545" rIns="0" bIns="0" rtlCol="0" anchor="t">
            <a:spAutoFit/>
          </a:bodyPr>
          <a:lstStyle/>
          <a:p>
            <a:pPr algn="l" indent="0" marL="0">
              <a:lnSpc>
                <a:spcPct val="96000"/>
              </a:lnSpc>
              <a:buNone/>
            </a:pPr>
            <a:r>
              <a:rPr lang="en-US" sz="550" dirty="0">
                <a:solidFill>
                  <a:srgbClr val="6B7A8A"/>
                </a:solidFill>
                <a:latin typeface="Inter" pitchFamily="34" charset="0"/>
                <a:ea typeface="Inter" pitchFamily="34" charset="-122"/>
                <a:cs typeface="Inter" pitchFamily="34" charset="-120"/>
              </a:rPr>
              <a:t>来源：Anthropic Docs；Claude Enterprise；Claude Connectors；Claude Platform and cloud partner pages。</a:t>
            </a:r>
            <a:endParaRPr lang="en-US" sz="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328613"/>
            <a:ext cx="8286750" cy="98227"/>
          </a:xfrm>
          <a:prstGeom prst="rect">
            <a:avLst/>
          </a:prstGeom>
          <a:noFill/>
          <a:ln/>
        </p:spPr>
        <p:txBody>
          <a:bodyPr wrap="square" lIns="0" tIns="0" rIns="0" bIns="0" rtlCol="0" anchor="t">
            <a:spAutoFit/>
          </a:bodyPr>
          <a:lstStyle/>
          <a:p>
            <a:pPr algn="l" indent="0" marL="0">
              <a:buNone/>
            </a:pPr>
            <a:r>
              <a:rPr lang="en-US" sz="600" b="1" spc="2" kern="0" dirty="0">
                <a:solidFill>
                  <a:srgbClr val="0B8F5A"/>
                </a:solidFill>
                <a:latin typeface="Inter ExtraBold" pitchFamily="34" charset="0"/>
                <a:ea typeface="Inter ExtraBold" pitchFamily="34" charset="-122"/>
                <a:cs typeface="Inter ExtraBold" pitchFamily="34" charset="-120"/>
              </a:rPr>
              <a:t>B2B STRATEGY</a:t>
            </a:r>
            <a:endParaRPr lang="en-US" sz="600" dirty="0"/>
          </a:p>
        </p:txBody>
      </p:sp>
      <p:sp>
        <p:nvSpPr>
          <p:cNvPr id="4" name="Text 1"/>
          <p:cNvSpPr/>
          <p:nvPr/>
        </p:nvSpPr>
        <p:spPr>
          <a:xfrm>
            <a:off x="428625" y="498277"/>
            <a:ext cx="8286750" cy="275034"/>
          </a:xfrm>
          <a:prstGeom prst="rect">
            <a:avLst/>
          </a:prstGeom>
          <a:noFill/>
          <a:ln/>
        </p:spPr>
        <p:txBody>
          <a:bodyPr wrap="none" lIns="0" tIns="0" rIns="0" bIns="0" rtlCol="0" anchor="t">
            <a:spAutoFit/>
          </a:bodyPr>
          <a:lstStyle/>
          <a:p>
            <a:pPr algn="l" indent="0" marL="0">
              <a:lnSpc>
                <a:spcPct val="88000"/>
              </a:lnSpc>
              <a:buNone/>
            </a:pPr>
            <a:r>
              <a:rPr lang="en-US" sz="1750" b="1" dirty="0">
                <a:solidFill>
                  <a:srgbClr val="102033"/>
                </a:solidFill>
                <a:latin typeface="Inter Bold" pitchFamily="34" charset="0"/>
                <a:ea typeface="Inter Bold" pitchFamily="34" charset="-122"/>
                <a:cs typeface="Inter Bold" pitchFamily="34" charset="-120"/>
              </a:rPr>
              <a:t>To B 两条主线：员工部署与平台内嵌</a:t>
            </a:r>
            <a:endParaRPr lang="en-US" sz="1750" dirty="0"/>
          </a:p>
        </p:txBody>
      </p:sp>
      <p:sp>
        <p:nvSpPr>
          <p:cNvPr id="5" name="Text 2"/>
          <p:cNvSpPr/>
          <p:nvPr/>
        </p:nvSpPr>
        <p:spPr>
          <a:xfrm>
            <a:off x="428625" y="844748"/>
            <a:ext cx="7715250" cy="152140"/>
          </a:xfrm>
          <a:prstGeom prst="rect">
            <a:avLst/>
          </a:prstGeom>
          <a:noFill/>
          <a:ln/>
        </p:spPr>
        <p:txBody>
          <a:bodyPr wrap="none" lIns="0" tIns="0" rIns="0" bIns="0" rtlCol="0" anchor="t">
            <a:spAutoFit/>
          </a:bodyPr>
          <a:lstStyle/>
          <a:p>
            <a:pPr algn="l" indent="0" marL="0">
              <a:lnSpc>
                <a:spcPct val="113600"/>
              </a:lnSpc>
              <a:buNone/>
            </a:pPr>
            <a:r>
              <a:rPr lang="en-US" sz="800" dirty="0">
                <a:solidFill>
                  <a:srgbClr val="4B5F73"/>
                </a:solidFill>
                <a:latin typeface="Inter" pitchFamily="34" charset="0"/>
                <a:ea typeface="Inter" pitchFamily="34" charset="-122"/>
                <a:cs typeface="Inter" pitchFamily="34" charset="-120"/>
              </a:rPr>
              <a:t>Anthropic 企业化并不是单一“卖 API”，而是同时经营员工侧生产力入口与平台侧开发者底座。</a:t>
            </a:r>
            <a:endParaRPr lang="en-US" sz="800" dirty="0"/>
          </a:p>
        </p:txBody>
      </p:sp>
      <p:sp>
        <p:nvSpPr>
          <p:cNvPr id="6" name="Text 3"/>
          <p:cNvSpPr/>
          <p:nvPr/>
        </p:nvSpPr>
        <p:spPr>
          <a:xfrm>
            <a:off x="428625" y="1261207"/>
            <a:ext cx="3971925" cy="258961"/>
          </a:xfrm>
          <a:prstGeom prst="rect">
            <a:avLst/>
          </a:prstGeom>
          <a:noFill/>
          <a:ln/>
        </p:spPr>
        <p:txBody>
          <a:bodyPr wrap="square" lIns="0" tIns="0" rIns="0" bIns="0" rtlCol="0" anchor="t">
            <a:spAutoFit/>
          </a:bodyPr>
          <a:lstStyle/>
          <a:p>
            <a:pPr algn="l" indent="0" marL="0">
              <a:buNone/>
            </a:pPr>
            <a:r>
              <a:rPr lang="en-US" sz="1250" b="1" dirty="0">
                <a:solidFill>
                  <a:srgbClr val="1E63FF"/>
                </a:solidFill>
                <a:latin typeface="Inter Bold" pitchFamily="34" charset="0"/>
                <a:ea typeface="Inter Bold" pitchFamily="34" charset="-122"/>
                <a:cs typeface="Inter Bold" pitchFamily="34" charset="-120"/>
              </a:rPr>
              <a:t>路径 A：Claude Enterprise</a:t>
            </a:r>
            <a:endParaRPr lang="en-US" sz="1250" dirty="0"/>
          </a:p>
        </p:txBody>
      </p:sp>
      <p:sp>
        <p:nvSpPr>
          <p:cNvPr id="7" name="Text 4"/>
          <p:cNvSpPr/>
          <p:nvPr/>
        </p:nvSpPr>
        <p:spPr>
          <a:xfrm>
            <a:off x="428625" y="1677330"/>
            <a:ext cx="785813" cy="414338"/>
          </a:xfrm>
          <a:prstGeom prst="rect">
            <a:avLst/>
          </a:prstGeom>
          <a:noFill/>
          <a:ln/>
        </p:spPr>
        <p:txBody>
          <a:bodyPr wrap="none" lIns="0" tIns="0" rIns="0" bIns="0" rtlCol="0" anchor="t">
            <a:spAutoFit/>
          </a:bodyPr>
          <a:lstStyle/>
          <a:p>
            <a:pPr algn="l" indent="0" marL="0">
              <a:buNone/>
            </a:pPr>
            <a:r>
              <a:rPr lang="en-US" sz="650" b="1" dirty="0">
                <a:solidFill>
                  <a:srgbClr val="102033"/>
                </a:solidFill>
                <a:latin typeface="Inter Bold" pitchFamily="34" charset="0"/>
                <a:ea typeface="Inter Bold" pitchFamily="34" charset="-122"/>
                <a:cs typeface="Inter Bold" pitchFamily="34" charset="-120"/>
              </a:rPr>
              <a:t>买方</a:t>
            </a:r>
            <a:endParaRPr lang="en-US" sz="650" dirty="0"/>
          </a:p>
        </p:txBody>
      </p:sp>
      <p:sp>
        <p:nvSpPr>
          <p:cNvPr id="8" name="Text 5"/>
          <p:cNvSpPr/>
          <p:nvPr/>
        </p:nvSpPr>
        <p:spPr>
          <a:xfrm>
            <a:off x="1314450" y="1677330"/>
            <a:ext cx="3086100" cy="414338"/>
          </a:xfrm>
          <a:prstGeom prst="rect">
            <a:avLst/>
          </a:prstGeom>
          <a:noFill/>
          <a:ln/>
        </p:spPr>
        <p:txBody>
          <a:bodyPr wrap="square" lIns="0" tIns="0" rIns="0" bIns="0" rtlCol="0" anchor="t">
            <a:spAutoFit/>
          </a:bodyPr>
          <a:lstStyle/>
          <a:p>
            <a:pPr algn="l" indent="0" marL="0">
              <a:lnSpc>
                <a:spcPct val="107200"/>
              </a:lnSpc>
              <a:buNone/>
            </a:pPr>
            <a:r>
              <a:rPr lang="en-US" sz="700" dirty="0">
                <a:solidFill>
                  <a:srgbClr val="4B5F73"/>
                </a:solidFill>
                <a:latin typeface="Inter" pitchFamily="34" charset="0"/>
                <a:ea typeface="Inter" pitchFamily="34" charset="-122"/>
                <a:cs typeface="Inter" pitchFamily="34" charset="-120"/>
              </a:rPr>
              <a:t>CIO、业务部门、AI 转型办公室、法务/合规、CISO。</a:t>
            </a:r>
            <a:endParaRPr lang="en-US" sz="700" dirty="0"/>
          </a:p>
        </p:txBody>
      </p:sp>
      <p:sp>
        <p:nvSpPr>
          <p:cNvPr id="9" name="Text 6"/>
          <p:cNvSpPr/>
          <p:nvPr/>
        </p:nvSpPr>
        <p:spPr>
          <a:xfrm>
            <a:off x="428625" y="2163105"/>
            <a:ext cx="785813" cy="414338"/>
          </a:xfrm>
          <a:prstGeom prst="rect">
            <a:avLst/>
          </a:prstGeom>
          <a:noFill/>
          <a:ln/>
        </p:spPr>
        <p:txBody>
          <a:bodyPr wrap="none" lIns="0" tIns="0" rIns="0" bIns="0" rtlCol="0" anchor="t">
            <a:spAutoFit/>
          </a:bodyPr>
          <a:lstStyle/>
          <a:p>
            <a:pPr algn="l" indent="0" marL="0">
              <a:buNone/>
            </a:pPr>
            <a:r>
              <a:rPr lang="en-US" sz="650" b="1" dirty="0">
                <a:solidFill>
                  <a:srgbClr val="102033"/>
                </a:solidFill>
                <a:latin typeface="Inter Bold" pitchFamily="34" charset="0"/>
                <a:ea typeface="Inter Bold" pitchFamily="34" charset="-122"/>
                <a:cs typeface="Inter Bold" pitchFamily="34" charset="-120"/>
              </a:rPr>
              <a:t>用户</a:t>
            </a:r>
            <a:endParaRPr lang="en-US" sz="650" dirty="0"/>
          </a:p>
        </p:txBody>
      </p:sp>
      <p:sp>
        <p:nvSpPr>
          <p:cNvPr id="10" name="Text 7"/>
          <p:cNvSpPr/>
          <p:nvPr/>
        </p:nvSpPr>
        <p:spPr>
          <a:xfrm>
            <a:off x="1314450" y="2163105"/>
            <a:ext cx="3086100" cy="414338"/>
          </a:xfrm>
          <a:prstGeom prst="rect">
            <a:avLst/>
          </a:prstGeom>
          <a:noFill/>
          <a:ln/>
        </p:spPr>
        <p:txBody>
          <a:bodyPr wrap="square" lIns="0" tIns="0" rIns="0" bIns="0" rtlCol="0" anchor="t">
            <a:spAutoFit/>
          </a:bodyPr>
          <a:lstStyle/>
          <a:p>
            <a:pPr algn="l" indent="0" marL="0">
              <a:lnSpc>
                <a:spcPct val="107200"/>
              </a:lnSpc>
              <a:buNone/>
            </a:pPr>
            <a:r>
              <a:rPr lang="en-US" sz="700" dirty="0">
                <a:solidFill>
                  <a:srgbClr val="4B5F73"/>
                </a:solidFill>
                <a:latin typeface="Inter" pitchFamily="34" charset="0"/>
                <a:ea typeface="Inter" pitchFamily="34" charset="-122"/>
                <a:cs typeface="Inter" pitchFamily="34" charset="-120"/>
              </a:rPr>
              <a:t>知识工作者、分析师、销售、客服、运营、法务、研究人员。</a:t>
            </a:r>
            <a:endParaRPr lang="en-US" sz="700" dirty="0"/>
          </a:p>
        </p:txBody>
      </p:sp>
      <p:sp>
        <p:nvSpPr>
          <p:cNvPr id="11" name="Text 8"/>
          <p:cNvSpPr/>
          <p:nvPr/>
        </p:nvSpPr>
        <p:spPr>
          <a:xfrm>
            <a:off x="428625" y="2648880"/>
            <a:ext cx="785813" cy="414338"/>
          </a:xfrm>
          <a:prstGeom prst="rect">
            <a:avLst/>
          </a:prstGeom>
          <a:noFill/>
          <a:ln/>
        </p:spPr>
        <p:txBody>
          <a:bodyPr wrap="none" lIns="0" tIns="0" rIns="0" bIns="0" rtlCol="0" anchor="t">
            <a:spAutoFit/>
          </a:bodyPr>
          <a:lstStyle/>
          <a:p>
            <a:pPr algn="l" indent="0" marL="0">
              <a:buNone/>
            </a:pPr>
            <a:r>
              <a:rPr lang="en-US" sz="650" b="1" dirty="0">
                <a:solidFill>
                  <a:srgbClr val="102033"/>
                </a:solidFill>
                <a:latin typeface="Inter Bold" pitchFamily="34" charset="0"/>
                <a:ea typeface="Inter Bold" pitchFamily="34" charset="-122"/>
                <a:cs typeface="Inter Bold" pitchFamily="34" charset="-120"/>
              </a:rPr>
              <a:t>核心能力</a:t>
            </a:r>
            <a:endParaRPr lang="en-US" sz="650" dirty="0"/>
          </a:p>
        </p:txBody>
      </p:sp>
      <p:sp>
        <p:nvSpPr>
          <p:cNvPr id="12" name="Text 9"/>
          <p:cNvSpPr/>
          <p:nvPr/>
        </p:nvSpPr>
        <p:spPr>
          <a:xfrm>
            <a:off x="1314450" y="2648880"/>
            <a:ext cx="3086100" cy="414338"/>
          </a:xfrm>
          <a:prstGeom prst="rect">
            <a:avLst/>
          </a:prstGeom>
          <a:noFill/>
          <a:ln/>
        </p:spPr>
        <p:txBody>
          <a:bodyPr wrap="square" lIns="0" tIns="0" rIns="0" bIns="0" rtlCol="0" anchor="t">
            <a:spAutoFit/>
          </a:bodyPr>
          <a:lstStyle/>
          <a:p>
            <a:pPr algn="l" indent="0" marL="0">
              <a:lnSpc>
                <a:spcPct val="107200"/>
              </a:lnSpc>
              <a:buNone/>
            </a:pPr>
            <a:r>
              <a:rPr lang="en-US" sz="700" dirty="0">
                <a:solidFill>
                  <a:srgbClr val="4B5F73"/>
                </a:solidFill>
                <a:latin typeface="Inter" pitchFamily="34" charset="0"/>
                <a:ea typeface="Inter" pitchFamily="34" charset="-122"/>
                <a:cs typeface="Inter" pitchFamily="34" charset="-120"/>
              </a:rPr>
              <a:t>组织级 Claude、企业连接器、权限、审计、管理后台、数据承诺。</a:t>
            </a:r>
            <a:endParaRPr lang="en-US" sz="700" dirty="0"/>
          </a:p>
        </p:txBody>
      </p:sp>
      <p:sp>
        <p:nvSpPr>
          <p:cNvPr id="13" name="Text 10"/>
          <p:cNvSpPr/>
          <p:nvPr/>
        </p:nvSpPr>
        <p:spPr>
          <a:xfrm>
            <a:off x="428625" y="3134655"/>
            <a:ext cx="785813" cy="414338"/>
          </a:xfrm>
          <a:prstGeom prst="rect">
            <a:avLst/>
          </a:prstGeom>
          <a:noFill/>
          <a:ln/>
        </p:spPr>
        <p:txBody>
          <a:bodyPr wrap="none" lIns="0" tIns="0" rIns="0" bIns="0" rtlCol="0" anchor="t">
            <a:spAutoFit/>
          </a:bodyPr>
          <a:lstStyle/>
          <a:p>
            <a:pPr algn="l" indent="0" marL="0">
              <a:buNone/>
            </a:pPr>
            <a:r>
              <a:rPr lang="en-US" sz="650" b="1" dirty="0">
                <a:solidFill>
                  <a:srgbClr val="102033"/>
                </a:solidFill>
                <a:latin typeface="Inter Bold" pitchFamily="34" charset="0"/>
                <a:ea typeface="Inter Bold" pitchFamily="34" charset="-122"/>
                <a:cs typeface="Inter Bold" pitchFamily="34" charset="-120"/>
              </a:rPr>
              <a:t>价值</a:t>
            </a:r>
            <a:endParaRPr lang="en-US" sz="650" dirty="0"/>
          </a:p>
        </p:txBody>
      </p:sp>
      <p:sp>
        <p:nvSpPr>
          <p:cNvPr id="14" name="Text 11"/>
          <p:cNvSpPr/>
          <p:nvPr/>
        </p:nvSpPr>
        <p:spPr>
          <a:xfrm>
            <a:off x="1314450" y="3134655"/>
            <a:ext cx="3086100" cy="414338"/>
          </a:xfrm>
          <a:prstGeom prst="rect">
            <a:avLst/>
          </a:prstGeom>
          <a:noFill/>
          <a:ln/>
        </p:spPr>
        <p:txBody>
          <a:bodyPr wrap="square" lIns="0" tIns="0" rIns="0" bIns="0" rtlCol="0" anchor="t">
            <a:spAutoFit/>
          </a:bodyPr>
          <a:lstStyle/>
          <a:p>
            <a:pPr algn="l" indent="0" marL="0">
              <a:lnSpc>
                <a:spcPct val="107200"/>
              </a:lnSpc>
              <a:buNone/>
            </a:pPr>
            <a:r>
              <a:rPr lang="en-US" sz="700" dirty="0">
                <a:solidFill>
                  <a:srgbClr val="4B5F73"/>
                </a:solidFill>
                <a:latin typeface="Inter" pitchFamily="34" charset="0"/>
                <a:ea typeface="Inter" pitchFamily="34" charset="-122"/>
                <a:cs typeface="Inter" pitchFamily="34" charset="-120"/>
              </a:rPr>
              <a:t>让员工直接使用 AI 完成写作、分析、检索、总结和跨系统任务。</a:t>
            </a:r>
            <a:endParaRPr lang="en-US" sz="700" dirty="0"/>
          </a:p>
        </p:txBody>
      </p:sp>
      <p:sp>
        <p:nvSpPr>
          <p:cNvPr id="15" name="Text 12"/>
          <p:cNvSpPr/>
          <p:nvPr/>
        </p:nvSpPr>
        <p:spPr>
          <a:xfrm>
            <a:off x="428625" y="3620430"/>
            <a:ext cx="785813" cy="414338"/>
          </a:xfrm>
          <a:prstGeom prst="rect">
            <a:avLst/>
          </a:prstGeom>
          <a:noFill/>
          <a:ln/>
        </p:spPr>
        <p:txBody>
          <a:bodyPr wrap="none" lIns="0" tIns="0" rIns="0" bIns="0" rtlCol="0" anchor="t">
            <a:spAutoFit/>
          </a:bodyPr>
          <a:lstStyle/>
          <a:p>
            <a:pPr algn="l" indent="0" marL="0">
              <a:buNone/>
            </a:pPr>
            <a:r>
              <a:rPr lang="en-US" sz="650" b="1" dirty="0">
                <a:solidFill>
                  <a:srgbClr val="102033"/>
                </a:solidFill>
                <a:latin typeface="Inter Bold" pitchFamily="34" charset="0"/>
                <a:ea typeface="Inter Bold" pitchFamily="34" charset="-122"/>
                <a:cs typeface="Inter Bold" pitchFamily="34" charset="-120"/>
              </a:rPr>
              <a:t>风险点</a:t>
            </a:r>
            <a:endParaRPr lang="en-US" sz="650" dirty="0"/>
          </a:p>
        </p:txBody>
      </p:sp>
      <p:sp>
        <p:nvSpPr>
          <p:cNvPr id="16" name="Text 13"/>
          <p:cNvSpPr/>
          <p:nvPr/>
        </p:nvSpPr>
        <p:spPr>
          <a:xfrm>
            <a:off x="1314450" y="3620430"/>
            <a:ext cx="3086100" cy="414338"/>
          </a:xfrm>
          <a:prstGeom prst="rect">
            <a:avLst/>
          </a:prstGeom>
          <a:noFill/>
          <a:ln/>
        </p:spPr>
        <p:txBody>
          <a:bodyPr wrap="square" lIns="0" tIns="0" rIns="0" bIns="0" rtlCol="0" anchor="t">
            <a:spAutoFit/>
          </a:bodyPr>
          <a:lstStyle/>
          <a:p>
            <a:pPr algn="l" indent="0" marL="0">
              <a:lnSpc>
                <a:spcPct val="107200"/>
              </a:lnSpc>
              <a:buNone/>
            </a:pPr>
            <a:r>
              <a:rPr lang="en-US" sz="700" dirty="0">
                <a:solidFill>
                  <a:srgbClr val="4B5F73"/>
                </a:solidFill>
                <a:latin typeface="Inter" pitchFamily="34" charset="0"/>
                <a:ea typeface="Inter" pitchFamily="34" charset="-122"/>
                <a:cs typeface="Inter" pitchFamily="34" charset="-120"/>
              </a:rPr>
              <a:t>权限边界、敏感数据、用户培训、提示词治理、ROI 归因。</a:t>
            </a:r>
            <a:endParaRPr lang="en-US" sz="700" dirty="0"/>
          </a:p>
        </p:txBody>
      </p:sp>
      <p:sp>
        <p:nvSpPr>
          <p:cNvPr id="17" name="Text 14"/>
          <p:cNvSpPr/>
          <p:nvPr/>
        </p:nvSpPr>
        <p:spPr>
          <a:xfrm>
            <a:off x="4743450" y="1261207"/>
            <a:ext cx="3971925" cy="258961"/>
          </a:xfrm>
          <a:prstGeom prst="rect">
            <a:avLst/>
          </a:prstGeom>
          <a:noFill/>
          <a:ln/>
        </p:spPr>
        <p:txBody>
          <a:bodyPr wrap="square" lIns="0" tIns="0" rIns="0" bIns="0" rtlCol="0" anchor="t">
            <a:spAutoFit/>
          </a:bodyPr>
          <a:lstStyle/>
          <a:p>
            <a:pPr algn="l" indent="0" marL="0">
              <a:buNone/>
            </a:pPr>
            <a:r>
              <a:rPr lang="en-US" sz="1250" b="1" dirty="0">
                <a:solidFill>
                  <a:srgbClr val="0B8F5A"/>
                </a:solidFill>
                <a:latin typeface="Inter Bold" pitchFamily="34" charset="0"/>
                <a:ea typeface="Inter Bold" pitchFamily="34" charset="-122"/>
                <a:cs typeface="Inter Bold" pitchFamily="34" charset="-120"/>
              </a:rPr>
              <a:t>路径 B：Claude Platform</a:t>
            </a:r>
            <a:endParaRPr lang="en-US" sz="1250" dirty="0"/>
          </a:p>
        </p:txBody>
      </p:sp>
      <p:sp>
        <p:nvSpPr>
          <p:cNvPr id="18" name="Text 15"/>
          <p:cNvSpPr/>
          <p:nvPr/>
        </p:nvSpPr>
        <p:spPr>
          <a:xfrm>
            <a:off x="4743450" y="1677330"/>
            <a:ext cx="785813" cy="414338"/>
          </a:xfrm>
          <a:prstGeom prst="rect">
            <a:avLst/>
          </a:prstGeom>
          <a:noFill/>
          <a:ln/>
        </p:spPr>
        <p:txBody>
          <a:bodyPr wrap="none" lIns="0" tIns="0" rIns="0" bIns="0" rtlCol="0" anchor="t">
            <a:spAutoFit/>
          </a:bodyPr>
          <a:lstStyle/>
          <a:p>
            <a:pPr algn="l" indent="0" marL="0">
              <a:buNone/>
            </a:pPr>
            <a:r>
              <a:rPr lang="en-US" sz="650" b="1" dirty="0">
                <a:solidFill>
                  <a:srgbClr val="102033"/>
                </a:solidFill>
                <a:latin typeface="Inter Bold" pitchFamily="34" charset="0"/>
                <a:ea typeface="Inter Bold" pitchFamily="34" charset="-122"/>
                <a:cs typeface="Inter Bold" pitchFamily="34" charset="-120"/>
              </a:rPr>
              <a:t>买方</a:t>
            </a:r>
            <a:endParaRPr lang="en-US" sz="650" dirty="0"/>
          </a:p>
        </p:txBody>
      </p:sp>
      <p:sp>
        <p:nvSpPr>
          <p:cNvPr id="19" name="Text 16"/>
          <p:cNvSpPr/>
          <p:nvPr/>
        </p:nvSpPr>
        <p:spPr>
          <a:xfrm>
            <a:off x="5629275" y="1677330"/>
            <a:ext cx="3086100" cy="414338"/>
          </a:xfrm>
          <a:prstGeom prst="rect">
            <a:avLst/>
          </a:prstGeom>
          <a:noFill/>
          <a:ln/>
        </p:spPr>
        <p:txBody>
          <a:bodyPr wrap="square" lIns="0" tIns="0" rIns="0" bIns="0" rtlCol="0" anchor="t">
            <a:spAutoFit/>
          </a:bodyPr>
          <a:lstStyle/>
          <a:p>
            <a:pPr algn="l" indent="0" marL="0">
              <a:lnSpc>
                <a:spcPct val="107200"/>
              </a:lnSpc>
              <a:buNone/>
            </a:pPr>
            <a:r>
              <a:rPr lang="en-US" sz="700" dirty="0">
                <a:solidFill>
                  <a:srgbClr val="4B5F73"/>
                </a:solidFill>
                <a:latin typeface="Inter" pitchFamily="34" charset="0"/>
                <a:ea typeface="Inter" pitchFamily="34" charset="-122"/>
                <a:cs typeface="Inter" pitchFamily="34" charset="-120"/>
              </a:rPr>
              <a:t>CTO、产品负责人、工程平台团队、数据/AI 平台团队。</a:t>
            </a:r>
            <a:endParaRPr lang="en-US" sz="700" dirty="0"/>
          </a:p>
        </p:txBody>
      </p:sp>
      <p:sp>
        <p:nvSpPr>
          <p:cNvPr id="20" name="Text 17"/>
          <p:cNvSpPr/>
          <p:nvPr/>
        </p:nvSpPr>
        <p:spPr>
          <a:xfrm>
            <a:off x="4743450" y="2163105"/>
            <a:ext cx="785813" cy="414338"/>
          </a:xfrm>
          <a:prstGeom prst="rect">
            <a:avLst/>
          </a:prstGeom>
          <a:noFill/>
          <a:ln/>
        </p:spPr>
        <p:txBody>
          <a:bodyPr wrap="none" lIns="0" tIns="0" rIns="0" bIns="0" rtlCol="0" anchor="t">
            <a:spAutoFit/>
          </a:bodyPr>
          <a:lstStyle/>
          <a:p>
            <a:pPr algn="l" indent="0" marL="0">
              <a:buNone/>
            </a:pPr>
            <a:r>
              <a:rPr lang="en-US" sz="650" b="1" dirty="0">
                <a:solidFill>
                  <a:srgbClr val="102033"/>
                </a:solidFill>
                <a:latin typeface="Inter Bold" pitchFamily="34" charset="0"/>
                <a:ea typeface="Inter Bold" pitchFamily="34" charset="-122"/>
                <a:cs typeface="Inter Bold" pitchFamily="34" charset="-120"/>
              </a:rPr>
              <a:t>用户</a:t>
            </a:r>
            <a:endParaRPr lang="en-US" sz="650" dirty="0"/>
          </a:p>
        </p:txBody>
      </p:sp>
      <p:sp>
        <p:nvSpPr>
          <p:cNvPr id="21" name="Text 18"/>
          <p:cNvSpPr/>
          <p:nvPr/>
        </p:nvSpPr>
        <p:spPr>
          <a:xfrm>
            <a:off x="5629275" y="2163105"/>
            <a:ext cx="3086100" cy="414338"/>
          </a:xfrm>
          <a:prstGeom prst="rect">
            <a:avLst/>
          </a:prstGeom>
          <a:noFill/>
          <a:ln/>
        </p:spPr>
        <p:txBody>
          <a:bodyPr wrap="square" lIns="0" tIns="0" rIns="0" bIns="0" rtlCol="0" anchor="t">
            <a:spAutoFit/>
          </a:bodyPr>
          <a:lstStyle/>
          <a:p>
            <a:pPr algn="l" indent="0" marL="0">
              <a:lnSpc>
                <a:spcPct val="107200"/>
              </a:lnSpc>
              <a:buNone/>
            </a:pPr>
            <a:r>
              <a:rPr lang="en-US" sz="700" dirty="0">
                <a:solidFill>
                  <a:srgbClr val="4B5F73"/>
                </a:solidFill>
                <a:latin typeface="Inter" pitchFamily="34" charset="0"/>
                <a:ea typeface="Inter" pitchFamily="34" charset="-122"/>
                <a:cs typeface="Inter" pitchFamily="34" charset="-120"/>
              </a:rPr>
              <a:t>开发者、产品工程、平台工程、内部工具团队、自动化团队。</a:t>
            </a:r>
            <a:endParaRPr lang="en-US" sz="700" dirty="0"/>
          </a:p>
        </p:txBody>
      </p:sp>
      <p:sp>
        <p:nvSpPr>
          <p:cNvPr id="22" name="Text 19"/>
          <p:cNvSpPr/>
          <p:nvPr/>
        </p:nvSpPr>
        <p:spPr>
          <a:xfrm>
            <a:off x="4743450" y="2648880"/>
            <a:ext cx="785813" cy="414338"/>
          </a:xfrm>
          <a:prstGeom prst="rect">
            <a:avLst/>
          </a:prstGeom>
          <a:noFill/>
          <a:ln/>
        </p:spPr>
        <p:txBody>
          <a:bodyPr wrap="none" lIns="0" tIns="0" rIns="0" bIns="0" rtlCol="0" anchor="t">
            <a:spAutoFit/>
          </a:bodyPr>
          <a:lstStyle/>
          <a:p>
            <a:pPr algn="l" indent="0" marL="0">
              <a:buNone/>
            </a:pPr>
            <a:r>
              <a:rPr lang="en-US" sz="650" b="1" dirty="0">
                <a:solidFill>
                  <a:srgbClr val="102033"/>
                </a:solidFill>
                <a:latin typeface="Inter Bold" pitchFamily="34" charset="0"/>
                <a:ea typeface="Inter Bold" pitchFamily="34" charset="-122"/>
                <a:cs typeface="Inter Bold" pitchFamily="34" charset="-120"/>
              </a:rPr>
              <a:t>核心能力</a:t>
            </a:r>
            <a:endParaRPr lang="en-US" sz="650" dirty="0"/>
          </a:p>
        </p:txBody>
      </p:sp>
      <p:sp>
        <p:nvSpPr>
          <p:cNvPr id="23" name="Text 20"/>
          <p:cNvSpPr/>
          <p:nvPr/>
        </p:nvSpPr>
        <p:spPr>
          <a:xfrm>
            <a:off x="5629275" y="2648880"/>
            <a:ext cx="3086100" cy="414338"/>
          </a:xfrm>
          <a:prstGeom prst="rect">
            <a:avLst/>
          </a:prstGeom>
          <a:noFill/>
          <a:ln/>
        </p:spPr>
        <p:txBody>
          <a:bodyPr wrap="square" lIns="0" tIns="0" rIns="0" bIns="0" rtlCol="0" anchor="t">
            <a:spAutoFit/>
          </a:bodyPr>
          <a:lstStyle/>
          <a:p>
            <a:pPr algn="l" indent="0" marL="0">
              <a:lnSpc>
                <a:spcPct val="107200"/>
              </a:lnSpc>
              <a:buNone/>
            </a:pPr>
            <a:r>
              <a:rPr lang="en-US" sz="700" dirty="0">
                <a:solidFill>
                  <a:srgbClr val="4B5F73"/>
                </a:solidFill>
                <a:latin typeface="Inter" pitchFamily="34" charset="0"/>
                <a:ea typeface="Inter" pitchFamily="34" charset="-122"/>
                <a:cs typeface="Inter" pitchFamily="34" charset="-120"/>
              </a:rPr>
              <a:t>API、模型选择、工具调用、批处理、文件、智能体运行时、云集成。</a:t>
            </a:r>
            <a:endParaRPr lang="en-US" sz="700" dirty="0"/>
          </a:p>
        </p:txBody>
      </p:sp>
      <p:sp>
        <p:nvSpPr>
          <p:cNvPr id="24" name="Text 21"/>
          <p:cNvSpPr/>
          <p:nvPr/>
        </p:nvSpPr>
        <p:spPr>
          <a:xfrm>
            <a:off x="4743450" y="3134655"/>
            <a:ext cx="785813" cy="414338"/>
          </a:xfrm>
          <a:prstGeom prst="rect">
            <a:avLst/>
          </a:prstGeom>
          <a:noFill/>
          <a:ln/>
        </p:spPr>
        <p:txBody>
          <a:bodyPr wrap="none" lIns="0" tIns="0" rIns="0" bIns="0" rtlCol="0" anchor="t">
            <a:spAutoFit/>
          </a:bodyPr>
          <a:lstStyle/>
          <a:p>
            <a:pPr algn="l" indent="0" marL="0">
              <a:buNone/>
            </a:pPr>
            <a:r>
              <a:rPr lang="en-US" sz="650" b="1" dirty="0">
                <a:solidFill>
                  <a:srgbClr val="102033"/>
                </a:solidFill>
                <a:latin typeface="Inter Bold" pitchFamily="34" charset="0"/>
                <a:ea typeface="Inter Bold" pitchFamily="34" charset="-122"/>
                <a:cs typeface="Inter Bold" pitchFamily="34" charset="-120"/>
              </a:rPr>
              <a:t>价值</a:t>
            </a:r>
            <a:endParaRPr lang="en-US" sz="650" dirty="0"/>
          </a:p>
        </p:txBody>
      </p:sp>
      <p:sp>
        <p:nvSpPr>
          <p:cNvPr id="25" name="Text 22"/>
          <p:cNvSpPr/>
          <p:nvPr/>
        </p:nvSpPr>
        <p:spPr>
          <a:xfrm>
            <a:off x="5629275" y="3134655"/>
            <a:ext cx="3086100" cy="414338"/>
          </a:xfrm>
          <a:prstGeom prst="rect">
            <a:avLst/>
          </a:prstGeom>
          <a:noFill/>
          <a:ln/>
        </p:spPr>
        <p:txBody>
          <a:bodyPr wrap="square" lIns="0" tIns="0" rIns="0" bIns="0" rtlCol="0" anchor="t">
            <a:spAutoFit/>
          </a:bodyPr>
          <a:lstStyle/>
          <a:p>
            <a:pPr algn="l" indent="0" marL="0">
              <a:lnSpc>
                <a:spcPct val="107200"/>
              </a:lnSpc>
              <a:buNone/>
            </a:pPr>
            <a:r>
              <a:rPr lang="en-US" sz="700" dirty="0">
                <a:solidFill>
                  <a:srgbClr val="4B5F73"/>
                </a:solidFill>
                <a:latin typeface="Inter" pitchFamily="34" charset="0"/>
                <a:ea typeface="Inter" pitchFamily="34" charset="-122"/>
                <a:cs typeface="Inter" pitchFamily="34" charset="-120"/>
              </a:rPr>
              <a:t>把 Claude 内嵌到企业应用、客户产品、后台流程和行业解决方案中。</a:t>
            </a:r>
            <a:endParaRPr lang="en-US" sz="700" dirty="0"/>
          </a:p>
        </p:txBody>
      </p:sp>
      <p:sp>
        <p:nvSpPr>
          <p:cNvPr id="26" name="Text 23"/>
          <p:cNvSpPr/>
          <p:nvPr/>
        </p:nvSpPr>
        <p:spPr>
          <a:xfrm>
            <a:off x="4743450" y="3620430"/>
            <a:ext cx="785813" cy="414338"/>
          </a:xfrm>
          <a:prstGeom prst="rect">
            <a:avLst/>
          </a:prstGeom>
          <a:noFill/>
          <a:ln/>
        </p:spPr>
        <p:txBody>
          <a:bodyPr wrap="none" lIns="0" tIns="0" rIns="0" bIns="0" rtlCol="0" anchor="t">
            <a:spAutoFit/>
          </a:bodyPr>
          <a:lstStyle/>
          <a:p>
            <a:pPr algn="l" indent="0" marL="0">
              <a:buNone/>
            </a:pPr>
            <a:r>
              <a:rPr lang="en-US" sz="650" b="1" dirty="0">
                <a:solidFill>
                  <a:srgbClr val="102033"/>
                </a:solidFill>
                <a:latin typeface="Inter Bold" pitchFamily="34" charset="0"/>
                <a:ea typeface="Inter Bold" pitchFamily="34" charset="-122"/>
                <a:cs typeface="Inter Bold" pitchFamily="34" charset="-120"/>
              </a:rPr>
              <a:t>风险点</a:t>
            </a:r>
            <a:endParaRPr lang="en-US" sz="650" dirty="0"/>
          </a:p>
        </p:txBody>
      </p:sp>
      <p:sp>
        <p:nvSpPr>
          <p:cNvPr id="27" name="Text 24"/>
          <p:cNvSpPr/>
          <p:nvPr/>
        </p:nvSpPr>
        <p:spPr>
          <a:xfrm>
            <a:off x="5629275" y="3620430"/>
            <a:ext cx="3086100" cy="414338"/>
          </a:xfrm>
          <a:prstGeom prst="rect">
            <a:avLst/>
          </a:prstGeom>
          <a:noFill/>
          <a:ln/>
        </p:spPr>
        <p:txBody>
          <a:bodyPr wrap="square" lIns="0" tIns="0" rIns="0" bIns="0" rtlCol="0" anchor="t">
            <a:spAutoFit/>
          </a:bodyPr>
          <a:lstStyle/>
          <a:p>
            <a:pPr algn="l" indent="0" marL="0">
              <a:lnSpc>
                <a:spcPct val="107200"/>
              </a:lnSpc>
              <a:buNone/>
            </a:pPr>
            <a:r>
              <a:rPr lang="en-US" sz="700" dirty="0">
                <a:solidFill>
                  <a:srgbClr val="4B5F73"/>
                </a:solidFill>
                <a:latin typeface="Inter" pitchFamily="34" charset="0"/>
                <a:ea typeface="Inter" pitchFamily="34" charset="-122"/>
                <a:cs typeface="Inter" pitchFamily="34" charset="-120"/>
              </a:rPr>
              <a:t>成本控制、延迟、评估、提示注入、系统集成和可观测性。</a:t>
            </a:r>
            <a:endParaRPr lang="en-US" sz="700" dirty="0"/>
          </a:p>
        </p:txBody>
      </p:sp>
      <p:sp>
        <p:nvSpPr>
          <p:cNvPr id="28" name="Text 25"/>
          <p:cNvSpPr/>
          <p:nvPr/>
        </p:nvSpPr>
        <p:spPr>
          <a:xfrm>
            <a:off x="428625" y="4191930"/>
            <a:ext cx="8286750" cy="232870"/>
          </a:xfrm>
          <a:prstGeom prst="rect">
            <a:avLst/>
          </a:prstGeom>
          <a:noFill/>
          <a:ln/>
        </p:spPr>
        <p:txBody>
          <a:bodyPr wrap="square" lIns="0" tIns="102108" rIns="0" bIns="0" rtlCol="0" anchor="t">
            <a:spAutoFit/>
          </a:bodyPr>
          <a:lstStyle/>
          <a:p>
            <a:pPr algn="l" indent="0" marL="0">
              <a:lnSpc>
                <a:spcPct val="112000"/>
              </a:lnSpc>
              <a:buNone/>
            </a:pPr>
            <a:r>
              <a:rPr lang="en-US" sz="700" b="1" dirty="0">
                <a:solidFill>
                  <a:srgbClr val="0B8F5A"/>
                </a:solidFill>
                <a:latin typeface="Inter Bold" pitchFamily="34" charset="0"/>
                <a:ea typeface="Inter Bold" pitchFamily="34" charset="-122"/>
                <a:cs typeface="Inter Bold" pitchFamily="34" charset="-120"/>
              </a:rPr>
              <a:t>战略判断：</a:t>
            </a:r>
            <a:r>
              <a:rPr lang="en-US" sz="750" dirty="0">
                <a:solidFill>
                  <a:srgbClr val="4B5F73"/>
                </a:solidFill>
                <a:latin typeface="Inter" pitchFamily="34" charset="0"/>
                <a:ea typeface="Inter" pitchFamily="34" charset="-122"/>
                <a:cs typeface="Inter" pitchFamily="34" charset="-120"/>
              </a:rPr>
              <a:t>Enterprise 决定组织渗透率，Platform 决定开发者生态和行业解决方案深度；二者通过 Connectors、Skills 与云渠道汇合。</a:t>
            </a:r>
            <a:endParaRPr lang="en-US" sz="700" dirty="0"/>
          </a:p>
        </p:txBody>
      </p:sp>
      <p:sp>
        <p:nvSpPr>
          <p:cNvPr id="29" name="Text 26"/>
          <p:cNvSpPr/>
          <p:nvPr/>
        </p:nvSpPr>
        <p:spPr>
          <a:xfrm>
            <a:off x="428625" y="4531956"/>
            <a:ext cx="8286750" cy="146447"/>
          </a:xfrm>
          <a:prstGeom prst="rect">
            <a:avLst/>
          </a:prstGeom>
          <a:noFill/>
          <a:ln/>
        </p:spPr>
        <p:txBody>
          <a:bodyPr wrap="square" lIns="0" tIns="51054" rIns="0" bIns="0" rtlCol="0" anchor="t">
            <a:spAutoFit/>
          </a:bodyPr>
          <a:lstStyle/>
          <a:p>
            <a:pPr algn="l" indent="0" marL="0">
              <a:lnSpc>
                <a:spcPct val="100000"/>
              </a:lnSpc>
              <a:buNone/>
            </a:pPr>
            <a:r>
              <a:rPr lang="en-US" sz="550" dirty="0">
                <a:solidFill>
                  <a:srgbClr val="6B7A8A"/>
                </a:solidFill>
                <a:latin typeface="Inter" pitchFamily="34" charset="0"/>
                <a:ea typeface="Inter" pitchFamily="34" charset="-122"/>
                <a:cs typeface="Inter" pitchFamily="34" charset="-120"/>
              </a:rPr>
              <a:t>来源：Claude Enterprise；Claude Platform docs；Claude Pricing；cloud partner pages。</a:t>
            </a:r>
            <a:endParaRPr lang="en-US" sz="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314325"/>
            <a:ext cx="8286750" cy="98227"/>
          </a:xfrm>
          <a:prstGeom prst="rect">
            <a:avLst/>
          </a:prstGeom>
          <a:noFill/>
          <a:ln/>
        </p:spPr>
        <p:txBody>
          <a:bodyPr wrap="square" lIns="0" tIns="0" rIns="0" bIns="0" rtlCol="0" anchor="t">
            <a:spAutoFit/>
          </a:bodyPr>
          <a:lstStyle/>
          <a:p>
            <a:pPr algn="l" indent="0" marL="0">
              <a:buNone/>
            </a:pPr>
            <a:r>
              <a:rPr lang="en-US" sz="600" b="1" spc="2" kern="0" dirty="0">
                <a:solidFill>
                  <a:srgbClr val="0B8F5A"/>
                </a:solidFill>
                <a:latin typeface="Inter ExtraBold" pitchFamily="34" charset="0"/>
                <a:ea typeface="Inter ExtraBold" pitchFamily="34" charset="-122"/>
                <a:cs typeface="Inter ExtraBold" pitchFamily="34" charset="-120"/>
              </a:rPr>
              <a:t>ENTERPRISE DEEP DIVE</a:t>
            </a:r>
            <a:endParaRPr lang="en-US" sz="600" dirty="0"/>
          </a:p>
        </p:txBody>
      </p:sp>
      <p:sp>
        <p:nvSpPr>
          <p:cNvPr id="4" name="Text 1"/>
          <p:cNvSpPr/>
          <p:nvPr/>
        </p:nvSpPr>
        <p:spPr>
          <a:xfrm>
            <a:off x="428625" y="469702"/>
            <a:ext cx="8286750" cy="267165"/>
          </a:xfrm>
          <a:prstGeom prst="rect">
            <a:avLst/>
          </a:prstGeom>
          <a:noFill/>
          <a:ln/>
        </p:spPr>
        <p:txBody>
          <a:bodyPr wrap="none" lIns="0" tIns="0" rIns="0" bIns="0" rtlCol="0" anchor="t">
            <a:spAutoFit/>
          </a:bodyPr>
          <a:lstStyle/>
          <a:p>
            <a:pPr algn="l" indent="0" marL="0">
              <a:lnSpc>
                <a:spcPct val="88000"/>
              </a:lnSpc>
              <a:buNone/>
            </a:pPr>
            <a:r>
              <a:rPr lang="en-US" sz="1700" b="1" dirty="0">
                <a:solidFill>
                  <a:srgbClr val="102033"/>
                </a:solidFill>
                <a:latin typeface="Inter Bold" pitchFamily="34" charset="0"/>
                <a:ea typeface="Inter Bold" pitchFamily="34" charset="-122"/>
                <a:cs typeface="Inter Bold" pitchFamily="34" charset="-120"/>
              </a:rPr>
              <a:t>Claude Enterprise：企业员工 AI 工作台</a:t>
            </a:r>
            <a:endParaRPr lang="en-US" sz="1700" dirty="0"/>
          </a:p>
        </p:txBody>
      </p:sp>
      <p:sp>
        <p:nvSpPr>
          <p:cNvPr id="5" name="Text 2"/>
          <p:cNvSpPr/>
          <p:nvPr/>
        </p:nvSpPr>
        <p:spPr>
          <a:xfrm>
            <a:off x="428625" y="794017"/>
            <a:ext cx="7715250" cy="143935"/>
          </a:xfrm>
          <a:prstGeom prst="rect">
            <a:avLst/>
          </a:prstGeom>
          <a:noFill/>
          <a:ln/>
        </p:spPr>
        <p:txBody>
          <a:bodyPr wrap="none" lIns="0" tIns="0" rIns="0" bIns="0" rtlCol="0" anchor="t">
            <a:spAutoFit/>
          </a:bodyPr>
          <a:lstStyle/>
          <a:p>
            <a:pPr algn="l" indent="0" marL="0">
              <a:lnSpc>
                <a:spcPct val="110400"/>
              </a:lnSpc>
              <a:buNone/>
            </a:pPr>
            <a:r>
              <a:rPr lang="en-US" sz="750" dirty="0">
                <a:solidFill>
                  <a:srgbClr val="4B5F73"/>
                </a:solidFill>
                <a:latin typeface="Inter" pitchFamily="34" charset="0"/>
                <a:ea typeface="Inter" pitchFamily="34" charset="-122"/>
                <a:cs typeface="Inter" pitchFamily="34" charset="-120"/>
              </a:rPr>
              <a:t>Claude Enterprise 的本质是把 Claude 从个人工具升级为组织级工作台，解决身份、权限、上下文、审计、数据承诺和规模化采用问题。</a:t>
            </a:r>
            <a:endParaRPr lang="en-US" sz="750" dirty="0"/>
          </a:p>
        </p:txBody>
      </p:sp>
      <p:sp>
        <p:nvSpPr>
          <p:cNvPr id="6" name="Text 3"/>
          <p:cNvSpPr/>
          <p:nvPr/>
        </p:nvSpPr>
        <p:spPr>
          <a:xfrm>
            <a:off x="428625" y="1237990"/>
            <a:ext cx="1357313" cy="542925"/>
          </a:xfrm>
          <a:prstGeom prst="rect">
            <a:avLst/>
          </a:prstGeom>
          <a:noFill/>
          <a:ln/>
        </p:spPr>
        <p:txBody>
          <a:bodyPr wrap="square" lIns="0" tIns="0" rIns="0" bIns="0" rtlCol="0" anchor="t">
            <a:spAutoFit/>
          </a:bodyPr>
          <a:lstStyle/>
          <a:p>
            <a:pPr algn="l" indent="0" marL="0">
              <a:buNone/>
            </a:pPr>
            <a:r>
              <a:rPr lang="en-US" sz="850" b="1" dirty="0">
                <a:solidFill>
                  <a:srgbClr val="1E63FF"/>
                </a:solidFill>
                <a:latin typeface="Inter ExtraBold" pitchFamily="34" charset="0"/>
                <a:ea typeface="Inter ExtraBold" pitchFamily="34" charset="-122"/>
                <a:cs typeface="Inter ExtraBold" pitchFamily="34" charset="-120"/>
              </a:rPr>
              <a:t>用户入口</a:t>
            </a:r>
            <a:endParaRPr lang="en-US" sz="850" dirty="0"/>
          </a:p>
        </p:txBody>
      </p:sp>
      <p:sp>
        <p:nvSpPr>
          <p:cNvPr id="7" name="Text 4"/>
          <p:cNvSpPr/>
          <p:nvPr/>
        </p:nvSpPr>
        <p:spPr>
          <a:xfrm>
            <a:off x="1885950" y="1295140"/>
            <a:ext cx="1632347" cy="117035"/>
          </a:xfrm>
          <a:prstGeom prst="rect">
            <a:avLst/>
          </a:prstGeom>
          <a:noFill/>
          <a:ln/>
        </p:spPr>
        <p:txBody>
          <a:bodyPr wrap="none" lIns="0" tIns="0" rIns="0" bIns="0" rtlCol="0" anchor="t">
            <a:spAutoFit/>
          </a:bodyPr>
          <a:lstStyle/>
          <a:p>
            <a:pPr algn="l" indent="0" marL="0">
              <a:lnSpc>
                <a:spcPct val="102400"/>
              </a:lnSpc>
              <a:buNone/>
            </a:pPr>
            <a:r>
              <a:rPr lang="en-US" sz="600" b="1" dirty="0">
                <a:solidFill>
                  <a:srgbClr val="102033"/>
                </a:solidFill>
                <a:latin typeface="Inter Bold" pitchFamily="34" charset="0"/>
                <a:ea typeface="Inter Bold" pitchFamily="34" charset="-122"/>
                <a:cs typeface="Inter Bold" pitchFamily="34" charset="-120"/>
              </a:rPr>
              <a:t>Claude Chat</a:t>
            </a:r>
            <a:endParaRPr lang="en-US" sz="600" dirty="0"/>
          </a:p>
        </p:txBody>
      </p:sp>
      <p:sp>
        <p:nvSpPr>
          <p:cNvPr id="8" name="Text 5"/>
          <p:cNvSpPr/>
          <p:nvPr/>
        </p:nvSpPr>
        <p:spPr>
          <a:xfrm>
            <a:off x="1885950" y="1440749"/>
            <a:ext cx="1092994" cy="101798"/>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写作、总结、问答、分析。</a:t>
            </a:r>
            <a:endParaRPr lang="en-US" sz="650" dirty="0"/>
          </a:p>
        </p:txBody>
      </p:sp>
      <p:sp>
        <p:nvSpPr>
          <p:cNvPr id="9" name="Text 6"/>
          <p:cNvSpPr/>
          <p:nvPr/>
        </p:nvSpPr>
        <p:spPr>
          <a:xfrm>
            <a:off x="3618309" y="1295140"/>
            <a:ext cx="1632347" cy="117035"/>
          </a:xfrm>
          <a:prstGeom prst="rect">
            <a:avLst/>
          </a:prstGeom>
          <a:noFill/>
          <a:ln/>
        </p:spPr>
        <p:txBody>
          <a:bodyPr wrap="none" lIns="0" tIns="0" rIns="0" bIns="0" rtlCol="0" anchor="t">
            <a:spAutoFit/>
          </a:bodyPr>
          <a:lstStyle/>
          <a:p>
            <a:pPr algn="l" indent="0" marL="0">
              <a:lnSpc>
                <a:spcPct val="102400"/>
              </a:lnSpc>
              <a:buNone/>
            </a:pPr>
            <a:r>
              <a:rPr lang="en-US" sz="600" b="1" dirty="0">
                <a:solidFill>
                  <a:srgbClr val="102033"/>
                </a:solidFill>
                <a:latin typeface="Inter Bold" pitchFamily="34" charset="0"/>
                <a:ea typeface="Inter Bold" pitchFamily="34" charset="-122"/>
                <a:cs typeface="Inter Bold" pitchFamily="34" charset="-120"/>
              </a:rPr>
              <a:t>Projects</a:t>
            </a:r>
            <a:endParaRPr lang="en-US" sz="600" dirty="0"/>
          </a:p>
        </p:txBody>
      </p:sp>
      <p:sp>
        <p:nvSpPr>
          <p:cNvPr id="10" name="Text 7"/>
          <p:cNvSpPr/>
          <p:nvPr/>
        </p:nvSpPr>
        <p:spPr>
          <a:xfrm>
            <a:off x="3618309" y="1440749"/>
            <a:ext cx="1001911" cy="101798"/>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团队知识与长期上下文。</a:t>
            </a:r>
            <a:endParaRPr lang="en-US" sz="650" dirty="0"/>
          </a:p>
        </p:txBody>
      </p:sp>
      <p:sp>
        <p:nvSpPr>
          <p:cNvPr id="11" name="Text 8"/>
          <p:cNvSpPr/>
          <p:nvPr/>
        </p:nvSpPr>
        <p:spPr>
          <a:xfrm>
            <a:off x="5350669" y="1295140"/>
            <a:ext cx="1632347" cy="117035"/>
          </a:xfrm>
          <a:prstGeom prst="rect">
            <a:avLst/>
          </a:prstGeom>
          <a:noFill/>
          <a:ln/>
        </p:spPr>
        <p:txBody>
          <a:bodyPr wrap="none" lIns="0" tIns="0" rIns="0" bIns="0" rtlCol="0" anchor="t">
            <a:spAutoFit/>
          </a:bodyPr>
          <a:lstStyle/>
          <a:p>
            <a:pPr algn="l" indent="0" marL="0">
              <a:lnSpc>
                <a:spcPct val="102400"/>
              </a:lnSpc>
              <a:buNone/>
            </a:pPr>
            <a:r>
              <a:rPr lang="en-US" sz="600" b="1" dirty="0">
                <a:solidFill>
                  <a:srgbClr val="102033"/>
                </a:solidFill>
                <a:latin typeface="Inter Bold" pitchFamily="34" charset="0"/>
                <a:ea typeface="Inter Bold" pitchFamily="34" charset="-122"/>
                <a:cs typeface="Inter Bold" pitchFamily="34" charset="-120"/>
              </a:rPr>
              <a:t>Artifacts</a:t>
            </a:r>
            <a:endParaRPr lang="en-US" sz="600" dirty="0"/>
          </a:p>
        </p:txBody>
      </p:sp>
      <p:sp>
        <p:nvSpPr>
          <p:cNvPr id="12" name="Text 9"/>
          <p:cNvSpPr/>
          <p:nvPr/>
        </p:nvSpPr>
        <p:spPr>
          <a:xfrm>
            <a:off x="5350669" y="1440749"/>
            <a:ext cx="1001911" cy="101798"/>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可视化输出与工作成果。</a:t>
            </a:r>
            <a:endParaRPr lang="en-US" sz="650" dirty="0"/>
          </a:p>
        </p:txBody>
      </p:sp>
      <p:sp>
        <p:nvSpPr>
          <p:cNvPr id="13" name="Text 10"/>
          <p:cNvSpPr/>
          <p:nvPr/>
        </p:nvSpPr>
        <p:spPr>
          <a:xfrm>
            <a:off x="7083028" y="1295140"/>
            <a:ext cx="1632347" cy="117035"/>
          </a:xfrm>
          <a:prstGeom prst="rect">
            <a:avLst/>
          </a:prstGeom>
          <a:noFill/>
          <a:ln/>
        </p:spPr>
        <p:txBody>
          <a:bodyPr wrap="none" lIns="0" tIns="0" rIns="0" bIns="0" rtlCol="0" anchor="t">
            <a:spAutoFit/>
          </a:bodyPr>
          <a:lstStyle/>
          <a:p>
            <a:pPr algn="l" indent="0" marL="0">
              <a:lnSpc>
                <a:spcPct val="102400"/>
              </a:lnSpc>
              <a:buNone/>
            </a:pPr>
            <a:r>
              <a:rPr lang="en-US" sz="600" b="1" dirty="0">
                <a:solidFill>
                  <a:srgbClr val="102033"/>
                </a:solidFill>
                <a:latin typeface="Inter Bold" pitchFamily="34" charset="0"/>
                <a:ea typeface="Inter Bold" pitchFamily="34" charset="-122"/>
                <a:cs typeface="Inter Bold" pitchFamily="34" charset="-120"/>
              </a:rPr>
              <a:t>Desktop / Mobile</a:t>
            </a:r>
            <a:endParaRPr lang="en-US" sz="600" dirty="0"/>
          </a:p>
        </p:txBody>
      </p:sp>
      <p:sp>
        <p:nvSpPr>
          <p:cNvPr id="14" name="Text 11"/>
          <p:cNvSpPr/>
          <p:nvPr/>
        </p:nvSpPr>
        <p:spPr>
          <a:xfrm>
            <a:off x="7083028" y="1440749"/>
            <a:ext cx="728663" cy="101798"/>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跨设备使用体验。</a:t>
            </a:r>
            <a:endParaRPr lang="en-US" sz="650" dirty="0"/>
          </a:p>
        </p:txBody>
      </p:sp>
      <p:sp>
        <p:nvSpPr>
          <p:cNvPr id="15" name="Text 12"/>
          <p:cNvSpPr/>
          <p:nvPr/>
        </p:nvSpPr>
        <p:spPr>
          <a:xfrm>
            <a:off x="428625" y="1866640"/>
            <a:ext cx="1357313" cy="542925"/>
          </a:xfrm>
          <a:prstGeom prst="rect">
            <a:avLst/>
          </a:prstGeom>
          <a:noFill/>
          <a:ln/>
        </p:spPr>
        <p:txBody>
          <a:bodyPr wrap="square" lIns="0" tIns="0" rIns="0" bIns="0" rtlCol="0" anchor="t">
            <a:spAutoFit/>
          </a:bodyPr>
          <a:lstStyle/>
          <a:p>
            <a:pPr algn="l" indent="0" marL="0">
              <a:buNone/>
            </a:pPr>
            <a:r>
              <a:rPr lang="en-US" sz="850" b="1" dirty="0">
                <a:solidFill>
                  <a:srgbClr val="1E63FF"/>
                </a:solidFill>
                <a:latin typeface="Inter ExtraBold" pitchFamily="34" charset="0"/>
                <a:ea typeface="Inter ExtraBold" pitchFamily="34" charset="-122"/>
                <a:cs typeface="Inter ExtraBold" pitchFamily="34" charset="-120"/>
              </a:rPr>
              <a:t>企业上下文</a:t>
            </a:r>
            <a:endParaRPr lang="en-US" sz="850" dirty="0"/>
          </a:p>
        </p:txBody>
      </p:sp>
      <p:sp>
        <p:nvSpPr>
          <p:cNvPr id="16" name="Text 13"/>
          <p:cNvSpPr/>
          <p:nvPr/>
        </p:nvSpPr>
        <p:spPr>
          <a:xfrm>
            <a:off x="1885950" y="1923790"/>
            <a:ext cx="1632347" cy="117035"/>
          </a:xfrm>
          <a:prstGeom prst="rect">
            <a:avLst/>
          </a:prstGeom>
          <a:noFill/>
          <a:ln/>
        </p:spPr>
        <p:txBody>
          <a:bodyPr wrap="none" lIns="0" tIns="0" rIns="0" bIns="0" rtlCol="0" anchor="t">
            <a:spAutoFit/>
          </a:bodyPr>
          <a:lstStyle/>
          <a:p>
            <a:pPr algn="l" indent="0" marL="0">
              <a:lnSpc>
                <a:spcPct val="102400"/>
              </a:lnSpc>
              <a:buNone/>
            </a:pPr>
            <a:r>
              <a:rPr lang="en-US" sz="600" b="1" dirty="0">
                <a:solidFill>
                  <a:srgbClr val="102033"/>
                </a:solidFill>
                <a:latin typeface="Inter Bold" pitchFamily="34" charset="0"/>
                <a:ea typeface="Inter Bold" pitchFamily="34" charset="-122"/>
                <a:cs typeface="Inter Bold" pitchFamily="34" charset="-120"/>
              </a:rPr>
              <a:t>文件与资料</a:t>
            </a:r>
            <a:endParaRPr lang="en-US" sz="600" dirty="0"/>
          </a:p>
        </p:txBody>
      </p:sp>
      <p:sp>
        <p:nvSpPr>
          <p:cNvPr id="17" name="Text 14"/>
          <p:cNvSpPr/>
          <p:nvPr/>
        </p:nvSpPr>
        <p:spPr>
          <a:xfrm>
            <a:off x="1885950" y="2069399"/>
            <a:ext cx="910828" cy="101798"/>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政策、合同、知识库。</a:t>
            </a:r>
            <a:endParaRPr lang="en-US" sz="650" dirty="0"/>
          </a:p>
        </p:txBody>
      </p:sp>
      <p:sp>
        <p:nvSpPr>
          <p:cNvPr id="18" name="Text 15"/>
          <p:cNvSpPr/>
          <p:nvPr/>
        </p:nvSpPr>
        <p:spPr>
          <a:xfrm>
            <a:off x="3618309" y="1923790"/>
            <a:ext cx="1632347" cy="117035"/>
          </a:xfrm>
          <a:prstGeom prst="rect">
            <a:avLst/>
          </a:prstGeom>
          <a:noFill/>
          <a:ln/>
        </p:spPr>
        <p:txBody>
          <a:bodyPr wrap="none" lIns="0" tIns="0" rIns="0" bIns="0" rtlCol="0" anchor="t">
            <a:spAutoFit/>
          </a:bodyPr>
          <a:lstStyle/>
          <a:p>
            <a:pPr algn="l" indent="0" marL="0">
              <a:lnSpc>
                <a:spcPct val="102400"/>
              </a:lnSpc>
              <a:buNone/>
            </a:pPr>
            <a:r>
              <a:rPr lang="en-US" sz="600" b="1" dirty="0">
                <a:solidFill>
                  <a:srgbClr val="102033"/>
                </a:solidFill>
                <a:latin typeface="Inter Bold" pitchFamily="34" charset="0"/>
                <a:ea typeface="Inter Bold" pitchFamily="34" charset="-122"/>
                <a:cs typeface="Inter Bold" pitchFamily="34" charset="-120"/>
              </a:rPr>
              <a:t>Connectors</a:t>
            </a:r>
            <a:endParaRPr lang="en-US" sz="600" dirty="0"/>
          </a:p>
        </p:txBody>
      </p:sp>
      <p:sp>
        <p:nvSpPr>
          <p:cNvPr id="19" name="Text 16"/>
          <p:cNvSpPr/>
          <p:nvPr/>
        </p:nvSpPr>
        <p:spPr>
          <a:xfrm>
            <a:off x="3618309" y="2069399"/>
            <a:ext cx="1070949" cy="101798"/>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Slack、Microsoft 365 等。</a:t>
            </a:r>
            <a:endParaRPr lang="en-US" sz="650" dirty="0"/>
          </a:p>
        </p:txBody>
      </p:sp>
      <p:sp>
        <p:nvSpPr>
          <p:cNvPr id="20" name="Text 17"/>
          <p:cNvSpPr/>
          <p:nvPr/>
        </p:nvSpPr>
        <p:spPr>
          <a:xfrm>
            <a:off x="5350669" y="1923790"/>
            <a:ext cx="1632347" cy="117035"/>
          </a:xfrm>
          <a:prstGeom prst="rect">
            <a:avLst/>
          </a:prstGeom>
          <a:noFill/>
          <a:ln/>
        </p:spPr>
        <p:txBody>
          <a:bodyPr wrap="none" lIns="0" tIns="0" rIns="0" bIns="0" rtlCol="0" anchor="t">
            <a:spAutoFit/>
          </a:bodyPr>
          <a:lstStyle/>
          <a:p>
            <a:pPr algn="l" indent="0" marL="0">
              <a:lnSpc>
                <a:spcPct val="102400"/>
              </a:lnSpc>
              <a:buNone/>
            </a:pPr>
            <a:r>
              <a:rPr lang="en-US" sz="600" b="1" dirty="0">
                <a:solidFill>
                  <a:srgbClr val="102033"/>
                </a:solidFill>
                <a:latin typeface="Inter Bold" pitchFamily="34" charset="0"/>
                <a:ea typeface="Inter Bold" pitchFamily="34" charset="-122"/>
                <a:cs typeface="Inter Bold" pitchFamily="34" charset="-120"/>
              </a:rPr>
              <a:t>Skills</a:t>
            </a:r>
            <a:endParaRPr lang="en-US" sz="600" dirty="0"/>
          </a:p>
        </p:txBody>
      </p:sp>
      <p:sp>
        <p:nvSpPr>
          <p:cNvPr id="21" name="Text 18"/>
          <p:cNvSpPr/>
          <p:nvPr/>
        </p:nvSpPr>
        <p:spPr>
          <a:xfrm>
            <a:off x="5350669" y="2069399"/>
            <a:ext cx="788715" cy="101798"/>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部门 SOP 与模板。</a:t>
            </a:r>
            <a:endParaRPr lang="en-US" sz="650" dirty="0"/>
          </a:p>
        </p:txBody>
      </p:sp>
      <p:sp>
        <p:nvSpPr>
          <p:cNvPr id="22" name="Text 19"/>
          <p:cNvSpPr/>
          <p:nvPr/>
        </p:nvSpPr>
        <p:spPr>
          <a:xfrm>
            <a:off x="7083028" y="1923790"/>
            <a:ext cx="1632347" cy="117035"/>
          </a:xfrm>
          <a:prstGeom prst="rect">
            <a:avLst/>
          </a:prstGeom>
          <a:noFill/>
          <a:ln/>
        </p:spPr>
        <p:txBody>
          <a:bodyPr wrap="none" lIns="0" tIns="0" rIns="0" bIns="0" rtlCol="0" anchor="t">
            <a:spAutoFit/>
          </a:bodyPr>
          <a:lstStyle/>
          <a:p>
            <a:pPr algn="l" indent="0" marL="0">
              <a:lnSpc>
                <a:spcPct val="102400"/>
              </a:lnSpc>
              <a:buNone/>
            </a:pPr>
            <a:r>
              <a:rPr lang="en-US" sz="600" b="1" dirty="0">
                <a:solidFill>
                  <a:srgbClr val="102033"/>
                </a:solidFill>
                <a:latin typeface="Inter Bold" pitchFamily="34" charset="0"/>
                <a:ea typeface="Inter Bold" pitchFamily="34" charset="-122"/>
                <a:cs typeface="Inter Bold" pitchFamily="34" charset="-120"/>
              </a:rPr>
              <a:t>MCP</a:t>
            </a:r>
            <a:endParaRPr lang="en-US" sz="600" dirty="0"/>
          </a:p>
        </p:txBody>
      </p:sp>
      <p:sp>
        <p:nvSpPr>
          <p:cNvPr id="23" name="Text 20"/>
          <p:cNvSpPr/>
          <p:nvPr/>
        </p:nvSpPr>
        <p:spPr>
          <a:xfrm>
            <a:off x="7083028" y="2069399"/>
            <a:ext cx="910828" cy="101798"/>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连接企业工具和数据。</a:t>
            </a:r>
            <a:endParaRPr lang="en-US" sz="650" dirty="0"/>
          </a:p>
        </p:txBody>
      </p:sp>
      <p:sp>
        <p:nvSpPr>
          <p:cNvPr id="24" name="Text 21"/>
          <p:cNvSpPr/>
          <p:nvPr/>
        </p:nvSpPr>
        <p:spPr>
          <a:xfrm>
            <a:off x="428625" y="2495290"/>
            <a:ext cx="1357313" cy="542925"/>
          </a:xfrm>
          <a:prstGeom prst="rect">
            <a:avLst/>
          </a:prstGeom>
          <a:noFill/>
          <a:ln/>
        </p:spPr>
        <p:txBody>
          <a:bodyPr wrap="square" lIns="0" tIns="0" rIns="0" bIns="0" rtlCol="0" anchor="t">
            <a:spAutoFit/>
          </a:bodyPr>
          <a:lstStyle/>
          <a:p>
            <a:pPr algn="l" indent="0" marL="0">
              <a:buNone/>
            </a:pPr>
            <a:r>
              <a:rPr lang="en-US" sz="850" b="1" dirty="0">
                <a:solidFill>
                  <a:srgbClr val="1E63FF"/>
                </a:solidFill>
                <a:latin typeface="Inter ExtraBold" pitchFamily="34" charset="0"/>
                <a:ea typeface="Inter ExtraBold" pitchFamily="34" charset="-122"/>
                <a:cs typeface="Inter ExtraBold" pitchFamily="34" charset="-120"/>
              </a:rPr>
              <a:t>治理控制</a:t>
            </a:r>
            <a:endParaRPr lang="en-US" sz="850" dirty="0"/>
          </a:p>
        </p:txBody>
      </p:sp>
      <p:sp>
        <p:nvSpPr>
          <p:cNvPr id="25" name="Text 22"/>
          <p:cNvSpPr/>
          <p:nvPr/>
        </p:nvSpPr>
        <p:spPr>
          <a:xfrm>
            <a:off x="1885950" y="2552440"/>
            <a:ext cx="1632347" cy="117035"/>
          </a:xfrm>
          <a:prstGeom prst="rect">
            <a:avLst/>
          </a:prstGeom>
          <a:noFill/>
          <a:ln/>
        </p:spPr>
        <p:txBody>
          <a:bodyPr wrap="none" lIns="0" tIns="0" rIns="0" bIns="0" rtlCol="0" anchor="t">
            <a:spAutoFit/>
          </a:bodyPr>
          <a:lstStyle/>
          <a:p>
            <a:pPr algn="l" indent="0" marL="0">
              <a:lnSpc>
                <a:spcPct val="102400"/>
              </a:lnSpc>
              <a:buNone/>
            </a:pPr>
            <a:r>
              <a:rPr lang="en-US" sz="600" b="1" dirty="0">
                <a:solidFill>
                  <a:srgbClr val="102033"/>
                </a:solidFill>
                <a:latin typeface="Inter Bold" pitchFamily="34" charset="0"/>
                <a:ea typeface="Inter Bold" pitchFamily="34" charset="-122"/>
                <a:cs typeface="Inter Bold" pitchFamily="34" charset="-120"/>
              </a:rPr>
              <a:t>SSO / SCIM</a:t>
            </a:r>
            <a:endParaRPr lang="en-US" sz="600" dirty="0"/>
          </a:p>
        </p:txBody>
      </p:sp>
      <p:sp>
        <p:nvSpPr>
          <p:cNvPr id="26" name="Text 23"/>
          <p:cNvSpPr/>
          <p:nvPr/>
        </p:nvSpPr>
        <p:spPr>
          <a:xfrm>
            <a:off x="1885950" y="2698049"/>
            <a:ext cx="910828" cy="101798"/>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身份与用户生命周期。</a:t>
            </a:r>
            <a:endParaRPr lang="en-US" sz="650" dirty="0"/>
          </a:p>
        </p:txBody>
      </p:sp>
      <p:sp>
        <p:nvSpPr>
          <p:cNvPr id="27" name="Text 24"/>
          <p:cNvSpPr/>
          <p:nvPr/>
        </p:nvSpPr>
        <p:spPr>
          <a:xfrm>
            <a:off x="3618309" y="2552440"/>
            <a:ext cx="1632347" cy="117035"/>
          </a:xfrm>
          <a:prstGeom prst="rect">
            <a:avLst/>
          </a:prstGeom>
          <a:noFill/>
          <a:ln/>
        </p:spPr>
        <p:txBody>
          <a:bodyPr wrap="none" lIns="0" tIns="0" rIns="0" bIns="0" rtlCol="0" anchor="t">
            <a:spAutoFit/>
          </a:bodyPr>
          <a:lstStyle/>
          <a:p>
            <a:pPr algn="l" indent="0" marL="0">
              <a:lnSpc>
                <a:spcPct val="102400"/>
              </a:lnSpc>
              <a:buNone/>
            </a:pPr>
            <a:r>
              <a:rPr lang="en-US" sz="600" b="1" dirty="0">
                <a:solidFill>
                  <a:srgbClr val="102033"/>
                </a:solidFill>
                <a:latin typeface="Inter Bold" pitchFamily="34" charset="0"/>
                <a:ea typeface="Inter Bold" pitchFamily="34" charset="-122"/>
                <a:cs typeface="Inter Bold" pitchFamily="34" charset="-120"/>
              </a:rPr>
              <a:t>权限管理</a:t>
            </a:r>
            <a:endParaRPr lang="en-US" sz="600" dirty="0"/>
          </a:p>
        </p:txBody>
      </p:sp>
      <p:sp>
        <p:nvSpPr>
          <p:cNvPr id="28" name="Text 25"/>
          <p:cNvSpPr/>
          <p:nvPr/>
        </p:nvSpPr>
        <p:spPr>
          <a:xfrm>
            <a:off x="3618309" y="2698049"/>
            <a:ext cx="728663" cy="101798"/>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团队与访问边界。</a:t>
            </a:r>
            <a:endParaRPr lang="en-US" sz="650" dirty="0"/>
          </a:p>
        </p:txBody>
      </p:sp>
      <p:sp>
        <p:nvSpPr>
          <p:cNvPr id="29" name="Text 26"/>
          <p:cNvSpPr/>
          <p:nvPr/>
        </p:nvSpPr>
        <p:spPr>
          <a:xfrm>
            <a:off x="5350669" y="2552440"/>
            <a:ext cx="1632347" cy="117035"/>
          </a:xfrm>
          <a:prstGeom prst="rect">
            <a:avLst/>
          </a:prstGeom>
          <a:noFill/>
          <a:ln/>
        </p:spPr>
        <p:txBody>
          <a:bodyPr wrap="none" lIns="0" tIns="0" rIns="0" bIns="0" rtlCol="0" anchor="t">
            <a:spAutoFit/>
          </a:bodyPr>
          <a:lstStyle/>
          <a:p>
            <a:pPr algn="l" indent="0" marL="0">
              <a:lnSpc>
                <a:spcPct val="102400"/>
              </a:lnSpc>
              <a:buNone/>
            </a:pPr>
            <a:r>
              <a:rPr lang="en-US" sz="600" b="1" dirty="0">
                <a:solidFill>
                  <a:srgbClr val="102033"/>
                </a:solidFill>
                <a:latin typeface="Inter Bold" pitchFamily="34" charset="0"/>
                <a:ea typeface="Inter Bold" pitchFamily="34" charset="-122"/>
                <a:cs typeface="Inter Bold" pitchFamily="34" charset="-120"/>
              </a:rPr>
              <a:t>审计日志</a:t>
            </a:r>
            <a:endParaRPr lang="en-US" sz="600" dirty="0"/>
          </a:p>
        </p:txBody>
      </p:sp>
      <p:sp>
        <p:nvSpPr>
          <p:cNvPr id="30" name="Text 27"/>
          <p:cNvSpPr/>
          <p:nvPr/>
        </p:nvSpPr>
        <p:spPr>
          <a:xfrm>
            <a:off x="5350669" y="2698049"/>
            <a:ext cx="728663" cy="101798"/>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使用追踪与合规。</a:t>
            </a:r>
            <a:endParaRPr lang="en-US" sz="650" dirty="0"/>
          </a:p>
        </p:txBody>
      </p:sp>
      <p:sp>
        <p:nvSpPr>
          <p:cNvPr id="31" name="Text 28"/>
          <p:cNvSpPr/>
          <p:nvPr/>
        </p:nvSpPr>
        <p:spPr>
          <a:xfrm>
            <a:off x="7083028" y="2552440"/>
            <a:ext cx="1632347" cy="117035"/>
          </a:xfrm>
          <a:prstGeom prst="rect">
            <a:avLst/>
          </a:prstGeom>
          <a:noFill/>
          <a:ln/>
        </p:spPr>
        <p:txBody>
          <a:bodyPr wrap="none" lIns="0" tIns="0" rIns="0" bIns="0" rtlCol="0" anchor="t">
            <a:spAutoFit/>
          </a:bodyPr>
          <a:lstStyle/>
          <a:p>
            <a:pPr algn="l" indent="0" marL="0">
              <a:lnSpc>
                <a:spcPct val="102400"/>
              </a:lnSpc>
              <a:buNone/>
            </a:pPr>
            <a:r>
              <a:rPr lang="en-US" sz="600" b="1" dirty="0">
                <a:solidFill>
                  <a:srgbClr val="102033"/>
                </a:solidFill>
                <a:latin typeface="Inter Bold" pitchFamily="34" charset="0"/>
                <a:ea typeface="Inter Bold" pitchFamily="34" charset="-122"/>
                <a:cs typeface="Inter Bold" pitchFamily="34" charset="-120"/>
              </a:rPr>
              <a:t>数据承诺</a:t>
            </a:r>
            <a:endParaRPr lang="en-US" sz="600" dirty="0"/>
          </a:p>
        </p:txBody>
      </p:sp>
      <p:sp>
        <p:nvSpPr>
          <p:cNvPr id="32" name="Text 29"/>
          <p:cNvSpPr/>
          <p:nvPr/>
        </p:nvSpPr>
        <p:spPr>
          <a:xfrm>
            <a:off x="7083028" y="2698049"/>
            <a:ext cx="819745" cy="101798"/>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企业数据使用边界。</a:t>
            </a:r>
            <a:endParaRPr lang="en-US" sz="650" dirty="0"/>
          </a:p>
        </p:txBody>
      </p:sp>
      <p:sp>
        <p:nvSpPr>
          <p:cNvPr id="33" name="Text 30"/>
          <p:cNvSpPr/>
          <p:nvPr/>
        </p:nvSpPr>
        <p:spPr>
          <a:xfrm>
            <a:off x="428625" y="3123940"/>
            <a:ext cx="1357313" cy="542925"/>
          </a:xfrm>
          <a:prstGeom prst="rect">
            <a:avLst/>
          </a:prstGeom>
          <a:noFill/>
          <a:ln/>
        </p:spPr>
        <p:txBody>
          <a:bodyPr wrap="square" lIns="0" tIns="0" rIns="0" bIns="0" rtlCol="0" anchor="t">
            <a:spAutoFit/>
          </a:bodyPr>
          <a:lstStyle/>
          <a:p>
            <a:pPr algn="l" indent="0" marL="0">
              <a:buNone/>
            </a:pPr>
            <a:r>
              <a:rPr lang="en-US" sz="850" b="1" dirty="0">
                <a:solidFill>
                  <a:srgbClr val="1E63FF"/>
                </a:solidFill>
                <a:latin typeface="Inter ExtraBold" pitchFamily="34" charset="0"/>
                <a:ea typeface="Inter ExtraBold" pitchFamily="34" charset="-122"/>
                <a:cs typeface="Inter ExtraBold" pitchFamily="34" charset="-120"/>
              </a:rPr>
              <a:t>采购运营</a:t>
            </a:r>
            <a:endParaRPr lang="en-US" sz="850" dirty="0"/>
          </a:p>
        </p:txBody>
      </p:sp>
      <p:sp>
        <p:nvSpPr>
          <p:cNvPr id="34" name="Text 31"/>
          <p:cNvSpPr/>
          <p:nvPr/>
        </p:nvSpPr>
        <p:spPr>
          <a:xfrm>
            <a:off x="1885950" y="3181090"/>
            <a:ext cx="1632347" cy="117035"/>
          </a:xfrm>
          <a:prstGeom prst="rect">
            <a:avLst/>
          </a:prstGeom>
          <a:noFill/>
          <a:ln/>
        </p:spPr>
        <p:txBody>
          <a:bodyPr wrap="none" lIns="0" tIns="0" rIns="0" bIns="0" rtlCol="0" anchor="t">
            <a:spAutoFit/>
          </a:bodyPr>
          <a:lstStyle/>
          <a:p>
            <a:pPr algn="l" indent="0" marL="0">
              <a:lnSpc>
                <a:spcPct val="102400"/>
              </a:lnSpc>
              <a:buNone/>
            </a:pPr>
            <a:r>
              <a:rPr lang="en-US" sz="600" b="1" dirty="0">
                <a:solidFill>
                  <a:srgbClr val="102033"/>
                </a:solidFill>
                <a:latin typeface="Inter Bold" pitchFamily="34" charset="0"/>
                <a:ea typeface="Inter Bold" pitchFamily="34" charset="-122"/>
                <a:cs typeface="Inter Bold" pitchFamily="34" charset="-120"/>
              </a:rPr>
              <a:t>Enterprise Plan</a:t>
            </a:r>
            <a:endParaRPr lang="en-US" sz="600" dirty="0"/>
          </a:p>
        </p:txBody>
      </p:sp>
      <p:sp>
        <p:nvSpPr>
          <p:cNvPr id="35" name="Text 32"/>
          <p:cNvSpPr/>
          <p:nvPr/>
        </p:nvSpPr>
        <p:spPr>
          <a:xfrm>
            <a:off x="1885950" y="3326699"/>
            <a:ext cx="546497" cy="101798"/>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组织级采购。</a:t>
            </a:r>
            <a:endParaRPr lang="en-US" sz="650" dirty="0"/>
          </a:p>
        </p:txBody>
      </p:sp>
      <p:sp>
        <p:nvSpPr>
          <p:cNvPr id="36" name="Text 33"/>
          <p:cNvSpPr/>
          <p:nvPr/>
        </p:nvSpPr>
        <p:spPr>
          <a:xfrm>
            <a:off x="3618309" y="3181090"/>
            <a:ext cx="1632347" cy="117035"/>
          </a:xfrm>
          <a:prstGeom prst="rect">
            <a:avLst/>
          </a:prstGeom>
          <a:noFill/>
          <a:ln/>
        </p:spPr>
        <p:txBody>
          <a:bodyPr wrap="none" lIns="0" tIns="0" rIns="0" bIns="0" rtlCol="0" anchor="t">
            <a:spAutoFit/>
          </a:bodyPr>
          <a:lstStyle/>
          <a:p>
            <a:pPr algn="l" indent="0" marL="0">
              <a:lnSpc>
                <a:spcPct val="102400"/>
              </a:lnSpc>
              <a:buNone/>
            </a:pPr>
            <a:r>
              <a:rPr lang="en-US" sz="600" b="1" dirty="0">
                <a:solidFill>
                  <a:srgbClr val="102033"/>
                </a:solidFill>
                <a:latin typeface="Inter Bold" pitchFamily="34" charset="0"/>
                <a:ea typeface="Inter Bold" pitchFamily="34" charset="-122"/>
                <a:cs typeface="Inter Bold" pitchFamily="34" charset="-120"/>
              </a:rPr>
              <a:t>管理后台</a:t>
            </a:r>
            <a:endParaRPr lang="en-US" sz="600" dirty="0"/>
          </a:p>
        </p:txBody>
      </p:sp>
      <p:sp>
        <p:nvSpPr>
          <p:cNvPr id="37" name="Text 34"/>
          <p:cNvSpPr/>
          <p:nvPr/>
        </p:nvSpPr>
        <p:spPr>
          <a:xfrm>
            <a:off x="3618309" y="3326699"/>
            <a:ext cx="819745" cy="101798"/>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用量、成员和配置。</a:t>
            </a:r>
            <a:endParaRPr lang="en-US" sz="650" dirty="0"/>
          </a:p>
        </p:txBody>
      </p:sp>
      <p:sp>
        <p:nvSpPr>
          <p:cNvPr id="38" name="Text 35"/>
          <p:cNvSpPr/>
          <p:nvPr/>
        </p:nvSpPr>
        <p:spPr>
          <a:xfrm>
            <a:off x="5350669" y="3181090"/>
            <a:ext cx="1632347" cy="117035"/>
          </a:xfrm>
          <a:prstGeom prst="rect">
            <a:avLst/>
          </a:prstGeom>
          <a:noFill/>
          <a:ln/>
        </p:spPr>
        <p:txBody>
          <a:bodyPr wrap="none" lIns="0" tIns="0" rIns="0" bIns="0" rtlCol="0" anchor="t">
            <a:spAutoFit/>
          </a:bodyPr>
          <a:lstStyle/>
          <a:p>
            <a:pPr algn="l" indent="0" marL="0">
              <a:lnSpc>
                <a:spcPct val="102400"/>
              </a:lnSpc>
              <a:buNone/>
            </a:pPr>
            <a:r>
              <a:rPr lang="en-US" sz="600" b="1" dirty="0">
                <a:solidFill>
                  <a:srgbClr val="102033"/>
                </a:solidFill>
                <a:latin typeface="Inter Bold" pitchFamily="34" charset="0"/>
                <a:ea typeface="Inter Bold" pitchFamily="34" charset="-122"/>
                <a:cs typeface="Inter Bold" pitchFamily="34" charset="-120"/>
              </a:rPr>
              <a:t>安全审查</a:t>
            </a:r>
            <a:endParaRPr lang="en-US" sz="600" dirty="0"/>
          </a:p>
        </p:txBody>
      </p:sp>
      <p:sp>
        <p:nvSpPr>
          <p:cNvPr id="39" name="Text 36"/>
          <p:cNvSpPr/>
          <p:nvPr/>
        </p:nvSpPr>
        <p:spPr>
          <a:xfrm>
            <a:off x="5350669" y="3326699"/>
            <a:ext cx="1043267" cy="101798"/>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法务、CISO、采购材料。</a:t>
            </a:r>
            <a:endParaRPr lang="en-US" sz="650" dirty="0"/>
          </a:p>
        </p:txBody>
      </p:sp>
      <p:sp>
        <p:nvSpPr>
          <p:cNvPr id="40" name="Text 37"/>
          <p:cNvSpPr/>
          <p:nvPr/>
        </p:nvSpPr>
        <p:spPr>
          <a:xfrm>
            <a:off x="7083028" y="3181090"/>
            <a:ext cx="1632347" cy="117035"/>
          </a:xfrm>
          <a:prstGeom prst="rect">
            <a:avLst/>
          </a:prstGeom>
          <a:noFill/>
          <a:ln/>
        </p:spPr>
        <p:txBody>
          <a:bodyPr wrap="none" lIns="0" tIns="0" rIns="0" bIns="0" rtlCol="0" anchor="t">
            <a:spAutoFit/>
          </a:bodyPr>
          <a:lstStyle/>
          <a:p>
            <a:pPr algn="l" indent="0" marL="0">
              <a:lnSpc>
                <a:spcPct val="102400"/>
              </a:lnSpc>
              <a:buNone/>
            </a:pPr>
            <a:r>
              <a:rPr lang="en-US" sz="600" b="1" dirty="0">
                <a:solidFill>
                  <a:srgbClr val="102033"/>
                </a:solidFill>
                <a:latin typeface="Inter Bold" pitchFamily="34" charset="0"/>
                <a:ea typeface="Inter Bold" pitchFamily="34" charset="-122"/>
                <a:cs typeface="Inter Bold" pitchFamily="34" charset="-120"/>
              </a:rPr>
              <a:t>推广采用</a:t>
            </a:r>
            <a:endParaRPr lang="en-US" sz="600" dirty="0"/>
          </a:p>
        </p:txBody>
      </p:sp>
      <p:sp>
        <p:nvSpPr>
          <p:cNvPr id="41" name="Text 38"/>
          <p:cNvSpPr/>
          <p:nvPr/>
        </p:nvSpPr>
        <p:spPr>
          <a:xfrm>
            <a:off x="7083028" y="3326699"/>
            <a:ext cx="1001911" cy="101798"/>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培训、模板、部门试点。</a:t>
            </a:r>
            <a:endParaRPr lang="en-US" sz="650" dirty="0"/>
          </a:p>
        </p:txBody>
      </p:sp>
      <p:sp>
        <p:nvSpPr>
          <p:cNvPr id="42" name="Text 39"/>
          <p:cNvSpPr/>
          <p:nvPr/>
        </p:nvSpPr>
        <p:spPr>
          <a:xfrm>
            <a:off x="428625" y="3888321"/>
            <a:ext cx="2647931" cy="122560"/>
          </a:xfrm>
          <a:prstGeom prst="rect">
            <a:avLst/>
          </a:prstGeom>
          <a:noFill/>
          <a:ln/>
        </p:spPr>
        <p:txBody>
          <a:bodyPr wrap="none" lIns="0" tIns="0" rIns="0" bIns="0" rtlCol="0" anchor="t">
            <a:spAutoFit/>
          </a:bodyPr>
          <a:lstStyle/>
          <a:p>
            <a:pPr algn="l" indent="0" marL="0">
              <a:lnSpc>
                <a:spcPct val="105600"/>
              </a:lnSpc>
              <a:buNone/>
            </a:pPr>
            <a:r>
              <a:rPr lang="en-US" sz="650" b="1" dirty="0">
                <a:solidFill>
                  <a:srgbClr val="0B8F5A"/>
                </a:solidFill>
                <a:latin typeface="Inter Bold" pitchFamily="34" charset="0"/>
                <a:ea typeface="Inter Bold" pitchFamily="34" charset="-122"/>
                <a:cs typeface="Inter Bold" pitchFamily="34" charset="-120"/>
              </a:rPr>
              <a:t>适合场景</a:t>
            </a:r>
            <a:endParaRPr lang="en-US" sz="650" dirty="0"/>
          </a:p>
        </p:txBody>
      </p:sp>
      <p:sp>
        <p:nvSpPr>
          <p:cNvPr id="43" name="Text 40"/>
          <p:cNvSpPr/>
          <p:nvPr/>
        </p:nvSpPr>
        <p:spPr>
          <a:xfrm>
            <a:off x="428625" y="4041242"/>
            <a:ext cx="2559081" cy="103584"/>
          </a:xfrm>
          <a:prstGeom prst="rect">
            <a:avLst/>
          </a:prstGeom>
          <a:noFill/>
          <a:ln/>
        </p:spPr>
        <p:txBody>
          <a:bodyPr wrap="none" lIns="0" tIns="0" rIns="0" bIns="0" rtlCol="0" anchor="t">
            <a:spAutoFit/>
          </a:bodyPr>
          <a:lstStyle/>
          <a:p>
            <a:pPr algn="l" indent="0" marL="0">
              <a:lnSpc>
                <a:spcPct val="105600"/>
              </a:lnSpc>
              <a:buNone/>
            </a:pPr>
            <a:r>
              <a:rPr lang="en-US" sz="650" dirty="0">
                <a:solidFill>
                  <a:srgbClr val="4B5F73"/>
                </a:solidFill>
                <a:latin typeface="Inter" pitchFamily="34" charset="0"/>
                <a:ea typeface="Inter" pitchFamily="34" charset="-122"/>
                <a:cs typeface="Inter" pitchFamily="34" charset="-120"/>
              </a:rPr>
              <a:t>知识工作密集、跨文档分析、合规审查、销售/客服/运营支持。</a:t>
            </a:r>
            <a:endParaRPr lang="en-US" sz="650" dirty="0"/>
          </a:p>
        </p:txBody>
      </p:sp>
      <p:sp>
        <p:nvSpPr>
          <p:cNvPr id="44" name="Text 41"/>
          <p:cNvSpPr/>
          <p:nvPr/>
        </p:nvSpPr>
        <p:spPr>
          <a:xfrm>
            <a:off x="3248006" y="3888321"/>
            <a:ext cx="2647959" cy="122560"/>
          </a:xfrm>
          <a:prstGeom prst="rect">
            <a:avLst/>
          </a:prstGeom>
          <a:noFill/>
          <a:ln/>
        </p:spPr>
        <p:txBody>
          <a:bodyPr wrap="none" lIns="0" tIns="0" rIns="0" bIns="0" rtlCol="0" anchor="t">
            <a:spAutoFit/>
          </a:bodyPr>
          <a:lstStyle/>
          <a:p>
            <a:pPr algn="l" indent="0" marL="0">
              <a:lnSpc>
                <a:spcPct val="105600"/>
              </a:lnSpc>
              <a:buNone/>
            </a:pPr>
            <a:r>
              <a:rPr lang="en-US" sz="650" b="1" dirty="0">
                <a:solidFill>
                  <a:srgbClr val="0B8F5A"/>
                </a:solidFill>
                <a:latin typeface="Inter Bold" pitchFamily="34" charset="0"/>
                <a:ea typeface="Inter Bold" pitchFamily="34" charset="-122"/>
                <a:cs typeface="Inter Bold" pitchFamily="34" charset="-120"/>
              </a:rPr>
              <a:t>成功条件</a:t>
            </a:r>
            <a:endParaRPr lang="en-US" sz="650" dirty="0"/>
          </a:p>
        </p:txBody>
      </p:sp>
      <p:sp>
        <p:nvSpPr>
          <p:cNvPr id="45" name="Text 42"/>
          <p:cNvSpPr/>
          <p:nvPr/>
        </p:nvSpPr>
        <p:spPr>
          <a:xfrm>
            <a:off x="3248006" y="4041242"/>
            <a:ext cx="2352694" cy="103584"/>
          </a:xfrm>
          <a:prstGeom prst="rect">
            <a:avLst/>
          </a:prstGeom>
          <a:noFill/>
          <a:ln/>
        </p:spPr>
        <p:txBody>
          <a:bodyPr wrap="none" lIns="0" tIns="0" rIns="0" bIns="0" rtlCol="0" anchor="t">
            <a:spAutoFit/>
          </a:bodyPr>
          <a:lstStyle/>
          <a:p>
            <a:pPr algn="l" indent="0" marL="0">
              <a:lnSpc>
                <a:spcPct val="105600"/>
              </a:lnSpc>
              <a:buNone/>
            </a:pPr>
            <a:r>
              <a:rPr lang="en-US" sz="650" dirty="0">
                <a:solidFill>
                  <a:srgbClr val="4B5F73"/>
                </a:solidFill>
                <a:latin typeface="Inter" pitchFamily="34" charset="0"/>
                <a:ea typeface="Inter" pitchFamily="34" charset="-122"/>
                <a:cs typeface="Inter" pitchFamily="34" charset="-120"/>
              </a:rPr>
              <a:t>连接器权限设计、业务模板沉淀、培训机制和 ROI 度量。</a:t>
            </a:r>
            <a:endParaRPr lang="en-US" sz="650" dirty="0"/>
          </a:p>
        </p:txBody>
      </p:sp>
      <p:sp>
        <p:nvSpPr>
          <p:cNvPr id="46" name="Text 43"/>
          <p:cNvSpPr/>
          <p:nvPr/>
        </p:nvSpPr>
        <p:spPr>
          <a:xfrm>
            <a:off x="6067416" y="3888321"/>
            <a:ext cx="2647931" cy="122560"/>
          </a:xfrm>
          <a:prstGeom prst="rect">
            <a:avLst/>
          </a:prstGeom>
          <a:noFill/>
          <a:ln/>
        </p:spPr>
        <p:txBody>
          <a:bodyPr wrap="none" lIns="0" tIns="0" rIns="0" bIns="0" rtlCol="0" anchor="t">
            <a:spAutoFit/>
          </a:bodyPr>
          <a:lstStyle/>
          <a:p>
            <a:pPr algn="l" indent="0" marL="0">
              <a:lnSpc>
                <a:spcPct val="105600"/>
              </a:lnSpc>
              <a:buNone/>
            </a:pPr>
            <a:r>
              <a:rPr lang="en-US" sz="650" b="1" dirty="0">
                <a:solidFill>
                  <a:srgbClr val="0B8F5A"/>
                </a:solidFill>
                <a:latin typeface="Inter Bold" pitchFamily="34" charset="0"/>
                <a:ea typeface="Inter Bold" pitchFamily="34" charset="-122"/>
                <a:cs typeface="Inter Bold" pitchFamily="34" charset="-120"/>
              </a:rPr>
              <a:t>主要挑战</a:t>
            </a:r>
            <a:endParaRPr lang="en-US" sz="650" dirty="0"/>
          </a:p>
        </p:txBody>
      </p:sp>
      <p:sp>
        <p:nvSpPr>
          <p:cNvPr id="47" name="Text 44"/>
          <p:cNvSpPr/>
          <p:nvPr/>
        </p:nvSpPr>
        <p:spPr>
          <a:xfrm>
            <a:off x="6067416" y="4041242"/>
            <a:ext cx="2507456" cy="103584"/>
          </a:xfrm>
          <a:prstGeom prst="rect">
            <a:avLst/>
          </a:prstGeom>
          <a:noFill/>
          <a:ln/>
        </p:spPr>
        <p:txBody>
          <a:bodyPr wrap="none" lIns="0" tIns="0" rIns="0" bIns="0" rtlCol="0" anchor="t">
            <a:spAutoFit/>
          </a:bodyPr>
          <a:lstStyle/>
          <a:p>
            <a:pPr algn="l" indent="0" marL="0">
              <a:lnSpc>
                <a:spcPct val="105600"/>
              </a:lnSpc>
              <a:buNone/>
            </a:pPr>
            <a:r>
              <a:rPr lang="en-US" sz="650" dirty="0">
                <a:solidFill>
                  <a:srgbClr val="4B5F73"/>
                </a:solidFill>
                <a:latin typeface="Inter" pitchFamily="34" charset="0"/>
                <a:ea typeface="Inter" pitchFamily="34" charset="-122"/>
                <a:cs typeface="Inter" pitchFamily="34" charset="-120"/>
              </a:rPr>
              <a:t>敏感数据治理、输出校验、员工行为改变和部门间落地差异。</a:t>
            </a:r>
            <a:endParaRPr lang="en-US" sz="650" dirty="0"/>
          </a:p>
        </p:txBody>
      </p:sp>
      <p:sp>
        <p:nvSpPr>
          <p:cNvPr id="48" name="Text 45"/>
          <p:cNvSpPr/>
          <p:nvPr/>
        </p:nvSpPr>
        <p:spPr>
          <a:xfrm>
            <a:off x="428625" y="4247741"/>
            <a:ext cx="8286750" cy="133722"/>
          </a:xfrm>
          <a:prstGeom prst="rect">
            <a:avLst/>
          </a:prstGeom>
          <a:noFill/>
          <a:ln/>
        </p:spPr>
        <p:txBody>
          <a:bodyPr wrap="none" lIns="0" tIns="42545" rIns="0" bIns="0" rtlCol="0" anchor="t">
            <a:spAutoFit/>
          </a:bodyPr>
          <a:lstStyle/>
          <a:p>
            <a:pPr algn="l" indent="0" marL="0">
              <a:lnSpc>
                <a:spcPct val="96000"/>
              </a:lnSpc>
              <a:buNone/>
            </a:pPr>
            <a:r>
              <a:rPr lang="en-US" sz="550" dirty="0">
                <a:solidFill>
                  <a:srgbClr val="6B7A8A"/>
                </a:solidFill>
                <a:latin typeface="Inter" pitchFamily="34" charset="0"/>
                <a:ea typeface="Inter" pitchFamily="34" charset="-122"/>
                <a:cs typeface="Inter" pitchFamily="34" charset="-120"/>
              </a:rPr>
              <a:t>来源：Claude Enterprise official page；Claude connectors / skills / Microsoft 365 pages；Claude Trust and pricing pages。</a:t>
            </a:r>
            <a:endParaRPr lang="en-US" sz="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300038"/>
            <a:ext cx="8286750" cy="98227"/>
          </a:xfrm>
          <a:prstGeom prst="rect">
            <a:avLst/>
          </a:prstGeom>
          <a:noFill/>
          <a:ln/>
        </p:spPr>
        <p:txBody>
          <a:bodyPr wrap="square" lIns="0" tIns="0" rIns="0" bIns="0" rtlCol="0" anchor="t">
            <a:spAutoFit/>
          </a:bodyPr>
          <a:lstStyle/>
          <a:p>
            <a:pPr algn="l" indent="0" marL="0">
              <a:buNone/>
            </a:pPr>
            <a:r>
              <a:rPr lang="en-US" sz="600" b="1" spc="2" kern="0" dirty="0">
                <a:solidFill>
                  <a:srgbClr val="0B8F5A"/>
                </a:solidFill>
                <a:latin typeface="Inter ExtraBold" pitchFamily="34" charset="0"/>
                <a:ea typeface="Inter ExtraBold" pitchFamily="34" charset="-122"/>
                <a:cs typeface="Inter ExtraBold" pitchFamily="34" charset="-120"/>
              </a:rPr>
              <a:t>PLATFORM DEEP DIVE</a:t>
            </a:r>
            <a:endParaRPr lang="en-US" sz="600" dirty="0"/>
          </a:p>
        </p:txBody>
      </p:sp>
      <p:sp>
        <p:nvSpPr>
          <p:cNvPr id="4" name="Text 1"/>
          <p:cNvSpPr/>
          <p:nvPr/>
        </p:nvSpPr>
        <p:spPr>
          <a:xfrm>
            <a:off x="428625" y="455414"/>
            <a:ext cx="8286750" cy="267165"/>
          </a:xfrm>
          <a:prstGeom prst="rect">
            <a:avLst/>
          </a:prstGeom>
          <a:noFill/>
          <a:ln/>
        </p:spPr>
        <p:txBody>
          <a:bodyPr wrap="none" lIns="0" tIns="0" rIns="0" bIns="0" rtlCol="0" anchor="t">
            <a:spAutoFit/>
          </a:bodyPr>
          <a:lstStyle/>
          <a:p>
            <a:pPr algn="l" indent="0" marL="0">
              <a:lnSpc>
                <a:spcPct val="88000"/>
              </a:lnSpc>
              <a:buNone/>
            </a:pPr>
            <a:r>
              <a:rPr lang="en-US" sz="1700" b="1" dirty="0">
                <a:solidFill>
                  <a:srgbClr val="102033"/>
                </a:solidFill>
                <a:latin typeface="Inter Bold" pitchFamily="34" charset="0"/>
                <a:ea typeface="Inter Bold" pitchFamily="34" charset="-122"/>
                <a:cs typeface="Inter Bold" pitchFamily="34" charset="-120"/>
              </a:rPr>
              <a:t>Claude Platform：企业智能体底座</a:t>
            </a:r>
            <a:endParaRPr lang="en-US" sz="1700" dirty="0"/>
          </a:p>
        </p:txBody>
      </p:sp>
      <p:sp>
        <p:nvSpPr>
          <p:cNvPr id="5" name="Text 2"/>
          <p:cNvSpPr/>
          <p:nvPr/>
        </p:nvSpPr>
        <p:spPr>
          <a:xfrm>
            <a:off x="428625" y="779729"/>
            <a:ext cx="7715250" cy="138801"/>
          </a:xfrm>
          <a:prstGeom prst="rect">
            <a:avLst/>
          </a:prstGeom>
          <a:noFill/>
          <a:ln/>
        </p:spPr>
        <p:txBody>
          <a:bodyPr wrap="none" lIns="0" tIns="0" rIns="0" bIns="0" rtlCol="0" anchor="t">
            <a:spAutoFit/>
          </a:bodyPr>
          <a:lstStyle/>
          <a:p>
            <a:pPr algn="l" indent="0" marL="0">
              <a:lnSpc>
                <a:spcPct val="107200"/>
              </a:lnSpc>
              <a:buNone/>
            </a:pPr>
            <a:r>
              <a:rPr lang="en-US" sz="750" dirty="0">
                <a:solidFill>
                  <a:srgbClr val="4B5F73"/>
                </a:solidFill>
                <a:latin typeface="Inter" pitchFamily="34" charset="0"/>
                <a:ea typeface="Inter" pitchFamily="34" charset="-122"/>
                <a:cs typeface="Inter" pitchFamily="34" charset="-120"/>
              </a:rPr>
              <a:t>Claude Platform 面向开发者和企业 AI 平台团队，核心价值是把 Claude 模型能力以 API、批处理、文件上下文和智能体运行时方式嵌入业务系统。</a:t>
            </a:r>
            <a:endParaRPr lang="en-US" sz="750" dirty="0"/>
          </a:p>
        </p:txBody>
      </p:sp>
      <p:sp>
        <p:nvSpPr>
          <p:cNvPr id="6" name="Text 3"/>
          <p:cNvSpPr/>
          <p:nvPr/>
        </p:nvSpPr>
        <p:spPr>
          <a:xfrm>
            <a:off x="428625" y="1014971"/>
            <a:ext cx="1250156" cy="214313"/>
          </a:xfrm>
          <a:prstGeom prst="rect">
            <a:avLst/>
          </a:prstGeom>
          <a:noFill/>
          <a:ln/>
        </p:spPr>
        <p:txBody>
          <a:bodyPr wrap="none" lIns="8509" tIns="8509" rIns="8509" bIns="8509" rtlCol="0" anchor="ctr">
            <a:spAutoFit/>
          </a:bodyPr>
          <a:lstStyle/>
          <a:p>
            <a:pPr algn="l" indent="0" marL="0">
              <a:buNone/>
            </a:pPr>
            <a:r>
              <a:rPr lang="en-US" sz="600" b="1" dirty="0">
                <a:solidFill>
                  <a:srgbClr val="0B8F5A"/>
                </a:solidFill>
                <a:latin typeface="Inter Bold" pitchFamily="34" charset="0"/>
                <a:ea typeface="Inter Bold" pitchFamily="34" charset="-122"/>
                <a:cs typeface="Inter Bold" pitchFamily="34" charset="-120"/>
              </a:rPr>
              <a:t>平台能力</a:t>
            </a:r>
            <a:endParaRPr lang="en-US" sz="600" dirty="0"/>
          </a:p>
        </p:txBody>
      </p:sp>
      <p:sp>
        <p:nvSpPr>
          <p:cNvPr id="7" name="Text 4"/>
          <p:cNvSpPr/>
          <p:nvPr/>
        </p:nvSpPr>
        <p:spPr>
          <a:xfrm>
            <a:off x="1678781" y="1014971"/>
            <a:ext cx="3584265" cy="214313"/>
          </a:xfrm>
          <a:prstGeom prst="rect">
            <a:avLst/>
          </a:prstGeom>
          <a:noFill/>
          <a:ln/>
        </p:spPr>
        <p:txBody>
          <a:bodyPr wrap="square" lIns="8509" tIns="8509" rIns="8509" bIns="8509" rtlCol="0" anchor="ctr">
            <a:spAutoFit/>
          </a:bodyPr>
          <a:lstStyle/>
          <a:p>
            <a:pPr algn="l" indent="0" marL="0">
              <a:buNone/>
            </a:pPr>
            <a:r>
              <a:rPr lang="en-US" sz="600" b="1" dirty="0">
                <a:solidFill>
                  <a:srgbClr val="0B8F5A"/>
                </a:solidFill>
                <a:latin typeface="Inter Bold" pitchFamily="34" charset="0"/>
                <a:ea typeface="Inter Bold" pitchFamily="34" charset="-122"/>
                <a:cs typeface="Inter Bold" pitchFamily="34" charset="-120"/>
              </a:rPr>
              <a:t>企业用途</a:t>
            </a:r>
            <a:endParaRPr lang="en-US" sz="600" dirty="0"/>
          </a:p>
        </p:txBody>
      </p:sp>
      <p:sp>
        <p:nvSpPr>
          <p:cNvPr id="8" name="Text 5"/>
          <p:cNvSpPr/>
          <p:nvPr/>
        </p:nvSpPr>
        <p:spPr>
          <a:xfrm>
            <a:off x="5263046" y="1014971"/>
            <a:ext cx="3452329" cy="214313"/>
          </a:xfrm>
          <a:prstGeom prst="rect">
            <a:avLst/>
          </a:prstGeom>
          <a:noFill/>
          <a:ln/>
        </p:spPr>
        <p:txBody>
          <a:bodyPr wrap="square" lIns="8509" tIns="8509" rIns="8509" bIns="8509" rtlCol="0" anchor="ctr">
            <a:spAutoFit/>
          </a:bodyPr>
          <a:lstStyle/>
          <a:p>
            <a:pPr algn="l" indent="0" marL="0">
              <a:buNone/>
            </a:pPr>
            <a:r>
              <a:rPr lang="en-US" sz="600" b="1" dirty="0">
                <a:solidFill>
                  <a:srgbClr val="0B8F5A"/>
                </a:solidFill>
                <a:latin typeface="Inter Bold" pitchFamily="34" charset="0"/>
                <a:ea typeface="Inter Bold" pitchFamily="34" charset="-122"/>
                <a:cs typeface="Inter Bold" pitchFamily="34" charset="-120"/>
              </a:rPr>
              <a:t>架构意义</a:t>
            </a:r>
            <a:endParaRPr lang="en-US" sz="600" dirty="0"/>
          </a:p>
        </p:txBody>
      </p:sp>
      <p:sp>
        <p:nvSpPr>
          <p:cNvPr id="9" name="Text 6"/>
          <p:cNvSpPr/>
          <p:nvPr/>
        </p:nvSpPr>
        <p:spPr>
          <a:xfrm>
            <a:off x="428625" y="1229283"/>
            <a:ext cx="1250156" cy="357188"/>
          </a:xfrm>
          <a:prstGeom prst="rect">
            <a:avLst/>
          </a:prstGeom>
          <a:noFill/>
          <a:ln/>
        </p:spPr>
        <p:txBody>
          <a:bodyPr wrap="square" lIns="8509" tIns="59563" rIns="8509" bIns="8509" rtlCol="0" anchor="t">
            <a:spAutoFit/>
          </a:bodyPr>
          <a:lstStyle/>
          <a:p>
            <a:pPr algn="l" indent="0" marL="0">
              <a:lnSpc>
                <a:spcPct val="98400"/>
              </a:lnSpc>
              <a:buNone/>
            </a:pPr>
            <a:r>
              <a:rPr lang="en-US" sz="600" b="1" dirty="0">
                <a:solidFill>
                  <a:srgbClr val="1E63FF"/>
                </a:solidFill>
                <a:latin typeface="Inter ExtraBold" pitchFamily="34" charset="0"/>
                <a:ea typeface="Inter ExtraBold" pitchFamily="34" charset="-122"/>
                <a:cs typeface="Inter ExtraBold" pitchFamily="34" charset="-120"/>
              </a:rPr>
              <a:t>Messages API</a:t>
            </a:r>
            <a:endParaRPr lang="en-US" sz="600" dirty="0"/>
          </a:p>
        </p:txBody>
      </p:sp>
      <p:sp>
        <p:nvSpPr>
          <p:cNvPr id="10" name="Text 7"/>
          <p:cNvSpPr/>
          <p:nvPr/>
        </p:nvSpPr>
        <p:spPr>
          <a:xfrm>
            <a:off x="1678781" y="1229283"/>
            <a:ext cx="3584265" cy="357188"/>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客服、知识问答、合同审查、内部 Copilot、产品内嵌对话。</a:t>
            </a:r>
            <a:endParaRPr lang="en-US" sz="650" dirty="0"/>
          </a:p>
        </p:txBody>
      </p:sp>
      <p:sp>
        <p:nvSpPr>
          <p:cNvPr id="11" name="Text 8"/>
          <p:cNvSpPr/>
          <p:nvPr/>
        </p:nvSpPr>
        <p:spPr>
          <a:xfrm>
            <a:off x="5263046" y="1229283"/>
            <a:ext cx="3452329" cy="357188"/>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实时交互主通道；承载工具调用、多轮上下文和模型选择。</a:t>
            </a:r>
            <a:endParaRPr lang="en-US" sz="650" dirty="0"/>
          </a:p>
        </p:txBody>
      </p:sp>
      <p:sp>
        <p:nvSpPr>
          <p:cNvPr id="12" name="Text 9"/>
          <p:cNvSpPr/>
          <p:nvPr/>
        </p:nvSpPr>
        <p:spPr>
          <a:xfrm>
            <a:off x="428625" y="1586471"/>
            <a:ext cx="1250156" cy="357188"/>
          </a:xfrm>
          <a:prstGeom prst="rect">
            <a:avLst/>
          </a:prstGeom>
          <a:noFill/>
          <a:ln/>
        </p:spPr>
        <p:txBody>
          <a:bodyPr wrap="square" lIns="8509" tIns="59563" rIns="8509" bIns="8509" rtlCol="0" anchor="t">
            <a:spAutoFit/>
          </a:bodyPr>
          <a:lstStyle/>
          <a:p>
            <a:pPr algn="l" indent="0" marL="0">
              <a:lnSpc>
                <a:spcPct val="98400"/>
              </a:lnSpc>
              <a:buNone/>
            </a:pPr>
            <a:r>
              <a:rPr lang="en-US" sz="600" b="1" dirty="0">
                <a:solidFill>
                  <a:srgbClr val="1E63FF"/>
                </a:solidFill>
                <a:latin typeface="Inter ExtraBold" pitchFamily="34" charset="0"/>
                <a:ea typeface="Inter ExtraBold" pitchFamily="34" charset="-122"/>
                <a:cs typeface="Inter ExtraBold" pitchFamily="34" charset="-120"/>
              </a:rPr>
              <a:t>Batch Processing</a:t>
            </a:r>
            <a:endParaRPr lang="en-US" sz="600" dirty="0"/>
          </a:p>
        </p:txBody>
      </p:sp>
      <p:sp>
        <p:nvSpPr>
          <p:cNvPr id="13" name="Text 10"/>
          <p:cNvSpPr/>
          <p:nvPr/>
        </p:nvSpPr>
        <p:spPr>
          <a:xfrm>
            <a:off x="1678781" y="1586471"/>
            <a:ext cx="3584265" cy="357188"/>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大规模文档抽取、质检、分类、摘要、离线报告生成。</a:t>
            </a:r>
            <a:endParaRPr lang="en-US" sz="650" dirty="0"/>
          </a:p>
        </p:txBody>
      </p:sp>
      <p:sp>
        <p:nvSpPr>
          <p:cNvPr id="14" name="Text 11"/>
          <p:cNvSpPr/>
          <p:nvPr/>
        </p:nvSpPr>
        <p:spPr>
          <a:xfrm>
            <a:off x="5263046" y="1586471"/>
            <a:ext cx="3452329" cy="357188"/>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降低批量任务成本，适合后台流程和供应链数据处理。</a:t>
            </a:r>
            <a:endParaRPr lang="en-US" sz="650" dirty="0"/>
          </a:p>
        </p:txBody>
      </p:sp>
      <p:sp>
        <p:nvSpPr>
          <p:cNvPr id="15" name="Text 12"/>
          <p:cNvSpPr/>
          <p:nvPr/>
        </p:nvSpPr>
        <p:spPr>
          <a:xfrm>
            <a:off x="428625" y="1943658"/>
            <a:ext cx="1250156" cy="357188"/>
          </a:xfrm>
          <a:prstGeom prst="rect">
            <a:avLst/>
          </a:prstGeom>
          <a:noFill/>
          <a:ln/>
        </p:spPr>
        <p:txBody>
          <a:bodyPr wrap="square" lIns="8509" tIns="59563" rIns="8509" bIns="8509" rtlCol="0" anchor="t">
            <a:spAutoFit/>
          </a:bodyPr>
          <a:lstStyle/>
          <a:p>
            <a:pPr algn="l" indent="0" marL="0">
              <a:lnSpc>
                <a:spcPct val="98400"/>
              </a:lnSpc>
              <a:buNone/>
            </a:pPr>
            <a:r>
              <a:rPr lang="en-US" sz="600" b="1" dirty="0">
                <a:solidFill>
                  <a:srgbClr val="1E63FF"/>
                </a:solidFill>
                <a:latin typeface="Inter ExtraBold" pitchFamily="34" charset="0"/>
                <a:ea typeface="Inter ExtraBold" pitchFamily="34" charset="-122"/>
                <a:cs typeface="Inter ExtraBold" pitchFamily="34" charset="-120"/>
              </a:rPr>
              <a:t>Files API</a:t>
            </a:r>
            <a:endParaRPr lang="en-US" sz="600" dirty="0"/>
          </a:p>
        </p:txBody>
      </p:sp>
      <p:sp>
        <p:nvSpPr>
          <p:cNvPr id="16" name="Text 13"/>
          <p:cNvSpPr/>
          <p:nvPr/>
        </p:nvSpPr>
        <p:spPr>
          <a:xfrm>
            <a:off x="1678781" y="1943658"/>
            <a:ext cx="3584265" cy="357188"/>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企业文档、表格、合同、政策、说明书等作为模型上下文。</a:t>
            </a:r>
            <a:endParaRPr lang="en-US" sz="650" dirty="0"/>
          </a:p>
        </p:txBody>
      </p:sp>
      <p:sp>
        <p:nvSpPr>
          <p:cNvPr id="17" name="Text 14"/>
          <p:cNvSpPr/>
          <p:nvPr/>
        </p:nvSpPr>
        <p:spPr>
          <a:xfrm>
            <a:off x="5263046" y="1943658"/>
            <a:ext cx="3452329" cy="357188"/>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把非结构化资料纳入推理链路，是知识密集场景基础。</a:t>
            </a:r>
            <a:endParaRPr lang="en-US" sz="650" dirty="0"/>
          </a:p>
        </p:txBody>
      </p:sp>
      <p:sp>
        <p:nvSpPr>
          <p:cNvPr id="18" name="Text 15"/>
          <p:cNvSpPr/>
          <p:nvPr/>
        </p:nvSpPr>
        <p:spPr>
          <a:xfrm>
            <a:off x="428625" y="2300846"/>
            <a:ext cx="1250156" cy="357188"/>
          </a:xfrm>
          <a:prstGeom prst="rect">
            <a:avLst/>
          </a:prstGeom>
          <a:noFill/>
          <a:ln/>
        </p:spPr>
        <p:txBody>
          <a:bodyPr wrap="square" lIns="8509" tIns="59563" rIns="8509" bIns="8509" rtlCol="0" anchor="t">
            <a:spAutoFit/>
          </a:bodyPr>
          <a:lstStyle/>
          <a:p>
            <a:pPr algn="l" indent="0" marL="0">
              <a:lnSpc>
                <a:spcPct val="98400"/>
              </a:lnSpc>
              <a:buNone/>
            </a:pPr>
            <a:r>
              <a:rPr lang="en-US" sz="600" b="1" dirty="0">
                <a:solidFill>
                  <a:srgbClr val="1E63FF"/>
                </a:solidFill>
                <a:latin typeface="Inter ExtraBold" pitchFamily="34" charset="0"/>
                <a:ea typeface="Inter ExtraBold" pitchFamily="34" charset="-122"/>
                <a:cs typeface="Inter ExtraBold" pitchFamily="34" charset="-120"/>
              </a:rPr>
              <a:t>Tool Use / Function Calling</a:t>
            </a:r>
            <a:endParaRPr lang="en-US" sz="600" dirty="0"/>
          </a:p>
        </p:txBody>
      </p:sp>
      <p:sp>
        <p:nvSpPr>
          <p:cNvPr id="19" name="Text 16"/>
          <p:cNvSpPr/>
          <p:nvPr/>
        </p:nvSpPr>
        <p:spPr>
          <a:xfrm>
            <a:off x="1678781" y="2300846"/>
            <a:ext cx="3584265" cy="357188"/>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调用 ERP、CRM、WMS、数据库、搜索、工作流工具。</a:t>
            </a:r>
            <a:endParaRPr lang="en-US" sz="650" dirty="0"/>
          </a:p>
        </p:txBody>
      </p:sp>
      <p:sp>
        <p:nvSpPr>
          <p:cNvPr id="20" name="Text 17"/>
          <p:cNvSpPr/>
          <p:nvPr/>
        </p:nvSpPr>
        <p:spPr>
          <a:xfrm>
            <a:off x="5263046" y="2300846"/>
            <a:ext cx="3452329" cy="357188"/>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使 Claude 从“回答”转为“执行”，支撑智能体落地。</a:t>
            </a:r>
            <a:endParaRPr lang="en-US" sz="650" dirty="0"/>
          </a:p>
        </p:txBody>
      </p:sp>
      <p:sp>
        <p:nvSpPr>
          <p:cNvPr id="21" name="Text 18"/>
          <p:cNvSpPr/>
          <p:nvPr/>
        </p:nvSpPr>
        <p:spPr>
          <a:xfrm>
            <a:off x="428625" y="2658033"/>
            <a:ext cx="1250156" cy="357188"/>
          </a:xfrm>
          <a:prstGeom prst="rect">
            <a:avLst/>
          </a:prstGeom>
          <a:noFill/>
          <a:ln/>
        </p:spPr>
        <p:txBody>
          <a:bodyPr wrap="square" lIns="8509" tIns="59563" rIns="8509" bIns="8509" rtlCol="0" anchor="t">
            <a:spAutoFit/>
          </a:bodyPr>
          <a:lstStyle/>
          <a:p>
            <a:pPr algn="l" indent="0" marL="0">
              <a:lnSpc>
                <a:spcPct val="98400"/>
              </a:lnSpc>
              <a:buNone/>
            </a:pPr>
            <a:r>
              <a:rPr lang="en-US" sz="600" b="1" dirty="0">
                <a:solidFill>
                  <a:srgbClr val="1E63FF"/>
                </a:solidFill>
                <a:latin typeface="Inter ExtraBold" pitchFamily="34" charset="0"/>
                <a:ea typeface="Inter ExtraBold" pitchFamily="34" charset="-122"/>
                <a:cs typeface="Inter ExtraBold" pitchFamily="34" charset="-120"/>
              </a:rPr>
              <a:t>Agents</a:t>
            </a:r>
            <a:endParaRPr lang="en-US" sz="600" dirty="0"/>
          </a:p>
        </p:txBody>
      </p:sp>
      <p:sp>
        <p:nvSpPr>
          <p:cNvPr id="22" name="Text 19"/>
          <p:cNvSpPr/>
          <p:nvPr/>
        </p:nvSpPr>
        <p:spPr>
          <a:xfrm>
            <a:off x="1678781" y="2658033"/>
            <a:ext cx="3584265" cy="357188"/>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多步骤研究、工单处理、代码改造、运营流程自动化。</a:t>
            </a:r>
            <a:endParaRPr lang="en-US" sz="650" dirty="0"/>
          </a:p>
        </p:txBody>
      </p:sp>
      <p:sp>
        <p:nvSpPr>
          <p:cNvPr id="23" name="Text 20"/>
          <p:cNvSpPr/>
          <p:nvPr/>
        </p:nvSpPr>
        <p:spPr>
          <a:xfrm>
            <a:off x="5263046" y="2658033"/>
            <a:ext cx="3452329" cy="357188"/>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提供任务规划、工具组合与长任务执行的产品化路径。</a:t>
            </a:r>
            <a:endParaRPr lang="en-US" sz="650" dirty="0"/>
          </a:p>
        </p:txBody>
      </p:sp>
      <p:sp>
        <p:nvSpPr>
          <p:cNvPr id="24" name="Text 21"/>
          <p:cNvSpPr/>
          <p:nvPr/>
        </p:nvSpPr>
        <p:spPr>
          <a:xfrm>
            <a:off x="428625" y="3015221"/>
            <a:ext cx="1250156" cy="357188"/>
          </a:xfrm>
          <a:prstGeom prst="rect">
            <a:avLst/>
          </a:prstGeom>
          <a:noFill/>
          <a:ln/>
        </p:spPr>
        <p:txBody>
          <a:bodyPr wrap="square" lIns="8509" tIns="59563" rIns="8509" bIns="8509" rtlCol="0" anchor="t">
            <a:spAutoFit/>
          </a:bodyPr>
          <a:lstStyle/>
          <a:p>
            <a:pPr algn="l" indent="0" marL="0">
              <a:lnSpc>
                <a:spcPct val="98400"/>
              </a:lnSpc>
              <a:buNone/>
            </a:pPr>
            <a:r>
              <a:rPr lang="en-US" sz="600" b="1" dirty="0">
                <a:solidFill>
                  <a:srgbClr val="1E63FF"/>
                </a:solidFill>
                <a:latin typeface="Inter ExtraBold" pitchFamily="34" charset="0"/>
                <a:ea typeface="Inter ExtraBold" pitchFamily="34" charset="-122"/>
                <a:cs typeface="Inter ExtraBold" pitchFamily="34" charset="-120"/>
              </a:rPr>
              <a:t>Sessions</a:t>
            </a:r>
            <a:endParaRPr lang="en-US" sz="600" dirty="0"/>
          </a:p>
        </p:txBody>
      </p:sp>
      <p:sp>
        <p:nvSpPr>
          <p:cNvPr id="25" name="Text 22"/>
          <p:cNvSpPr/>
          <p:nvPr/>
        </p:nvSpPr>
        <p:spPr>
          <a:xfrm>
            <a:off x="1678781" y="3015221"/>
            <a:ext cx="3584265" cy="357188"/>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跨多轮任务保留状态，如采购分析、供应商评估和工程迁移。</a:t>
            </a:r>
            <a:endParaRPr lang="en-US" sz="650" dirty="0"/>
          </a:p>
        </p:txBody>
      </p:sp>
      <p:sp>
        <p:nvSpPr>
          <p:cNvPr id="26" name="Text 23"/>
          <p:cNvSpPr/>
          <p:nvPr/>
        </p:nvSpPr>
        <p:spPr>
          <a:xfrm>
            <a:off x="5263046" y="3015221"/>
            <a:ext cx="3452329" cy="357188"/>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解决企业流程中上下文持续性与状态管理问题。</a:t>
            </a:r>
            <a:endParaRPr lang="en-US" sz="650" dirty="0"/>
          </a:p>
        </p:txBody>
      </p:sp>
      <p:sp>
        <p:nvSpPr>
          <p:cNvPr id="27" name="Text 24"/>
          <p:cNvSpPr/>
          <p:nvPr/>
        </p:nvSpPr>
        <p:spPr>
          <a:xfrm>
            <a:off x="428625" y="3372408"/>
            <a:ext cx="1250156" cy="357188"/>
          </a:xfrm>
          <a:prstGeom prst="rect">
            <a:avLst/>
          </a:prstGeom>
          <a:noFill/>
          <a:ln/>
        </p:spPr>
        <p:txBody>
          <a:bodyPr wrap="square" lIns="8509" tIns="59563" rIns="8509" bIns="8509" rtlCol="0" anchor="t">
            <a:spAutoFit/>
          </a:bodyPr>
          <a:lstStyle/>
          <a:p>
            <a:pPr algn="l" indent="0" marL="0">
              <a:lnSpc>
                <a:spcPct val="98400"/>
              </a:lnSpc>
              <a:buNone/>
            </a:pPr>
            <a:r>
              <a:rPr lang="en-US" sz="600" b="1" dirty="0">
                <a:solidFill>
                  <a:srgbClr val="1E63FF"/>
                </a:solidFill>
                <a:latin typeface="Inter ExtraBold" pitchFamily="34" charset="0"/>
                <a:ea typeface="Inter ExtraBold" pitchFamily="34" charset="-122"/>
                <a:cs typeface="Inter ExtraBold" pitchFamily="34" charset="-120"/>
              </a:rPr>
              <a:t>Environments</a:t>
            </a:r>
            <a:endParaRPr lang="en-US" sz="600" dirty="0"/>
          </a:p>
        </p:txBody>
      </p:sp>
      <p:sp>
        <p:nvSpPr>
          <p:cNvPr id="28" name="Text 25"/>
          <p:cNvSpPr/>
          <p:nvPr/>
        </p:nvSpPr>
        <p:spPr>
          <a:xfrm>
            <a:off x="1678781" y="3372408"/>
            <a:ext cx="3584265" cy="357188"/>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隔离执行代码、工具和数据处理任务。</a:t>
            </a:r>
            <a:endParaRPr lang="en-US" sz="650" dirty="0"/>
          </a:p>
        </p:txBody>
      </p:sp>
      <p:sp>
        <p:nvSpPr>
          <p:cNvPr id="29" name="Text 26"/>
          <p:cNvSpPr/>
          <p:nvPr/>
        </p:nvSpPr>
        <p:spPr>
          <a:xfrm>
            <a:off x="5263046" y="3372408"/>
            <a:ext cx="3452329" cy="357188"/>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将智能体执行与安全边界、资源管理和可审计性关联。</a:t>
            </a:r>
            <a:endParaRPr lang="en-US" sz="650" dirty="0"/>
          </a:p>
        </p:txBody>
      </p:sp>
      <p:sp>
        <p:nvSpPr>
          <p:cNvPr id="30" name="Text 27"/>
          <p:cNvSpPr/>
          <p:nvPr/>
        </p:nvSpPr>
        <p:spPr>
          <a:xfrm>
            <a:off x="428625" y="3729596"/>
            <a:ext cx="1250156" cy="357188"/>
          </a:xfrm>
          <a:prstGeom prst="rect">
            <a:avLst/>
          </a:prstGeom>
          <a:noFill/>
          <a:ln/>
        </p:spPr>
        <p:txBody>
          <a:bodyPr wrap="square" lIns="8509" tIns="59563" rIns="8509" bIns="8509" rtlCol="0" anchor="t">
            <a:spAutoFit/>
          </a:bodyPr>
          <a:lstStyle/>
          <a:p>
            <a:pPr algn="l" indent="0" marL="0">
              <a:lnSpc>
                <a:spcPct val="98400"/>
              </a:lnSpc>
              <a:buNone/>
            </a:pPr>
            <a:r>
              <a:rPr lang="en-US" sz="600" b="1" dirty="0">
                <a:solidFill>
                  <a:srgbClr val="1E63FF"/>
                </a:solidFill>
                <a:latin typeface="Inter ExtraBold" pitchFamily="34" charset="0"/>
                <a:ea typeface="Inter ExtraBold" pitchFamily="34" charset="-122"/>
                <a:cs typeface="Inter ExtraBold" pitchFamily="34" charset="-120"/>
              </a:rPr>
              <a:t>Console / Admin</a:t>
            </a:r>
            <a:endParaRPr lang="en-US" sz="600" dirty="0"/>
          </a:p>
        </p:txBody>
      </p:sp>
      <p:sp>
        <p:nvSpPr>
          <p:cNvPr id="31" name="Text 28"/>
          <p:cNvSpPr/>
          <p:nvPr/>
        </p:nvSpPr>
        <p:spPr>
          <a:xfrm>
            <a:off x="1678781" y="3729596"/>
            <a:ext cx="3584265" cy="357188"/>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密钥、用量、模型、账单、评估和开发调试。</a:t>
            </a:r>
            <a:endParaRPr lang="en-US" sz="650" dirty="0"/>
          </a:p>
        </p:txBody>
      </p:sp>
      <p:sp>
        <p:nvSpPr>
          <p:cNvPr id="32" name="Text 29"/>
          <p:cNvSpPr/>
          <p:nvPr/>
        </p:nvSpPr>
        <p:spPr>
          <a:xfrm>
            <a:off x="5263046" y="3729596"/>
            <a:ext cx="3452329" cy="357188"/>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让 AI 能力进入工程管理、预算控制和治理流程。</a:t>
            </a:r>
            <a:endParaRPr lang="en-US" sz="650" dirty="0"/>
          </a:p>
        </p:txBody>
      </p:sp>
      <p:sp>
        <p:nvSpPr>
          <p:cNvPr id="33" name="Text 30"/>
          <p:cNvSpPr/>
          <p:nvPr/>
        </p:nvSpPr>
        <p:spPr>
          <a:xfrm>
            <a:off x="428625" y="4268949"/>
            <a:ext cx="4036219" cy="122560"/>
          </a:xfrm>
          <a:prstGeom prst="rect">
            <a:avLst/>
          </a:prstGeom>
          <a:noFill/>
          <a:ln/>
        </p:spPr>
        <p:txBody>
          <a:bodyPr wrap="none" lIns="0" tIns="0" rIns="0" bIns="0" rtlCol="0" anchor="t">
            <a:spAutoFit/>
          </a:bodyPr>
          <a:lstStyle/>
          <a:p>
            <a:pPr algn="l" indent="0" marL="0">
              <a:lnSpc>
                <a:spcPct val="105600"/>
              </a:lnSpc>
              <a:buNone/>
            </a:pPr>
            <a:r>
              <a:rPr lang="en-US" sz="650" b="1" dirty="0">
                <a:solidFill>
                  <a:srgbClr val="0B8F5A"/>
                </a:solidFill>
                <a:latin typeface="Inter Bold" pitchFamily="34" charset="0"/>
                <a:ea typeface="Inter Bold" pitchFamily="34" charset="-122"/>
                <a:cs typeface="Inter Bold" pitchFamily="34" charset="-120"/>
              </a:rPr>
              <a:t>平台定位：</a:t>
            </a:r>
            <a:r>
              <a:rPr lang="en-US" sz="650" dirty="0">
                <a:solidFill>
                  <a:srgbClr val="4B5F73"/>
                </a:solidFill>
                <a:latin typeface="Inter" pitchFamily="34" charset="0"/>
                <a:ea typeface="Inter" pitchFamily="34" charset="-122"/>
                <a:cs typeface="Inter" pitchFamily="34" charset="-120"/>
              </a:rPr>
              <a:t>不是只卖模型调用，而是支持企业构建“任务型智能体”和“AI 原生业务流程”。</a:t>
            </a:r>
            <a:endParaRPr lang="en-US" sz="650" dirty="0"/>
          </a:p>
        </p:txBody>
      </p:sp>
      <p:sp>
        <p:nvSpPr>
          <p:cNvPr id="34" name="Text 31"/>
          <p:cNvSpPr/>
          <p:nvPr/>
        </p:nvSpPr>
        <p:spPr>
          <a:xfrm>
            <a:off x="4679156" y="4268949"/>
            <a:ext cx="4036219" cy="122560"/>
          </a:xfrm>
          <a:prstGeom prst="rect">
            <a:avLst/>
          </a:prstGeom>
          <a:noFill/>
          <a:ln/>
        </p:spPr>
        <p:txBody>
          <a:bodyPr wrap="none" lIns="0" tIns="0" rIns="0" bIns="0" rtlCol="0" anchor="t">
            <a:spAutoFit/>
          </a:bodyPr>
          <a:lstStyle/>
          <a:p>
            <a:pPr algn="l" indent="0" marL="0">
              <a:lnSpc>
                <a:spcPct val="105600"/>
              </a:lnSpc>
              <a:buNone/>
            </a:pPr>
            <a:r>
              <a:rPr lang="en-US" sz="650" b="1" dirty="0">
                <a:solidFill>
                  <a:srgbClr val="0B8F5A"/>
                </a:solidFill>
                <a:latin typeface="Inter Bold" pitchFamily="34" charset="0"/>
                <a:ea typeface="Inter Bold" pitchFamily="34" charset="-122"/>
                <a:cs typeface="Inter Bold" pitchFamily="34" charset="-120"/>
              </a:rPr>
              <a:t>采购关键：</a:t>
            </a:r>
            <a:r>
              <a:rPr lang="en-US" sz="650" dirty="0">
                <a:solidFill>
                  <a:srgbClr val="4B5F73"/>
                </a:solidFill>
                <a:latin typeface="Inter" pitchFamily="34" charset="0"/>
                <a:ea typeface="Inter" pitchFamily="34" charset="-122"/>
                <a:cs typeface="Inter" pitchFamily="34" charset="-120"/>
              </a:rPr>
              <a:t>云渠道、合规、延迟、成本、评估和可观测性会直接影响 To B 成交。</a:t>
            </a:r>
            <a:endParaRPr lang="en-US" sz="650" dirty="0"/>
          </a:p>
        </p:txBody>
      </p:sp>
      <p:sp>
        <p:nvSpPr>
          <p:cNvPr id="35" name="Text 32"/>
          <p:cNvSpPr/>
          <p:nvPr/>
        </p:nvSpPr>
        <p:spPr>
          <a:xfrm>
            <a:off x="428625" y="4477234"/>
            <a:ext cx="8286750" cy="132857"/>
          </a:xfrm>
          <a:prstGeom prst="rect">
            <a:avLst/>
          </a:prstGeom>
          <a:noFill/>
          <a:ln/>
        </p:spPr>
        <p:txBody>
          <a:bodyPr wrap="none" lIns="0" tIns="42545" rIns="0" bIns="0" rtlCol="0" anchor="t">
            <a:spAutoFit/>
          </a:bodyPr>
          <a:lstStyle/>
          <a:p>
            <a:pPr algn="l" indent="0" marL="0">
              <a:lnSpc>
                <a:spcPct val="96000"/>
              </a:lnSpc>
              <a:buNone/>
            </a:pPr>
            <a:r>
              <a:rPr lang="en-US" sz="550" dirty="0">
                <a:solidFill>
                  <a:srgbClr val="6B7A8A"/>
                </a:solidFill>
                <a:latin typeface="Inter" pitchFamily="34" charset="0"/>
                <a:ea typeface="Inter" pitchFamily="34" charset="-122"/>
                <a:cs typeface="Inter" pitchFamily="34" charset="-120"/>
              </a:rPr>
              <a:t>来源：Anthropic API docs；Claude Platform pages；Agents / Sessions / Files / Batch API documentation。</a:t>
            </a:r>
            <a:endParaRPr lang="en-US" sz="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328613"/>
            <a:ext cx="8286750" cy="98227"/>
          </a:xfrm>
          <a:prstGeom prst="rect">
            <a:avLst/>
          </a:prstGeom>
          <a:noFill/>
          <a:ln/>
        </p:spPr>
        <p:txBody>
          <a:bodyPr wrap="square" lIns="0" tIns="0" rIns="0" bIns="0" rtlCol="0" anchor="t">
            <a:spAutoFit/>
          </a:bodyPr>
          <a:lstStyle/>
          <a:p>
            <a:pPr algn="l" indent="0" marL="0">
              <a:buNone/>
            </a:pPr>
            <a:r>
              <a:rPr lang="en-US" sz="600" b="1" spc="2" kern="0" dirty="0">
                <a:solidFill>
                  <a:srgbClr val="0B8F5A"/>
                </a:solidFill>
                <a:latin typeface="Inter ExtraBold" pitchFamily="34" charset="0"/>
                <a:ea typeface="Inter ExtraBold" pitchFamily="34" charset="-122"/>
                <a:cs typeface="Inter ExtraBold" pitchFamily="34" charset="-120"/>
              </a:rPr>
              <a:t>CLAUDE CODE</a:t>
            </a:r>
            <a:endParaRPr lang="en-US" sz="600" dirty="0"/>
          </a:p>
        </p:txBody>
      </p:sp>
      <p:sp>
        <p:nvSpPr>
          <p:cNvPr id="4" name="Text 1"/>
          <p:cNvSpPr/>
          <p:nvPr/>
        </p:nvSpPr>
        <p:spPr>
          <a:xfrm>
            <a:off x="428625" y="498277"/>
            <a:ext cx="8286750" cy="275034"/>
          </a:xfrm>
          <a:prstGeom prst="rect">
            <a:avLst/>
          </a:prstGeom>
          <a:noFill/>
          <a:ln/>
        </p:spPr>
        <p:txBody>
          <a:bodyPr wrap="none" lIns="0" tIns="0" rIns="0" bIns="0" rtlCol="0" anchor="t">
            <a:spAutoFit/>
          </a:bodyPr>
          <a:lstStyle/>
          <a:p>
            <a:pPr algn="l" indent="0" marL="0">
              <a:lnSpc>
                <a:spcPct val="88000"/>
              </a:lnSpc>
              <a:buNone/>
            </a:pPr>
            <a:r>
              <a:rPr lang="en-US" sz="1750" b="1" dirty="0">
                <a:solidFill>
                  <a:srgbClr val="102033"/>
                </a:solidFill>
                <a:latin typeface="Inter Bold" pitchFamily="34" charset="0"/>
                <a:ea typeface="Inter Bold" pitchFamily="34" charset="-122"/>
                <a:cs typeface="Inter Bold" pitchFamily="34" charset="-120"/>
              </a:rPr>
              <a:t>Claude Code：工程组织的主力产品</a:t>
            </a:r>
            <a:endParaRPr lang="en-US" sz="1750" dirty="0"/>
          </a:p>
        </p:txBody>
      </p:sp>
      <p:sp>
        <p:nvSpPr>
          <p:cNvPr id="5" name="Text 2"/>
          <p:cNvSpPr/>
          <p:nvPr/>
        </p:nvSpPr>
        <p:spPr>
          <a:xfrm>
            <a:off x="428625" y="844748"/>
            <a:ext cx="7715250" cy="152140"/>
          </a:xfrm>
          <a:prstGeom prst="rect">
            <a:avLst/>
          </a:prstGeom>
          <a:noFill/>
          <a:ln/>
        </p:spPr>
        <p:txBody>
          <a:bodyPr wrap="none" lIns="0" tIns="0" rIns="0" bIns="0" rtlCol="0" anchor="t">
            <a:spAutoFit/>
          </a:bodyPr>
          <a:lstStyle/>
          <a:p>
            <a:pPr algn="l" indent="0" marL="0">
              <a:lnSpc>
                <a:spcPct val="113600"/>
              </a:lnSpc>
              <a:buNone/>
            </a:pPr>
            <a:r>
              <a:rPr lang="en-US" sz="800" dirty="0">
                <a:solidFill>
                  <a:srgbClr val="4B5F73"/>
                </a:solidFill>
                <a:latin typeface="Inter" pitchFamily="34" charset="0"/>
                <a:ea typeface="Inter" pitchFamily="34" charset="-122"/>
                <a:cs typeface="Inter" pitchFamily="34" charset="-120"/>
              </a:rPr>
              <a:t>Claude Code 将 Claude 能力从“聊天式代码问答”推进到代码库级工作流，面向企业工程团队的效率、质量、安全和现代化改造。</a:t>
            </a:r>
            <a:endParaRPr lang="en-US" sz="800" dirty="0"/>
          </a:p>
        </p:txBody>
      </p:sp>
      <p:sp>
        <p:nvSpPr>
          <p:cNvPr id="6" name="Text 3"/>
          <p:cNvSpPr/>
          <p:nvPr/>
        </p:nvSpPr>
        <p:spPr>
          <a:xfrm>
            <a:off x="428625" y="1382650"/>
            <a:ext cx="1543050" cy="98227"/>
          </a:xfrm>
          <a:prstGeom prst="rect">
            <a:avLst/>
          </a:prstGeom>
          <a:noFill/>
          <a:ln/>
        </p:spPr>
        <p:txBody>
          <a:bodyPr wrap="square" lIns="0" tIns="0" rIns="0" bIns="0" rtlCol="0" anchor="t">
            <a:spAutoFit/>
          </a:bodyPr>
          <a:lstStyle/>
          <a:p>
            <a:pPr algn="l" indent="0" marL="0">
              <a:buNone/>
            </a:pPr>
            <a:r>
              <a:rPr lang="en-US" sz="600" b="1" spc="1" kern="0" dirty="0">
                <a:solidFill>
                  <a:srgbClr val="0B8F5A"/>
                </a:solidFill>
                <a:latin typeface="Inter ExtraBold" pitchFamily="34" charset="0"/>
                <a:ea typeface="Inter ExtraBold" pitchFamily="34" charset="-122"/>
                <a:cs typeface="Inter ExtraBold" pitchFamily="34" charset="-120"/>
              </a:rPr>
              <a:t>01</a:t>
            </a:r>
            <a:endParaRPr lang="en-US" sz="600" dirty="0"/>
          </a:p>
        </p:txBody>
      </p:sp>
      <p:sp>
        <p:nvSpPr>
          <p:cNvPr id="7" name="Text 4"/>
          <p:cNvSpPr/>
          <p:nvPr/>
        </p:nvSpPr>
        <p:spPr>
          <a:xfrm>
            <a:off x="428625" y="1552315"/>
            <a:ext cx="1543050" cy="165729"/>
          </a:xfrm>
          <a:prstGeom prst="rect">
            <a:avLst/>
          </a:prstGeom>
          <a:noFill/>
          <a:ln/>
        </p:spPr>
        <p:txBody>
          <a:bodyPr wrap="none" lIns="0" tIns="0" rIns="0" bIns="0" rtlCol="0" anchor="t">
            <a:spAutoFit/>
          </a:bodyPr>
          <a:lstStyle/>
          <a:p>
            <a:pPr algn="l" indent="0" marL="0">
              <a:lnSpc>
                <a:spcPct val="92800"/>
              </a:lnSpc>
              <a:buNone/>
            </a:pPr>
            <a:r>
              <a:rPr lang="en-US" sz="1000" b="1" dirty="0">
                <a:solidFill>
                  <a:srgbClr val="102033"/>
                </a:solidFill>
                <a:latin typeface="Inter Bold" pitchFamily="34" charset="0"/>
                <a:ea typeface="Inter Bold" pitchFamily="34" charset="-122"/>
                <a:cs typeface="Inter Bold" pitchFamily="34" charset="-120"/>
              </a:rPr>
              <a:t>代码库理解</a:t>
            </a:r>
            <a:endParaRPr lang="en-US" sz="1000" dirty="0"/>
          </a:p>
        </p:txBody>
      </p:sp>
      <p:sp>
        <p:nvSpPr>
          <p:cNvPr id="8" name="Text 5"/>
          <p:cNvSpPr/>
          <p:nvPr/>
        </p:nvSpPr>
        <p:spPr>
          <a:xfrm>
            <a:off x="428625" y="1782338"/>
            <a:ext cx="1543050" cy="396227"/>
          </a:xfrm>
          <a:prstGeom prst="rect">
            <a:avLst/>
          </a:prstGeom>
          <a:noFill/>
          <a:ln/>
        </p:spPr>
        <p:txBody>
          <a:bodyPr wrap="square" lIns="0" tIns="0" rIns="0" bIns="0" rtlCol="0" anchor="t">
            <a:spAutoFit/>
          </a:bodyPr>
          <a:lstStyle/>
          <a:p>
            <a:pPr algn="l" indent="0" marL="0">
              <a:lnSpc>
                <a:spcPct val="110400"/>
              </a:lnSpc>
              <a:buNone/>
            </a:pPr>
            <a:r>
              <a:rPr lang="en-US" sz="700" dirty="0">
                <a:solidFill>
                  <a:srgbClr val="4B5F73"/>
                </a:solidFill>
                <a:latin typeface="Inter" pitchFamily="34" charset="0"/>
                <a:ea typeface="Inter" pitchFamily="34" charset="-122"/>
                <a:cs typeface="Inter" pitchFamily="34" charset="-120"/>
              </a:rPr>
              <a:t>读取大型代码库、解释模块关系、定位业务逻辑和技术债，帮助新人 onboarding 与架构评审。</a:t>
            </a:r>
            <a:endParaRPr lang="en-US" sz="700" dirty="0"/>
          </a:p>
        </p:txBody>
      </p:sp>
      <p:sp>
        <p:nvSpPr>
          <p:cNvPr id="9" name="Text 6"/>
          <p:cNvSpPr/>
          <p:nvPr/>
        </p:nvSpPr>
        <p:spPr>
          <a:xfrm>
            <a:off x="2114550" y="1382650"/>
            <a:ext cx="1543050" cy="98227"/>
          </a:xfrm>
          <a:prstGeom prst="rect">
            <a:avLst/>
          </a:prstGeom>
          <a:noFill/>
          <a:ln/>
        </p:spPr>
        <p:txBody>
          <a:bodyPr wrap="square" lIns="0" tIns="0" rIns="0" bIns="0" rtlCol="0" anchor="t">
            <a:spAutoFit/>
          </a:bodyPr>
          <a:lstStyle/>
          <a:p>
            <a:pPr algn="l" indent="0" marL="0">
              <a:buNone/>
            </a:pPr>
            <a:r>
              <a:rPr lang="en-US" sz="600" b="1" spc="1" kern="0" dirty="0">
                <a:solidFill>
                  <a:srgbClr val="0B8F5A"/>
                </a:solidFill>
                <a:latin typeface="Inter ExtraBold" pitchFamily="34" charset="0"/>
                <a:ea typeface="Inter ExtraBold" pitchFamily="34" charset="-122"/>
                <a:cs typeface="Inter ExtraBold" pitchFamily="34" charset="-120"/>
              </a:rPr>
              <a:t>02</a:t>
            </a:r>
            <a:endParaRPr lang="en-US" sz="600" dirty="0"/>
          </a:p>
        </p:txBody>
      </p:sp>
      <p:sp>
        <p:nvSpPr>
          <p:cNvPr id="10" name="Text 7"/>
          <p:cNvSpPr/>
          <p:nvPr/>
        </p:nvSpPr>
        <p:spPr>
          <a:xfrm>
            <a:off x="2114550" y="1552315"/>
            <a:ext cx="1543050" cy="165729"/>
          </a:xfrm>
          <a:prstGeom prst="rect">
            <a:avLst/>
          </a:prstGeom>
          <a:noFill/>
          <a:ln/>
        </p:spPr>
        <p:txBody>
          <a:bodyPr wrap="none" lIns="0" tIns="0" rIns="0" bIns="0" rtlCol="0" anchor="t">
            <a:spAutoFit/>
          </a:bodyPr>
          <a:lstStyle/>
          <a:p>
            <a:pPr algn="l" indent="0" marL="0">
              <a:lnSpc>
                <a:spcPct val="92800"/>
              </a:lnSpc>
              <a:buNone/>
            </a:pPr>
            <a:r>
              <a:rPr lang="en-US" sz="1000" b="1" dirty="0">
                <a:solidFill>
                  <a:srgbClr val="102033"/>
                </a:solidFill>
                <a:latin typeface="Inter Bold" pitchFamily="34" charset="0"/>
                <a:ea typeface="Inter Bold" pitchFamily="34" charset="-122"/>
                <a:cs typeface="Inter Bold" pitchFamily="34" charset="-120"/>
              </a:rPr>
              <a:t>修改与迁移</a:t>
            </a:r>
            <a:endParaRPr lang="en-US" sz="1000" dirty="0"/>
          </a:p>
        </p:txBody>
      </p:sp>
      <p:sp>
        <p:nvSpPr>
          <p:cNvPr id="11" name="Text 8"/>
          <p:cNvSpPr/>
          <p:nvPr/>
        </p:nvSpPr>
        <p:spPr>
          <a:xfrm>
            <a:off x="2114550" y="1782338"/>
            <a:ext cx="1543050" cy="396227"/>
          </a:xfrm>
          <a:prstGeom prst="rect">
            <a:avLst/>
          </a:prstGeom>
          <a:noFill/>
          <a:ln/>
        </p:spPr>
        <p:txBody>
          <a:bodyPr wrap="square" lIns="0" tIns="0" rIns="0" bIns="0" rtlCol="0" anchor="t">
            <a:spAutoFit/>
          </a:bodyPr>
          <a:lstStyle/>
          <a:p>
            <a:pPr algn="l" indent="0" marL="0">
              <a:lnSpc>
                <a:spcPct val="110400"/>
              </a:lnSpc>
              <a:buNone/>
            </a:pPr>
            <a:r>
              <a:rPr lang="en-US" sz="700" dirty="0">
                <a:solidFill>
                  <a:srgbClr val="4B5F73"/>
                </a:solidFill>
                <a:latin typeface="Inter" pitchFamily="34" charset="0"/>
                <a:ea typeface="Inter" pitchFamily="34" charset="-122"/>
                <a:cs typeface="Inter" pitchFamily="34" charset="-120"/>
              </a:rPr>
              <a:t>执行跨文件改动、API 替换、框架升级、语言迁移和依赖调整，降低遗留系统维护成本。</a:t>
            </a:r>
            <a:endParaRPr lang="en-US" sz="700" dirty="0"/>
          </a:p>
        </p:txBody>
      </p:sp>
      <p:sp>
        <p:nvSpPr>
          <p:cNvPr id="12" name="Text 9"/>
          <p:cNvSpPr/>
          <p:nvPr/>
        </p:nvSpPr>
        <p:spPr>
          <a:xfrm>
            <a:off x="3800475" y="1382650"/>
            <a:ext cx="1543050" cy="98227"/>
          </a:xfrm>
          <a:prstGeom prst="rect">
            <a:avLst/>
          </a:prstGeom>
          <a:noFill/>
          <a:ln/>
        </p:spPr>
        <p:txBody>
          <a:bodyPr wrap="square" lIns="0" tIns="0" rIns="0" bIns="0" rtlCol="0" anchor="t">
            <a:spAutoFit/>
          </a:bodyPr>
          <a:lstStyle/>
          <a:p>
            <a:pPr algn="l" indent="0" marL="0">
              <a:buNone/>
            </a:pPr>
            <a:r>
              <a:rPr lang="en-US" sz="600" b="1" spc="1" kern="0" dirty="0">
                <a:solidFill>
                  <a:srgbClr val="0B8F5A"/>
                </a:solidFill>
                <a:latin typeface="Inter ExtraBold" pitchFamily="34" charset="0"/>
                <a:ea typeface="Inter ExtraBold" pitchFamily="34" charset="-122"/>
                <a:cs typeface="Inter ExtraBold" pitchFamily="34" charset="-120"/>
              </a:rPr>
              <a:t>03</a:t>
            </a:r>
            <a:endParaRPr lang="en-US" sz="600" dirty="0"/>
          </a:p>
        </p:txBody>
      </p:sp>
      <p:sp>
        <p:nvSpPr>
          <p:cNvPr id="13" name="Text 10"/>
          <p:cNvSpPr/>
          <p:nvPr/>
        </p:nvSpPr>
        <p:spPr>
          <a:xfrm>
            <a:off x="3800475" y="1552315"/>
            <a:ext cx="1543050" cy="165729"/>
          </a:xfrm>
          <a:prstGeom prst="rect">
            <a:avLst/>
          </a:prstGeom>
          <a:noFill/>
          <a:ln/>
        </p:spPr>
        <p:txBody>
          <a:bodyPr wrap="none" lIns="0" tIns="0" rIns="0" bIns="0" rtlCol="0" anchor="t">
            <a:spAutoFit/>
          </a:bodyPr>
          <a:lstStyle/>
          <a:p>
            <a:pPr algn="l" indent="0" marL="0">
              <a:lnSpc>
                <a:spcPct val="92800"/>
              </a:lnSpc>
              <a:buNone/>
            </a:pPr>
            <a:r>
              <a:rPr lang="en-US" sz="1000" b="1" dirty="0">
                <a:solidFill>
                  <a:srgbClr val="102033"/>
                </a:solidFill>
                <a:latin typeface="Inter Bold" pitchFamily="34" charset="0"/>
                <a:ea typeface="Inter Bold" pitchFamily="34" charset="-122"/>
                <a:cs typeface="Inter Bold" pitchFamily="34" charset="-120"/>
              </a:rPr>
              <a:t>测试与调试</a:t>
            </a:r>
            <a:endParaRPr lang="en-US" sz="1000" dirty="0"/>
          </a:p>
        </p:txBody>
      </p:sp>
      <p:sp>
        <p:nvSpPr>
          <p:cNvPr id="14" name="Text 11"/>
          <p:cNvSpPr/>
          <p:nvPr/>
        </p:nvSpPr>
        <p:spPr>
          <a:xfrm>
            <a:off x="3800475" y="1782338"/>
            <a:ext cx="1543050" cy="396227"/>
          </a:xfrm>
          <a:prstGeom prst="rect">
            <a:avLst/>
          </a:prstGeom>
          <a:noFill/>
          <a:ln/>
        </p:spPr>
        <p:txBody>
          <a:bodyPr wrap="square" lIns="0" tIns="0" rIns="0" bIns="0" rtlCol="0" anchor="t">
            <a:spAutoFit/>
          </a:bodyPr>
          <a:lstStyle/>
          <a:p>
            <a:pPr algn="l" indent="0" marL="0">
              <a:lnSpc>
                <a:spcPct val="110400"/>
              </a:lnSpc>
              <a:buNone/>
            </a:pPr>
            <a:r>
              <a:rPr lang="en-US" sz="700" dirty="0">
                <a:solidFill>
                  <a:srgbClr val="4B5F73"/>
                </a:solidFill>
                <a:latin typeface="Inter" pitchFamily="34" charset="0"/>
                <a:ea typeface="Inter" pitchFamily="34" charset="-122"/>
                <a:cs typeface="Inter" pitchFamily="34" charset="-120"/>
              </a:rPr>
              <a:t>生成测试、复现缺陷、分析日志、定位根因并提出修复方案，提升工程闭环效率。</a:t>
            </a:r>
            <a:endParaRPr lang="en-US" sz="700" dirty="0"/>
          </a:p>
        </p:txBody>
      </p:sp>
      <p:sp>
        <p:nvSpPr>
          <p:cNvPr id="15" name="Text 12"/>
          <p:cNvSpPr/>
          <p:nvPr/>
        </p:nvSpPr>
        <p:spPr>
          <a:xfrm>
            <a:off x="5486400" y="1382650"/>
            <a:ext cx="1543050" cy="98227"/>
          </a:xfrm>
          <a:prstGeom prst="rect">
            <a:avLst/>
          </a:prstGeom>
          <a:noFill/>
          <a:ln/>
        </p:spPr>
        <p:txBody>
          <a:bodyPr wrap="square" lIns="0" tIns="0" rIns="0" bIns="0" rtlCol="0" anchor="t">
            <a:spAutoFit/>
          </a:bodyPr>
          <a:lstStyle/>
          <a:p>
            <a:pPr algn="l" indent="0" marL="0">
              <a:buNone/>
            </a:pPr>
            <a:r>
              <a:rPr lang="en-US" sz="600" b="1" spc="1" kern="0" dirty="0">
                <a:solidFill>
                  <a:srgbClr val="0B8F5A"/>
                </a:solidFill>
                <a:latin typeface="Inter ExtraBold" pitchFamily="34" charset="0"/>
                <a:ea typeface="Inter ExtraBold" pitchFamily="34" charset="-122"/>
                <a:cs typeface="Inter ExtraBold" pitchFamily="34" charset="-120"/>
              </a:rPr>
              <a:t>04</a:t>
            </a:r>
            <a:endParaRPr lang="en-US" sz="600" dirty="0"/>
          </a:p>
        </p:txBody>
      </p:sp>
      <p:sp>
        <p:nvSpPr>
          <p:cNvPr id="16" name="Text 13"/>
          <p:cNvSpPr/>
          <p:nvPr/>
        </p:nvSpPr>
        <p:spPr>
          <a:xfrm>
            <a:off x="5486400" y="1552315"/>
            <a:ext cx="1543050" cy="165729"/>
          </a:xfrm>
          <a:prstGeom prst="rect">
            <a:avLst/>
          </a:prstGeom>
          <a:noFill/>
          <a:ln/>
        </p:spPr>
        <p:txBody>
          <a:bodyPr wrap="none" lIns="0" tIns="0" rIns="0" bIns="0" rtlCol="0" anchor="t">
            <a:spAutoFit/>
          </a:bodyPr>
          <a:lstStyle/>
          <a:p>
            <a:pPr algn="l" indent="0" marL="0">
              <a:lnSpc>
                <a:spcPct val="92800"/>
              </a:lnSpc>
              <a:buNone/>
            </a:pPr>
            <a:r>
              <a:rPr lang="en-US" sz="1000" b="1" dirty="0">
                <a:solidFill>
                  <a:srgbClr val="102033"/>
                </a:solidFill>
                <a:latin typeface="Inter Bold" pitchFamily="34" charset="0"/>
                <a:ea typeface="Inter Bold" pitchFamily="34" charset="-122"/>
                <a:cs typeface="Inter Bold" pitchFamily="34" charset="-120"/>
              </a:rPr>
              <a:t>安全修复</a:t>
            </a:r>
            <a:endParaRPr lang="en-US" sz="1000" dirty="0"/>
          </a:p>
        </p:txBody>
      </p:sp>
      <p:sp>
        <p:nvSpPr>
          <p:cNvPr id="17" name="Text 14"/>
          <p:cNvSpPr/>
          <p:nvPr/>
        </p:nvSpPr>
        <p:spPr>
          <a:xfrm>
            <a:off x="5486400" y="1782338"/>
            <a:ext cx="1543050" cy="396227"/>
          </a:xfrm>
          <a:prstGeom prst="rect">
            <a:avLst/>
          </a:prstGeom>
          <a:noFill/>
          <a:ln/>
        </p:spPr>
        <p:txBody>
          <a:bodyPr wrap="square" lIns="0" tIns="0" rIns="0" bIns="0" rtlCol="0" anchor="t">
            <a:spAutoFit/>
          </a:bodyPr>
          <a:lstStyle/>
          <a:p>
            <a:pPr algn="l" indent="0" marL="0">
              <a:lnSpc>
                <a:spcPct val="110400"/>
              </a:lnSpc>
              <a:buNone/>
            </a:pPr>
            <a:r>
              <a:rPr lang="en-US" sz="700" dirty="0">
                <a:solidFill>
                  <a:srgbClr val="4B5F73"/>
                </a:solidFill>
                <a:latin typeface="Inter" pitchFamily="34" charset="0"/>
                <a:ea typeface="Inter" pitchFamily="34" charset="-122"/>
                <a:cs typeface="Inter" pitchFamily="34" charset="-120"/>
              </a:rPr>
              <a:t>辅助漏洞排查、依赖风险、代码安全审查和 remediation workflow，与安全团队需求相连。</a:t>
            </a:r>
            <a:endParaRPr lang="en-US" sz="700" dirty="0"/>
          </a:p>
        </p:txBody>
      </p:sp>
      <p:sp>
        <p:nvSpPr>
          <p:cNvPr id="18" name="Text 15"/>
          <p:cNvSpPr/>
          <p:nvPr/>
        </p:nvSpPr>
        <p:spPr>
          <a:xfrm>
            <a:off x="7172325" y="1382650"/>
            <a:ext cx="1543050" cy="98227"/>
          </a:xfrm>
          <a:prstGeom prst="rect">
            <a:avLst/>
          </a:prstGeom>
          <a:noFill/>
          <a:ln/>
        </p:spPr>
        <p:txBody>
          <a:bodyPr wrap="square" lIns="0" tIns="0" rIns="0" bIns="0" rtlCol="0" anchor="t">
            <a:spAutoFit/>
          </a:bodyPr>
          <a:lstStyle/>
          <a:p>
            <a:pPr algn="l" indent="0" marL="0">
              <a:buNone/>
            </a:pPr>
            <a:r>
              <a:rPr lang="en-US" sz="600" b="1" spc="1" kern="0" dirty="0">
                <a:solidFill>
                  <a:srgbClr val="0B8F5A"/>
                </a:solidFill>
                <a:latin typeface="Inter ExtraBold" pitchFamily="34" charset="0"/>
                <a:ea typeface="Inter ExtraBold" pitchFamily="34" charset="-122"/>
                <a:cs typeface="Inter ExtraBold" pitchFamily="34" charset="-120"/>
              </a:rPr>
              <a:t>05</a:t>
            </a:r>
            <a:endParaRPr lang="en-US" sz="600" dirty="0"/>
          </a:p>
        </p:txBody>
      </p:sp>
      <p:sp>
        <p:nvSpPr>
          <p:cNvPr id="19" name="Text 16"/>
          <p:cNvSpPr/>
          <p:nvPr/>
        </p:nvSpPr>
        <p:spPr>
          <a:xfrm>
            <a:off x="7172325" y="1552315"/>
            <a:ext cx="1543050" cy="165729"/>
          </a:xfrm>
          <a:prstGeom prst="rect">
            <a:avLst/>
          </a:prstGeom>
          <a:noFill/>
          <a:ln/>
        </p:spPr>
        <p:txBody>
          <a:bodyPr wrap="none" lIns="0" tIns="0" rIns="0" bIns="0" rtlCol="0" anchor="t">
            <a:spAutoFit/>
          </a:bodyPr>
          <a:lstStyle/>
          <a:p>
            <a:pPr algn="l" indent="0" marL="0">
              <a:lnSpc>
                <a:spcPct val="92800"/>
              </a:lnSpc>
              <a:buNone/>
            </a:pPr>
            <a:r>
              <a:rPr lang="en-US" sz="1000" b="1" dirty="0">
                <a:solidFill>
                  <a:srgbClr val="102033"/>
                </a:solidFill>
                <a:latin typeface="Inter Bold" pitchFamily="34" charset="0"/>
                <a:ea typeface="Inter Bold" pitchFamily="34" charset="-122"/>
                <a:cs typeface="Inter Bold" pitchFamily="34" charset="-120"/>
              </a:rPr>
              <a:t>工程知识沉淀</a:t>
            </a:r>
            <a:endParaRPr lang="en-US" sz="1000" dirty="0"/>
          </a:p>
        </p:txBody>
      </p:sp>
      <p:sp>
        <p:nvSpPr>
          <p:cNvPr id="20" name="Text 17"/>
          <p:cNvSpPr/>
          <p:nvPr/>
        </p:nvSpPr>
        <p:spPr>
          <a:xfrm>
            <a:off x="7172325" y="1782338"/>
            <a:ext cx="1543050" cy="396227"/>
          </a:xfrm>
          <a:prstGeom prst="rect">
            <a:avLst/>
          </a:prstGeom>
          <a:noFill/>
          <a:ln/>
        </p:spPr>
        <p:txBody>
          <a:bodyPr wrap="square" lIns="0" tIns="0" rIns="0" bIns="0" rtlCol="0" anchor="t">
            <a:spAutoFit/>
          </a:bodyPr>
          <a:lstStyle/>
          <a:p>
            <a:pPr algn="l" indent="0" marL="0">
              <a:lnSpc>
                <a:spcPct val="110400"/>
              </a:lnSpc>
              <a:buNone/>
            </a:pPr>
            <a:r>
              <a:rPr lang="en-US" sz="700" dirty="0">
                <a:solidFill>
                  <a:srgbClr val="4B5F73"/>
                </a:solidFill>
                <a:latin typeface="Inter" pitchFamily="34" charset="0"/>
                <a:ea typeface="Inter" pitchFamily="34" charset="-122"/>
                <a:cs typeface="Inter" pitchFamily="34" charset="-120"/>
              </a:rPr>
              <a:t>将仓库、规范、运行脚本和团队约定转化为可复用上下文，形成工程智能体资产。</a:t>
            </a:r>
            <a:endParaRPr lang="en-US" sz="700" dirty="0"/>
          </a:p>
        </p:txBody>
      </p:sp>
      <p:sp>
        <p:nvSpPr>
          <p:cNvPr id="21" name="Text 18"/>
          <p:cNvSpPr/>
          <p:nvPr/>
        </p:nvSpPr>
        <p:spPr>
          <a:xfrm>
            <a:off x="428625" y="3590069"/>
            <a:ext cx="4021931" cy="262310"/>
          </a:xfrm>
          <a:prstGeom prst="rect">
            <a:avLst/>
          </a:prstGeom>
          <a:noFill/>
          <a:ln/>
        </p:spPr>
        <p:txBody>
          <a:bodyPr wrap="square" lIns="0" tIns="0" rIns="0" bIns="0" rtlCol="0" anchor="t">
            <a:spAutoFit/>
          </a:bodyPr>
          <a:lstStyle/>
          <a:p>
            <a:pPr algn="l" indent="0" marL="0">
              <a:lnSpc>
                <a:spcPct val="108000"/>
              </a:lnSpc>
              <a:buNone/>
            </a:pPr>
            <a:r>
              <a:rPr lang="en-US" sz="650" b="1" dirty="0">
                <a:solidFill>
                  <a:srgbClr val="0B8F5A"/>
                </a:solidFill>
                <a:latin typeface="Inter Bold" pitchFamily="34" charset="0"/>
                <a:ea typeface="Inter Bold" pitchFamily="34" charset="-122"/>
                <a:cs typeface="Inter Bold" pitchFamily="34" charset="-120"/>
              </a:rPr>
              <a:t>企业购买动因：</a:t>
            </a:r>
            <a:r>
              <a:rPr lang="en-US" sz="700" dirty="0">
                <a:solidFill>
                  <a:srgbClr val="4B5F73"/>
                </a:solidFill>
                <a:latin typeface="Inter" pitchFamily="34" charset="0"/>
                <a:ea typeface="Inter" pitchFamily="34" charset="-122"/>
                <a:cs typeface="Inter" pitchFamily="34" charset="-120"/>
              </a:rPr>
              <a:t>开发效率、代码质量、技术债治理、安全整改和现代化迁移都能形成可量化 </a:t>
            </a:r>
            <a:r>
              <a:rPr lang="en-US" sz="700" dirty="0">
                <a:solidFill>
                  <a:srgbClr val="4B5F73"/>
                </a:solidFill>
                <a:latin typeface="Inter" pitchFamily="34" charset="0"/>
                <a:ea typeface="Inter" pitchFamily="34" charset="-122"/>
                <a:cs typeface="Inter" pitchFamily="34" charset="-120"/>
              </a:rPr>
              <a:t>ROI。</a:t>
            </a:r>
            <a:endParaRPr lang="en-US" sz="650" dirty="0"/>
          </a:p>
        </p:txBody>
      </p:sp>
      <p:sp>
        <p:nvSpPr>
          <p:cNvPr id="22" name="Text 19"/>
          <p:cNvSpPr/>
          <p:nvPr/>
        </p:nvSpPr>
        <p:spPr>
          <a:xfrm>
            <a:off x="4693444" y="3590069"/>
            <a:ext cx="4021931" cy="262310"/>
          </a:xfrm>
          <a:prstGeom prst="rect">
            <a:avLst/>
          </a:prstGeom>
          <a:noFill/>
          <a:ln/>
        </p:spPr>
        <p:txBody>
          <a:bodyPr wrap="square" lIns="0" tIns="0" rIns="0" bIns="0" rtlCol="0" anchor="t">
            <a:spAutoFit/>
          </a:bodyPr>
          <a:lstStyle/>
          <a:p>
            <a:pPr algn="l" indent="0" marL="0">
              <a:lnSpc>
                <a:spcPct val="108000"/>
              </a:lnSpc>
              <a:buNone/>
            </a:pPr>
            <a:r>
              <a:rPr lang="en-US" sz="650" b="1" dirty="0">
                <a:solidFill>
                  <a:srgbClr val="0B8F5A"/>
                </a:solidFill>
                <a:latin typeface="Inter Bold" pitchFamily="34" charset="0"/>
                <a:ea typeface="Inter Bold" pitchFamily="34" charset="-122"/>
                <a:cs typeface="Inter Bold" pitchFamily="34" charset="-120"/>
              </a:rPr>
              <a:t>供应链相邻价值：</a:t>
            </a:r>
            <a:r>
              <a:rPr lang="en-US" sz="700" dirty="0">
                <a:solidFill>
                  <a:srgbClr val="4B5F73"/>
                </a:solidFill>
                <a:latin typeface="Inter" pitchFamily="34" charset="0"/>
                <a:ea typeface="Inter" pitchFamily="34" charset="-122"/>
                <a:cs typeface="Inter" pitchFamily="34" charset="-120"/>
              </a:rPr>
              <a:t>制造/物流企业的大量 IT 系统、ERP 接口和遗留代码可使用 Code 做现代化</a:t>
            </a:r>
            <a:r>
              <a:rPr lang="en-US" sz="700" dirty="0">
                <a:solidFill>
                  <a:srgbClr val="4B5F73"/>
                </a:solidFill>
                <a:latin typeface="Inter" pitchFamily="34" charset="0"/>
                <a:ea typeface="Inter" pitchFamily="34" charset="-122"/>
                <a:cs typeface="Inter" pitchFamily="34" charset="-120"/>
              </a:rPr>
              <a:t>改造。</a:t>
            </a:r>
            <a:endParaRPr lang="en-US" sz="650" dirty="0"/>
          </a:p>
        </p:txBody>
      </p:sp>
      <p:sp>
        <p:nvSpPr>
          <p:cNvPr id="23" name="Text 20"/>
          <p:cNvSpPr/>
          <p:nvPr/>
        </p:nvSpPr>
        <p:spPr>
          <a:xfrm>
            <a:off x="428625" y="3952391"/>
            <a:ext cx="8286750" cy="133722"/>
          </a:xfrm>
          <a:prstGeom prst="rect">
            <a:avLst/>
          </a:prstGeom>
          <a:noFill/>
          <a:ln/>
        </p:spPr>
        <p:txBody>
          <a:bodyPr wrap="none" lIns="0" tIns="42545" rIns="0" bIns="0" rtlCol="0" anchor="t">
            <a:spAutoFit/>
          </a:bodyPr>
          <a:lstStyle/>
          <a:p>
            <a:pPr algn="l" indent="0" marL="0">
              <a:lnSpc>
                <a:spcPct val="96000"/>
              </a:lnSpc>
              <a:buNone/>
            </a:pPr>
            <a:r>
              <a:rPr lang="en-US" sz="550" dirty="0">
                <a:solidFill>
                  <a:srgbClr val="6B7A8A"/>
                </a:solidFill>
                <a:latin typeface="Inter" pitchFamily="34" charset="0"/>
                <a:ea typeface="Inter" pitchFamily="34" charset="-122"/>
                <a:cs typeface="Inter" pitchFamily="34" charset="-120"/>
              </a:rPr>
              <a:t>来源：Claude Code official pages；Claude Code Enterprise pages；Anthropic product announcements。</a:t>
            </a:r>
            <a:endParaRPr lang="en-US" sz="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314325"/>
            <a:ext cx="8286750" cy="98227"/>
          </a:xfrm>
          <a:prstGeom prst="rect">
            <a:avLst/>
          </a:prstGeom>
          <a:noFill/>
          <a:ln/>
        </p:spPr>
        <p:txBody>
          <a:bodyPr wrap="square" lIns="0" tIns="0" rIns="0" bIns="0" rtlCol="0" anchor="t">
            <a:spAutoFit/>
          </a:bodyPr>
          <a:lstStyle/>
          <a:p>
            <a:pPr algn="l" indent="0" marL="0">
              <a:buNone/>
            </a:pPr>
            <a:r>
              <a:rPr lang="en-US" sz="600" b="1" spc="2" kern="0" dirty="0">
                <a:solidFill>
                  <a:srgbClr val="0B8F5A"/>
                </a:solidFill>
                <a:latin typeface="Inter ExtraBold" pitchFamily="34" charset="0"/>
                <a:ea typeface="Inter ExtraBold" pitchFamily="34" charset="-122"/>
                <a:cs typeface="Inter ExtraBold" pitchFamily="34" charset="-120"/>
              </a:rPr>
              <a:t>CLAUDE COWORK</a:t>
            </a:r>
            <a:endParaRPr lang="en-US" sz="600" dirty="0"/>
          </a:p>
        </p:txBody>
      </p:sp>
      <p:sp>
        <p:nvSpPr>
          <p:cNvPr id="4" name="Text 1"/>
          <p:cNvSpPr/>
          <p:nvPr/>
        </p:nvSpPr>
        <p:spPr>
          <a:xfrm>
            <a:off x="428625" y="469702"/>
            <a:ext cx="8286750" cy="267165"/>
          </a:xfrm>
          <a:prstGeom prst="rect">
            <a:avLst/>
          </a:prstGeom>
          <a:noFill/>
          <a:ln/>
        </p:spPr>
        <p:txBody>
          <a:bodyPr wrap="none" lIns="0" tIns="0" rIns="0" bIns="0" rtlCol="0" anchor="t">
            <a:spAutoFit/>
          </a:bodyPr>
          <a:lstStyle/>
          <a:p>
            <a:pPr algn="l" indent="0" marL="0">
              <a:lnSpc>
                <a:spcPct val="88000"/>
              </a:lnSpc>
              <a:buNone/>
            </a:pPr>
            <a:r>
              <a:rPr lang="en-US" sz="1700" b="1" dirty="0">
                <a:solidFill>
                  <a:srgbClr val="102033"/>
                </a:solidFill>
                <a:latin typeface="Inter Bold" pitchFamily="34" charset="0"/>
                <a:ea typeface="Inter Bold" pitchFamily="34" charset="-122"/>
                <a:cs typeface="Inter Bold" pitchFamily="34" charset="-120"/>
              </a:rPr>
              <a:t>Claude Cowork：非编码流程自动化</a:t>
            </a:r>
            <a:endParaRPr lang="en-US" sz="1700" dirty="0"/>
          </a:p>
        </p:txBody>
      </p:sp>
      <p:sp>
        <p:nvSpPr>
          <p:cNvPr id="5" name="Text 2"/>
          <p:cNvSpPr/>
          <p:nvPr/>
        </p:nvSpPr>
        <p:spPr>
          <a:xfrm>
            <a:off x="428625" y="794017"/>
            <a:ext cx="7715250" cy="140866"/>
          </a:xfrm>
          <a:prstGeom prst="rect">
            <a:avLst/>
          </a:prstGeom>
          <a:noFill/>
          <a:ln/>
        </p:spPr>
        <p:txBody>
          <a:bodyPr wrap="none" lIns="0" tIns="0" rIns="0" bIns="0" rtlCol="0" anchor="t">
            <a:spAutoFit/>
          </a:bodyPr>
          <a:lstStyle/>
          <a:p>
            <a:pPr algn="l" indent="0" marL="0">
              <a:lnSpc>
                <a:spcPct val="108800"/>
              </a:lnSpc>
              <a:buNone/>
            </a:pPr>
            <a:r>
              <a:rPr lang="en-US" sz="750" dirty="0">
                <a:solidFill>
                  <a:srgbClr val="4B5F73"/>
                </a:solidFill>
                <a:latin typeface="Inter" pitchFamily="34" charset="0"/>
                <a:ea typeface="Inter" pitchFamily="34" charset="-122"/>
                <a:cs typeface="Inter" pitchFamily="34" charset="-120"/>
              </a:rPr>
              <a:t>Cowork 的战略意义在于把 Claude 从“问答工具”推向“可执行任务的业务协作者”，尤其适合跨应用、跨文档、跨系统的知识流程。</a:t>
            </a:r>
            <a:endParaRPr lang="en-US" sz="750" dirty="0"/>
          </a:p>
        </p:txBody>
      </p:sp>
      <p:sp>
        <p:nvSpPr>
          <p:cNvPr id="6" name="Text 3"/>
          <p:cNvSpPr/>
          <p:nvPr/>
        </p:nvSpPr>
        <p:spPr>
          <a:xfrm>
            <a:off x="428625" y="1249207"/>
            <a:ext cx="1554463" cy="176808"/>
          </a:xfrm>
          <a:prstGeom prst="rect">
            <a:avLst/>
          </a:prstGeom>
          <a:noFill/>
          <a:ln/>
        </p:spPr>
        <p:txBody>
          <a:bodyPr wrap="square" lIns="0" tIns="0" rIns="0" bIns="0" rtlCol="0" anchor="t">
            <a:spAutoFit/>
          </a:bodyPr>
          <a:lstStyle/>
          <a:p>
            <a:pPr algn="l" indent="0" marL="0">
              <a:buNone/>
            </a:pPr>
            <a:r>
              <a:rPr lang="en-US" sz="850" b="1" dirty="0">
                <a:solidFill>
                  <a:srgbClr val="1E63FF"/>
                </a:solidFill>
                <a:latin typeface="Inter Bold" pitchFamily="34" charset="0"/>
                <a:ea typeface="Inter Bold" pitchFamily="34" charset="-122"/>
                <a:cs typeface="Inter Bold" pitchFamily="34" charset="-120"/>
              </a:rPr>
              <a:t>任务触发</a:t>
            </a:r>
            <a:endParaRPr lang="en-US" sz="850" dirty="0"/>
          </a:p>
        </p:txBody>
      </p:sp>
      <p:sp>
        <p:nvSpPr>
          <p:cNvPr id="7" name="Text 4"/>
          <p:cNvSpPr/>
          <p:nvPr/>
        </p:nvSpPr>
        <p:spPr>
          <a:xfrm>
            <a:off x="428625" y="1499239"/>
            <a:ext cx="1548408" cy="101798"/>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用户提出目标、上传资料，或通过计划</a:t>
            </a:r>
            <a:endParaRPr lang="en-US" sz="650" dirty="0"/>
          </a:p>
        </p:txBody>
      </p:sp>
      <p:sp>
        <p:nvSpPr>
          <p:cNvPr id="8" name="Text 5"/>
          <p:cNvSpPr/>
          <p:nvPr/>
        </p:nvSpPr>
        <p:spPr>
          <a:xfrm>
            <a:off x="428625" y="1632347"/>
            <a:ext cx="819745" cy="101798"/>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任务启动例行工作。</a:t>
            </a:r>
            <a:endParaRPr lang="en-US" sz="650" dirty="0"/>
          </a:p>
        </p:txBody>
      </p:sp>
      <p:sp>
        <p:nvSpPr>
          <p:cNvPr id="9" name="Text 6"/>
          <p:cNvSpPr/>
          <p:nvPr/>
        </p:nvSpPr>
        <p:spPr>
          <a:xfrm>
            <a:off x="2111676" y="1249207"/>
            <a:ext cx="1554491" cy="176808"/>
          </a:xfrm>
          <a:prstGeom prst="rect">
            <a:avLst/>
          </a:prstGeom>
          <a:noFill/>
          <a:ln/>
        </p:spPr>
        <p:txBody>
          <a:bodyPr wrap="square" lIns="0" tIns="0" rIns="0" bIns="0" rtlCol="0" anchor="t">
            <a:spAutoFit/>
          </a:bodyPr>
          <a:lstStyle/>
          <a:p>
            <a:pPr algn="l" indent="0" marL="0">
              <a:buNone/>
            </a:pPr>
            <a:r>
              <a:rPr lang="en-US" sz="850" b="1" dirty="0">
                <a:solidFill>
                  <a:srgbClr val="1E63FF"/>
                </a:solidFill>
                <a:latin typeface="Inter Bold" pitchFamily="34" charset="0"/>
                <a:ea typeface="Inter Bold" pitchFamily="34" charset="-122"/>
                <a:cs typeface="Inter Bold" pitchFamily="34" charset="-120"/>
              </a:rPr>
              <a:t>上下文收集</a:t>
            </a:r>
            <a:endParaRPr lang="en-US" sz="850" dirty="0"/>
          </a:p>
        </p:txBody>
      </p:sp>
      <p:sp>
        <p:nvSpPr>
          <p:cNvPr id="10" name="Text 7"/>
          <p:cNvSpPr/>
          <p:nvPr/>
        </p:nvSpPr>
        <p:spPr>
          <a:xfrm>
            <a:off x="2111676" y="1499239"/>
            <a:ext cx="1548408" cy="101798"/>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读取文件、浏览器信息、连接器内容和</a:t>
            </a:r>
            <a:endParaRPr lang="en-US" sz="650" dirty="0"/>
          </a:p>
        </p:txBody>
      </p:sp>
      <p:sp>
        <p:nvSpPr>
          <p:cNvPr id="11" name="Text 8"/>
          <p:cNvSpPr/>
          <p:nvPr/>
        </p:nvSpPr>
        <p:spPr>
          <a:xfrm>
            <a:off x="2111676" y="1632347"/>
            <a:ext cx="511978" cy="101798"/>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团队 Skills。</a:t>
            </a:r>
            <a:endParaRPr lang="en-US" sz="650" dirty="0"/>
          </a:p>
        </p:txBody>
      </p:sp>
      <p:sp>
        <p:nvSpPr>
          <p:cNvPr id="12" name="Text 9"/>
          <p:cNvSpPr/>
          <p:nvPr/>
        </p:nvSpPr>
        <p:spPr>
          <a:xfrm>
            <a:off x="3794754" y="1249207"/>
            <a:ext cx="1554463" cy="176808"/>
          </a:xfrm>
          <a:prstGeom prst="rect">
            <a:avLst/>
          </a:prstGeom>
          <a:noFill/>
          <a:ln/>
        </p:spPr>
        <p:txBody>
          <a:bodyPr wrap="square" lIns="0" tIns="0" rIns="0" bIns="0" rtlCol="0" anchor="t">
            <a:spAutoFit/>
          </a:bodyPr>
          <a:lstStyle/>
          <a:p>
            <a:pPr algn="l" indent="0" marL="0">
              <a:buNone/>
            </a:pPr>
            <a:r>
              <a:rPr lang="en-US" sz="850" b="1" dirty="0">
                <a:solidFill>
                  <a:srgbClr val="1E63FF"/>
                </a:solidFill>
                <a:latin typeface="Inter Bold" pitchFamily="34" charset="0"/>
                <a:ea typeface="Inter Bold" pitchFamily="34" charset="-122"/>
                <a:cs typeface="Inter Bold" pitchFamily="34" charset="-120"/>
              </a:rPr>
              <a:t>计划拆解</a:t>
            </a:r>
            <a:endParaRPr lang="en-US" sz="850" dirty="0"/>
          </a:p>
        </p:txBody>
      </p:sp>
      <p:sp>
        <p:nvSpPr>
          <p:cNvPr id="13" name="Text 10"/>
          <p:cNvSpPr/>
          <p:nvPr/>
        </p:nvSpPr>
        <p:spPr>
          <a:xfrm>
            <a:off x="3794754" y="1499239"/>
            <a:ext cx="1548408" cy="101798"/>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将目标拆为步骤，判断需要哪些工具、</a:t>
            </a:r>
            <a:endParaRPr lang="en-US" sz="650" dirty="0"/>
          </a:p>
        </p:txBody>
      </p:sp>
      <p:sp>
        <p:nvSpPr>
          <p:cNvPr id="14" name="Text 11"/>
          <p:cNvSpPr/>
          <p:nvPr/>
        </p:nvSpPr>
        <p:spPr>
          <a:xfrm>
            <a:off x="3794754" y="1632347"/>
            <a:ext cx="546497" cy="101798"/>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网页或系统。</a:t>
            </a:r>
            <a:endParaRPr lang="en-US" sz="650" dirty="0"/>
          </a:p>
        </p:txBody>
      </p:sp>
      <p:sp>
        <p:nvSpPr>
          <p:cNvPr id="15" name="Text 12"/>
          <p:cNvSpPr/>
          <p:nvPr/>
        </p:nvSpPr>
        <p:spPr>
          <a:xfrm>
            <a:off x="5477805" y="1249207"/>
            <a:ext cx="1554491" cy="176808"/>
          </a:xfrm>
          <a:prstGeom prst="rect">
            <a:avLst/>
          </a:prstGeom>
          <a:noFill/>
          <a:ln/>
        </p:spPr>
        <p:txBody>
          <a:bodyPr wrap="square" lIns="0" tIns="0" rIns="0" bIns="0" rtlCol="0" anchor="t">
            <a:spAutoFit/>
          </a:bodyPr>
          <a:lstStyle/>
          <a:p>
            <a:pPr algn="l" indent="0" marL="0">
              <a:buNone/>
            </a:pPr>
            <a:r>
              <a:rPr lang="en-US" sz="850" b="1" dirty="0">
                <a:solidFill>
                  <a:srgbClr val="1E63FF"/>
                </a:solidFill>
                <a:latin typeface="Inter Bold" pitchFamily="34" charset="0"/>
                <a:ea typeface="Inter Bold" pitchFamily="34" charset="-122"/>
                <a:cs typeface="Inter Bold" pitchFamily="34" charset="-120"/>
              </a:rPr>
              <a:t>执行与生成</a:t>
            </a:r>
            <a:endParaRPr lang="en-US" sz="850" dirty="0"/>
          </a:p>
        </p:txBody>
      </p:sp>
      <p:sp>
        <p:nvSpPr>
          <p:cNvPr id="16" name="Text 13"/>
          <p:cNvSpPr/>
          <p:nvPr/>
        </p:nvSpPr>
        <p:spPr>
          <a:xfrm>
            <a:off x="5477805" y="1499239"/>
            <a:ext cx="1548408" cy="101798"/>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完成研究、整理、录入、生成报告或更</a:t>
            </a:r>
            <a:endParaRPr lang="en-US" sz="650" dirty="0"/>
          </a:p>
        </p:txBody>
      </p:sp>
      <p:sp>
        <p:nvSpPr>
          <p:cNvPr id="17" name="Text 14"/>
          <p:cNvSpPr/>
          <p:nvPr/>
        </p:nvSpPr>
        <p:spPr>
          <a:xfrm>
            <a:off x="5477805" y="1632347"/>
            <a:ext cx="364331" cy="101798"/>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新文档。</a:t>
            </a:r>
            <a:endParaRPr lang="en-US" sz="650" dirty="0"/>
          </a:p>
        </p:txBody>
      </p:sp>
      <p:sp>
        <p:nvSpPr>
          <p:cNvPr id="18" name="Text 15"/>
          <p:cNvSpPr/>
          <p:nvPr/>
        </p:nvSpPr>
        <p:spPr>
          <a:xfrm>
            <a:off x="7160884" y="1249207"/>
            <a:ext cx="1554491" cy="176808"/>
          </a:xfrm>
          <a:prstGeom prst="rect">
            <a:avLst/>
          </a:prstGeom>
          <a:noFill/>
          <a:ln/>
        </p:spPr>
        <p:txBody>
          <a:bodyPr wrap="square" lIns="0" tIns="0" rIns="0" bIns="0" rtlCol="0" anchor="t">
            <a:spAutoFit/>
          </a:bodyPr>
          <a:lstStyle/>
          <a:p>
            <a:pPr algn="l" indent="0" marL="0">
              <a:buNone/>
            </a:pPr>
            <a:r>
              <a:rPr lang="en-US" sz="850" b="1" dirty="0">
                <a:solidFill>
                  <a:srgbClr val="1E63FF"/>
                </a:solidFill>
                <a:latin typeface="Inter Bold" pitchFamily="34" charset="0"/>
                <a:ea typeface="Inter Bold" pitchFamily="34" charset="-122"/>
                <a:cs typeface="Inter Bold" pitchFamily="34" charset="-120"/>
              </a:rPr>
              <a:t>人工复核</a:t>
            </a:r>
            <a:endParaRPr lang="en-US" sz="850" dirty="0"/>
          </a:p>
        </p:txBody>
      </p:sp>
      <p:sp>
        <p:nvSpPr>
          <p:cNvPr id="19" name="Text 16"/>
          <p:cNvSpPr/>
          <p:nvPr/>
        </p:nvSpPr>
        <p:spPr>
          <a:xfrm>
            <a:off x="7160884" y="1499239"/>
            <a:ext cx="1548408" cy="101798"/>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高风险提交、外发、交易或敏感操作需</a:t>
            </a:r>
            <a:endParaRPr lang="en-US" sz="650" dirty="0"/>
          </a:p>
        </p:txBody>
      </p:sp>
      <p:sp>
        <p:nvSpPr>
          <p:cNvPr id="20" name="Text 17"/>
          <p:cNvSpPr/>
          <p:nvPr/>
        </p:nvSpPr>
        <p:spPr>
          <a:xfrm>
            <a:off x="7160884" y="1632347"/>
            <a:ext cx="546497" cy="101798"/>
          </a:xfrm>
          <a:prstGeom prst="rect">
            <a:avLst/>
          </a:prstGeom>
          <a:noFill/>
          <a:ln/>
        </p:spPr>
        <p:txBody>
          <a:bodyPr wrap="none" lIns="0" tIns="0" rIns="0" bIns="0" rtlCol="0" anchor="t">
            <a:spAutoFit/>
          </a:bodyPr>
          <a:lstStyle/>
          <a:p>
            <a:pPr algn="l" indent="0" marL="0">
              <a:lnSpc>
                <a:spcPct val="102400"/>
              </a:lnSpc>
              <a:buNone/>
            </a:pPr>
            <a:r>
              <a:rPr lang="en-US" sz="650" dirty="0">
                <a:solidFill>
                  <a:srgbClr val="4B5F73"/>
                </a:solidFill>
                <a:latin typeface="Inter" pitchFamily="34" charset="0"/>
                <a:ea typeface="Inter" pitchFamily="34" charset="-122"/>
                <a:cs typeface="Inter" pitchFamily="34" charset="-120"/>
              </a:rPr>
              <a:t>要人工确认。</a:t>
            </a:r>
            <a:endParaRPr lang="en-US" sz="650" dirty="0"/>
          </a:p>
        </p:txBody>
      </p:sp>
      <p:sp>
        <p:nvSpPr>
          <p:cNvPr id="21" name="Text 18"/>
          <p:cNvSpPr/>
          <p:nvPr/>
        </p:nvSpPr>
        <p:spPr>
          <a:xfrm>
            <a:off x="428625" y="2192182"/>
            <a:ext cx="1071563" cy="200025"/>
          </a:xfrm>
          <a:prstGeom prst="rect">
            <a:avLst/>
          </a:prstGeom>
          <a:noFill/>
          <a:ln/>
        </p:spPr>
        <p:txBody>
          <a:bodyPr wrap="none" lIns="8509" tIns="8509" rIns="8509" bIns="8509" rtlCol="0" anchor="ctr">
            <a:spAutoFit/>
          </a:bodyPr>
          <a:lstStyle/>
          <a:p>
            <a:pPr algn="l" indent="0" marL="0">
              <a:buNone/>
            </a:pPr>
            <a:r>
              <a:rPr lang="en-US" sz="600" b="1" dirty="0">
                <a:solidFill>
                  <a:srgbClr val="0B8F5A"/>
                </a:solidFill>
                <a:latin typeface="Inter Bold" pitchFamily="34" charset="0"/>
                <a:ea typeface="Inter Bold" pitchFamily="34" charset="-122"/>
                <a:cs typeface="Inter Bold" pitchFamily="34" charset="-120"/>
              </a:rPr>
              <a:t>企业场景</a:t>
            </a:r>
            <a:endParaRPr lang="en-US" sz="600" dirty="0"/>
          </a:p>
        </p:txBody>
      </p:sp>
      <p:sp>
        <p:nvSpPr>
          <p:cNvPr id="22" name="Text 19"/>
          <p:cNvSpPr/>
          <p:nvPr/>
        </p:nvSpPr>
        <p:spPr>
          <a:xfrm>
            <a:off x="1500188" y="2192182"/>
            <a:ext cx="3977450" cy="200025"/>
          </a:xfrm>
          <a:prstGeom prst="rect">
            <a:avLst/>
          </a:prstGeom>
          <a:noFill/>
          <a:ln/>
        </p:spPr>
        <p:txBody>
          <a:bodyPr wrap="square" lIns="8509" tIns="8509" rIns="8509" bIns="8509" rtlCol="0" anchor="ctr">
            <a:spAutoFit/>
          </a:bodyPr>
          <a:lstStyle/>
          <a:p>
            <a:pPr algn="l" indent="0" marL="0">
              <a:buNone/>
            </a:pPr>
            <a:r>
              <a:rPr lang="en-US" sz="600" b="1" dirty="0">
                <a:solidFill>
                  <a:srgbClr val="0B8F5A"/>
                </a:solidFill>
                <a:latin typeface="Inter Bold" pitchFamily="34" charset="0"/>
                <a:ea typeface="Inter Bold" pitchFamily="34" charset="-122"/>
                <a:cs typeface="Inter Bold" pitchFamily="34" charset="-120"/>
              </a:rPr>
              <a:t>可能任务</a:t>
            </a:r>
            <a:endParaRPr lang="en-US" sz="600" dirty="0"/>
          </a:p>
        </p:txBody>
      </p:sp>
      <p:sp>
        <p:nvSpPr>
          <p:cNvPr id="23" name="Text 20"/>
          <p:cNvSpPr/>
          <p:nvPr/>
        </p:nvSpPr>
        <p:spPr>
          <a:xfrm>
            <a:off x="5477638" y="2192182"/>
            <a:ext cx="3237737" cy="200025"/>
          </a:xfrm>
          <a:prstGeom prst="rect">
            <a:avLst/>
          </a:prstGeom>
          <a:noFill/>
          <a:ln/>
        </p:spPr>
        <p:txBody>
          <a:bodyPr wrap="square" lIns="8509" tIns="8509" rIns="8509" bIns="8509" rtlCol="0" anchor="ctr">
            <a:spAutoFit/>
          </a:bodyPr>
          <a:lstStyle/>
          <a:p>
            <a:pPr algn="l" indent="0" marL="0">
              <a:buNone/>
            </a:pPr>
            <a:r>
              <a:rPr lang="en-US" sz="600" b="1" dirty="0">
                <a:solidFill>
                  <a:srgbClr val="0B8F5A"/>
                </a:solidFill>
                <a:latin typeface="Inter Bold" pitchFamily="34" charset="0"/>
                <a:ea typeface="Inter Bold" pitchFamily="34" charset="-122"/>
                <a:cs typeface="Inter Bold" pitchFamily="34" charset="-120"/>
              </a:rPr>
              <a:t>与供应链/运营关系</a:t>
            </a:r>
            <a:endParaRPr lang="en-US" sz="600" dirty="0"/>
          </a:p>
        </p:txBody>
      </p:sp>
      <p:sp>
        <p:nvSpPr>
          <p:cNvPr id="24" name="Text 21"/>
          <p:cNvSpPr/>
          <p:nvPr/>
        </p:nvSpPr>
        <p:spPr>
          <a:xfrm>
            <a:off x="428625" y="2392207"/>
            <a:ext cx="1071563" cy="321469"/>
          </a:xfrm>
          <a:prstGeom prst="rect">
            <a:avLst/>
          </a:prstGeom>
          <a:noFill/>
          <a:ln/>
        </p:spPr>
        <p:txBody>
          <a:bodyPr wrap="square" lIns="8509" tIns="59563" rIns="8509" bIns="8509" rtlCol="0" anchor="t">
            <a:spAutoFit/>
          </a:bodyPr>
          <a:lstStyle/>
          <a:p>
            <a:pPr algn="l" indent="0" marL="0">
              <a:lnSpc>
                <a:spcPct val="99200"/>
              </a:lnSpc>
              <a:buNone/>
            </a:pPr>
            <a:r>
              <a:rPr lang="en-US" sz="600" b="1" dirty="0">
                <a:solidFill>
                  <a:srgbClr val="102033"/>
                </a:solidFill>
                <a:latin typeface="Inter ExtraBold" pitchFamily="34" charset="0"/>
                <a:ea typeface="Inter ExtraBold" pitchFamily="34" charset="-122"/>
                <a:cs typeface="Inter ExtraBold" pitchFamily="34" charset="-120"/>
              </a:rPr>
              <a:t>市场与采购研究</a:t>
            </a:r>
            <a:endParaRPr lang="en-US" sz="600" dirty="0"/>
          </a:p>
        </p:txBody>
      </p:sp>
      <p:sp>
        <p:nvSpPr>
          <p:cNvPr id="25" name="Text 22"/>
          <p:cNvSpPr/>
          <p:nvPr/>
        </p:nvSpPr>
        <p:spPr>
          <a:xfrm>
            <a:off x="1500188" y="2392207"/>
            <a:ext cx="3977450" cy="321469"/>
          </a:xfrm>
          <a:prstGeom prst="rect">
            <a:avLst/>
          </a:prstGeom>
          <a:noFill/>
          <a:ln/>
        </p:spPr>
        <p:txBody>
          <a:bodyPr wrap="square" lIns="8509" tIns="59563" rIns="8509" bIns="8509" rtlCol="0" anchor="t">
            <a:spAutoFit/>
          </a:bodyPr>
          <a:lstStyle/>
          <a:p>
            <a:pPr algn="l" indent="0" marL="0">
              <a:lnSpc>
                <a:spcPct val="99200"/>
              </a:lnSpc>
              <a:buNone/>
            </a:pPr>
            <a:r>
              <a:rPr lang="en-US" sz="650" dirty="0">
                <a:solidFill>
                  <a:srgbClr val="4B5F73"/>
                </a:solidFill>
                <a:latin typeface="Inter" pitchFamily="34" charset="0"/>
                <a:ea typeface="Inter" pitchFamily="34" charset="-122"/>
                <a:cs typeface="Inter" pitchFamily="34" charset="-120"/>
              </a:rPr>
              <a:t>供应商资料汇总、竞品与价格信息整理、招标材料初稿。</a:t>
            </a:r>
            <a:endParaRPr lang="en-US" sz="650" dirty="0"/>
          </a:p>
        </p:txBody>
      </p:sp>
      <p:sp>
        <p:nvSpPr>
          <p:cNvPr id="26" name="Text 23"/>
          <p:cNvSpPr/>
          <p:nvPr/>
        </p:nvSpPr>
        <p:spPr>
          <a:xfrm>
            <a:off x="5477638" y="2392207"/>
            <a:ext cx="3237737" cy="321469"/>
          </a:xfrm>
          <a:prstGeom prst="rect">
            <a:avLst/>
          </a:prstGeom>
          <a:noFill/>
          <a:ln/>
        </p:spPr>
        <p:txBody>
          <a:bodyPr wrap="square" lIns="8509" tIns="59563" rIns="8509" bIns="8509" rtlCol="0" anchor="t">
            <a:spAutoFit/>
          </a:bodyPr>
          <a:lstStyle/>
          <a:p>
            <a:pPr algn="l" indent="0" marL="0">
              <a:lnSpc>
                <a:spcPct val="99200"/>
              </a:lnSpc>
              <a:buNone/>
            </a:pPr>
            <a:r>
              <a:rPr lang="en-US" sz="650" dirty="0">
                <a:solidFill>
                  <a:srgbClr val="4B5F73"/>
                </a:solidFill>
                <a:latin typeface="Inter" pitchFamily="34" charset="0"/>
                <a:ea typeface="Inter" pitchFamily="34" charset="-122"/>
                <a:cs typeface="Inter" pitchFamily="34" charset="-120"/>
              </a:rPr>
              <a:t>可支持采购前期 research，但需人工核验来源。</a:t>
            </a:r>
            <a:endParaRPr lang="en-US" sz="650" dirty="0"/>
          </a:p>
        </p:txBody>
      </p:sp>
      <p:sp>
        <p:nvSpPr>
          <p:cNvPr id="27" name="Text 24"/>
          <p:cNvSpPr/>
          <p:nvPr/>
        </p:nvSpPr>
        <p:spPr>
          <a:xfrm>
            <a:off x="428625" y="2713676"/>
            <a:ext cx="1071563" cy="321469"/>
          </a:xfrm>
          <a:prstGeom prst="rect">
            <a:avLst/>
          </a:prstGeom>
          <a:noFill/>
          <a:ln/>
        </p:spPr>
        <p:txBody>
          <a:bodyPr wrap="square" lIns="8509" tIns="59563" rIns="8509" bIns="8509" rtlCol="0" anchor="t">
            <a:spAutoFit/>
          </a:bodyPr>
          <a:lstStyle/>
          <a:p>
            <a:pPr algn="l" indent="0" marL="0">
              <a:lnSpc>
                <a:spcPct val="99200"/>
              </a:lnSpc>
              <a:buNone/>
            </a:pPr>
            <a:r>
              <a:rPr lang="en-US" sz="600" b="1" dirty="0">
                <a:solidFill>
                  <a:srgbClr val="102033"/>
                </a:solidFill>
                <a:latin typeface="Inter ExtraBold" pitchFamily="34" charset="0"/>
                <a:ea typeface="Inter ExtraBold" pitchFamily="34" charset="-122"/>
                <a:cs typeface="Inter ExtraBold" pitchFamily="34" charset="-120"/>
              </a:rPr>
              <a:t>运营后台</a:t>
            </a:r>
            <a:endParaRPr lang="en-US" sz="600" dirty="0"/>
          </a:p>
        </p:txBody>
      </p:sp>
      <p:sp>
        <p:nvSpPr>
          <p:cNvPr id="28" name="Text 25"/>
          <p:cNvSpPr/>
          <p:nvPr/>
        </p:nvSpPr>
        <p:spPr>
          <a:xfrm>
            <a:off x="1500188" y="2713676"/>
            <a:ext cx="3977450" cy="321469"/>
          </a:xfrm>
          <a:prstGeom prst="rect">
            <a:avLst/>
          </a:prstGeom>
          <a:noFill/>
          <a:ln/>
        </p:spPr>
        <p:txBody>
          <a:bodyPr wrap="square" lIns="8509" tIns="59563" rIns="8509" bIns="8509" rtlCol="0" anchor="t">
            <a:spAutoFit/>
          </a:bodyPr>
          <a:lstStyle/>
          <a:p>
            <a:pPr algn="l" indent="0" marL="0">
              <a:lnSpc>
                <a:spcPct val="99200"/>
              </a:lnSpc>
              <a:buNone/>
            </a:pPr>
            <a:r>
              <a:rPr lang="en-US" sz="650" dirty="0">
                <a:solidFill>
                  <a:srgbClr val="4B5F73"/>
                </a:solidFill>
                <a:latin typeface="Inter" pitchFamily="34" charset="0"/>
                <a:ea typeface="Inter" pitchFamily="34" charset="-122"/>
                <a:cs typeface="Inter" pitchFamily="34" charset="-120"/>
              </a:rPr>
              <a:t>跨表格、邮件、文档和系统的信息同步与异常说明。</a:t>
            </a:r>
            <a:endParaRPr lang="en-US" sz="650" dirty="0"/>
          </a:p>
        </p:txBody>
      </p:sp>
      <p:sp>
        <p:nvSpPr>
          <p:cNvPr id="29" name="Text 26"/>
          <p:cNvSpPr/>
          <p:nvPr/>
        </p:nvSpPr>
        <p:spPr>
          <a:xfrm>
            <a:off x="5477638" y="2713676"/>
            <a:ext cx="3237737" cy="321469"/>
          </a:xfrm>
          <a:prstGeom prst="rect">
            <a:avLst/>
          </a:prstGeom>
          <a:noFill/>
          <a:ln/>
        </p:spPr>
        <p:txBody>
          <a:bodyPr wrap="square" lIns="8509" tIns="59563" rIns="8509" bIns="8509" rtlCol="0" anchor="t">
            <a:spAutoFit/>
          </a:bodyPr>
          <a:lstStyle/>
          <a:p>
            <a:pPr algn="l" indent="0" marL="0">
              <a:lnSpc>
                <a:spcPct val="99200"/>
              </a:lnSpc>
              <a:buNone/>
            </a:pPr>
            <a:r>
              <a:rPr lang="en-US" sz="650" dirty="0">
                <a:solidFill>
                  <a:srgbClr val="4B5F73"/>
                </a:solidFill>
                <a:latin typeface="Inter" pitchFamily="34" charset="0"/>
                <a:ea typeface="Inter" pitchFamily="34" charset="-122"/>
                <a:cs typeface="Inter" pitchFamily="34" charset="-120"/>
              </a:rPr>
              <a:t>适合流程碎片多、结构化不足的运营工作。</a:t>
            </a:r>
            <a:endParaRPr lang="en-US" sz="650" dirty="0"/>
          </a:p>
        </p:txBody>
      </p:sp>
      <p:sp>
        <p:nvSpPr>
          <p:cNvPr id="30" name="Text 27"/>
          <p:cNvSpPr/>
          <p:nvPr/>
        </p:nvSpPr>
        <p:spPr>
          <a:xfrm>
            <a:off x="428625" y="3035145"/>
            <a:ext cx="1071563" cy="321469"/>
          </a:xfrm>
          <a:prstGeom prst="rect">
            <a:avLst/>
          </a:prstGeom>
          <a:noFill/>
          <a:ln/>
        </p:spPr>
        <p:txBody>
          <a:bodyPr wrap="square" lIns="8509" tIns="59563" rIns="8509" bIns="8509" rtlCol="0" anchor="t">
            <a:spAutoFit/>
          </a:bodyPr>
          <a:lstStyle/>
          <a:p>
            <a:pPr algn="l" indent="0" marL="0">
              <a:lnSpc>
                <a:spcPct val="99200"/>
              </a:lnSpc>
              <a:buNone/>
            </a:pPr>
            <a:r>
              <a:rPr lang="en-US" sz="600" b="1" dirty="0">
                <a:solidFill>
                  <a:srgbClr val="102033"/>
                </a:solidFill>
                <a:latin typeface="Inter ExtraBold" pitchFamily="34" charset="0"/>
                <a:ea typeface="Inter ExtraBold" pitchFamily="34" charset="-122"/>
                <a:cs typeface="Inter ExtraBold" pitchFamily="34" charset="-120"/>
              </a:rPr>
              <a:t>客户支持</a:t>
            </a:r>
            <a:endParaRPr lang="en-US" sz="600" dirty="0"/>
          </a:p>
        </p:txBody>
      </p:sp>
      <p:sp>
        <p:nvSpPr>
          <p:cNvPr id="31" name="Text 28"/>
          <p:cNvSpPr/>
          <p:nvPr/>
        </p:nvSpPr>
        <p:spPr>
          <a:xfrm>
            <a:off x="1500188" y="3035145"/>
            <a:ext cx="3977450" cy="321469"/>
          </a:xfrm>
          <a:prstGeom prst="rect">
            <a:avLst/>
          </a:prstGeom>
          <a:noFill/>
          <a:ln/>
        </p:spPr>
        <p:txBody>
          <a:bodyPr wrap="square" lIns="8509" tIns="59563" rIns="8509" bIns="8509" rtlCol="0" anchor="t">
            <a:spAutoFit/>
          </a:bodyPr>
          <a:lstStyle/>
          <a:p>
            <a:pPr algn="l" indent="0" marL="0">
              <a:lnSpc>
                <a:spcPct val="99200"/>
              </a:lnSpc>
              <a:buNone/>
            </a:pPr>
            <a:r>
              <a:rPr lang="en-US" sz="650" dirty="0">
                <a:solidFill>
                  <a:srgbClr val="4B5F73"/>
                </a:solidFill>
                <a:latin typeface="Inter" pitchFamily="34" charset="0"/>
                <a:ea typeface="Inter" pitchFamily="34" charset="-122"/>
                <a:cs typeface="Inter" pitchFamily="34" charset="-120"/>
              </a:rPr>
              <a:t>基于知识库和工单内容生成回复、总结问题和建议下一步。</a:t>
            </a:r>
            <a:endParaRPr lang="en-US" sz="650" dirty="0"/>
          </a:p>
        </p:txBody>
      </p:sp>
      <p:sp>
        <p:nvSpPr>
          <p:cNvPr id="32" name="Text 29"/>
          <p:cNvSpPr/>
          <p:nvPr/>
        </p:nvSpPr>
        <p:spPr>
          <a:xfrm>
            <a:off x="5477638" y="3035145"/>
            <a:ext cx="3237737" cy="321469"/>
          </a:xfrm>
          <a:prstGeom prst="rect">
            <a:avLst/>
          </a:prstGeom>
          <a:noFill/>
          <a:ln/>
        </p:spPr>
        <p:txBody>
          <a:bodyPr wrap="square" lIns="8509" tIns="59563" rIns="8509" bIns="8509" rtlCol="0" anchor="t">
            <a:spAutoFit/>
          </a:bodyPr>
          <a:lstStyle/>
          <a:p>
            <a:pPr algn="l" indent="0" marL="0">
              <a:lnSpc>
                <a:spcPct val="99200"/>
              </a:lnSpc>
              <a:buNone/>
            </a:pPr>
            <a:r>
              <a:rPr lang="en-US" sz="650" dirty="0">
                <a:solidFill>
                  <a:srgbClr val="4B5F73"/>
                </a:solidFill>
                <a:latin typeface="Inter" pitchFamily="34" charset="0"/>
                <a:ea typeface="Inter" pitchFamily="34" charset="-122"/>
                <a:cs typeface="Inter" pitchFamily="34" charset="-120"/>
              </a:rPr>
              <a:t>可用于物流、制造售后和 B2B 客服场景。</a:t>
            </a:r>
            <a:endParaRPr lang="en-US" sz="650" dirty="0"/>
          </a:p>
        </p:txBody>
      </p:sp>
      <p:sp>
        <p:nvSpPr>
          <p:cNvPr id="33" name="Text 30"/>
          <p:cNvSpPr/>
          <p:nvPr/>
        </p:nvSpPr>
        <p:spPr>
          <a:xfrm>
            <a:off x="428625" y="3356614"/>
            <a:ext cx="1071563" cy="321469"/>
          </a:xfrm>
          <a:prstGeom prst="rect">
            <a:avLst/>
          </a:prstGeom>
          <a:noFill/>
          <a:ln/>
        </p:spPr>
        <p:txBody>
          <a:bodyPr wrap="square" lIns="8509" tIns="59563" rIns="8509" bIns="8509" rtlCol="0" anchor="t">
            <a:spAutoFit/>
          </a:bodyPr>
          <a:lstStyle/>
          <a:p>
            <a:pPr algn="l" indent="0" marL="0">
              <a:lnSpc>
                <a:spcPct val="99200"/>
              </a:lnSpc>
              <a:buNone/>
            </a:pPr>
            <a:r>
              <a:rPr lang="en-US" sz="600" b="1" dirty="0">
                <a:solidFill>
                  <a:srgbClr val="102033"/>
                </a:solidFill>
                <a:latin typeface="Inter ExtraBold" pitchFamily="34" charset="0"/>
                <a:ea typeface="Inter ExtraBold" pitchFamily="34" charset="-122"/>
                <a:cs typeface="Inter ExtraBold" pitchFamily="34" charset="-120"/>
              </a:rPr>
              <a:t>合规与文档</a:t>
            </a:r>
            <a:endParaRPr lang="en-US" sz="600" dirty="0"/>
          </a:p>
        </p:txBody>
      </p:sp>
      <p:sp>
        <p:nvSpPr>
          <p:cNvPr id="34" name="Text 31"/>
          <p:cNvSpPr/>
          <p:nvPr/>
        </p:nvSpPr>
        <p:spPr>
          <a:xfrm>
            <a:off x="1500188" y="3356614"/>
            <a:ext cx="3977450" cy="321469"/>
          </a:xfrm>
          <a:prstGeom prst="rect">
            <a:avLst/>
          </a:prstGeom>
          <a:noFill/>
          <a:ln/>
        </p:spPr>
        <p:txBody>
          <a:bodyPr wrap="square" lIns="8509" tIns="59563" rIns="8509" bIns="8509" rtlCol="0" anchor="t">
            <a:spAutoFit/>
          </a:bodyPr>
          <a:lstStyle/>
          <a:p>
            <a:pPr algn="l" indent="0" marL="0">
              <a:lnSpc>
                <a:spcPct val="99200"/>
              </a:lnSpc>
              <a:buNone/>
            </a:pPr>
            <a:r>
              <a:rPr lang="en-US" sz="650" dirty="0">
                <a:solidFill>
                  <a:srgbClr val="4B5F73"/>
                </a:solidFill>
                <a:latin typeface="Inter" pitchFamily="34" charset="0"/>
                <a:ea typeface="Inter" pitchFamily="34" charset="-122"/>
                <a:cs typeface="Inter" pitchFamily="34" charset="-120"/>
              </a:rPr>
              <a:t>政策比对、合同摘要、审查清单和证据包整理。</a:t>
            </a:r>
            <a:endParaRPr lang="en-US" sz="650" dirty="0"/>
          </a:p>
        </p:txBody>
      </p:sp>
      <p:sp>
        <p:nvSpPr>
          <p:cNvPr id="35" name="Text 32"/>
          <p:cNvSpPr/>
          <p:nvPr/>
        </p:nvSpPr>
        <p:spPr>
          <a:xfrm>
            <a:off x="5477638" y="3356614"/>
            <a:ext cx="3237737" cy="321469"/>
          </a:xfrm>
          <a:prstGeom prst="rect">
            <a:avLst/>
          </a:prstGeom>
          <a:noFill/>
          <a:ln/>
        </p:spPr>
        <p:txBody>
          <a:bodyPr wrap="square" lIns="8509" tIns="59563" rIns="8509" bIns="8509" rtlCol="0" anchor="t">
            <a:spAutoFit/>
          </a:bodyPr>
          <a:lstStyle/>
          <a:p>
            <a:pPr algn="l" indent="0" marL="0">
              <a:lnSpc>
                <a:spcPct val="99200"/>
              </a:lnSpc>
              <a:buNone/>
            </a:pPr>
            <a:r>
              <a:rPr lang="en-US" sz="650" dirty="0">
                <a:solidFill>
                  <a:srgbClr val="4B5F73"/>
                </a:solidFill>
                <a:latin typeface="Inter" pitchFamily="34" charset="0"/>
                <a:ea typeface="Inter" pitchFamily="34" charset="-122"/>
                <a:cs typeface="Inter" pitchFamily="34" charset="-120"/>
              </a:rPr>
              <a:t>供应商合规、审计准备和质量体系可借鉴。</a:t>
            </a:r>
            <a:endParaRPr lang="en-US" sz="650" dirty="0"/>
          </a:p>
        </p:txBody>
      </p:sp>
      <p:sp>
        <p:nvSpPr>
          <p:cNvPr id="36" name="Text 33"/>
          <p:cNvSpPr/>
          <p:nvPr/>
        </p:nvSpPr>
        <p:spPr>
          <a:xfrm>
            <a:off x="428625" y="3767379"/>
            <a:ext cx="8286750" cy="133722"/>
          </a:xfrm>
          <a:prstGeom prst="rect">
            <a:avLst/>
          </a:prstGeom>
          <a:noFill/>
          <a:ln/>
        </p:spPr>
        <p:txBody>
          <a:bodyPr wrap="none" lIns="0" tIns="42545" rIns="0" bIns="0" rtlCol="0" anchor="t">
            <a:spAutoFit/>
          </a:bodyPr>
          <a:lstStyle/>
          <a:p>
            <a:pPr algn="l" indent="0" marL="0">
              <a:lnSpc>
                <a:spcPct val="96000"/>
              </a:lnSpc>
              <a:buNone/>
            </a:pPr>
            <a:r>
              <a:rPr lang="en-US" sz="550" dirty="0">
                <a:solidFill>
                  <a:srgbClr val="6B7A8A"/>
                </a:solidFill>
                <a:latin typeface="Inter" pitchFamily="34" charset="0"/>
                <a:ea typeface="Inter" pitchFamily="34" charset="-122"/>
                <a:cs typeface="Inter" pitchFamily="34" charset="-120"/>
              </a:rPr>
              <a:t>来源：Claude Cowork official page；Claude product and connectors pages。具体行业实施需结合企业系统权限与人工复核机制。</a:t>
            </a:r>
            <a:endParaRPr lang="en-US" sz="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328613"/>
            <a:ext cx="8286750" cy="98227"/>
          </a:xfrm>
          <a:prstGeom prst="rect">
            <a:avLst/>
          </a:prstGeom>
          <a:noFill/>
          <a:ln/>
        </p:spPr>
        <p:txBody>
          <a:bodyPr wrap="square" lIns="0" tIns="0" rIns="0" bIns="0" rtlCol="0" anchor="t">
            <a:spAutoFit/>
          </a:bodyPr>
          <a:lstStyle/>
          <a:p>
            <a:pPr algn="l" indent="0" marL="0">
              <a:buNone/>
            </a:pPr>
            <a:r>
              <a:rPr lang="en-US" sz="600" b="1" spc="2" kern="0" dirty="0">
                <a:solidFill>
                  <a:srgbClr val="0B8F5A"/>
                </a:solidFill>
                <a:latin typeface="Inter ExtraBold" pitchFamily="34" charset="0"/>
                <a:ea typeface="Inter ExtraBold" pitchFamily="34" charset="-122"/>
                <a:cs typeface="Inter ExtraBold" pitchFamily="34" charset="-120"/>
              </a:rPr>
              <a:t>CONTEXT ECOSYSTEM</a:t>
            </a:r>
            <a:endParaRPr lang="en-US" sz="600" dirty="0"/>
          </a:p>
        </p:txBody>
      </p:sp>
      <p:sp>
        <p:nvSpPr>
          <p:cNvPr id="4" name="Text 1"/>
          <p:cNvSpPr/>
          <p:nvPr/>
        </p:nvSpPr>
        <p:spPr>
          <a:xfrm>
            <a:off x="428625" y="498277"/>
            <a:ext cx="8286750" cy="275034"/>
          </a:xfrm>
          <a:prstGeom prst="rect">
            <a:avLst/>
          </a:prstGeom>
          <a:noFill/>
          <a:ln/>
        </p:spPr>
        <p:txBody>
          <a:bodyPr wrap="none" lIns="0" tIns="0" rIns="0" bIns="0" rtlCol="0" anchor="t">
            <a:spAutoFit/>
          </a:bodyPr>
          <a:lstStyle/>
          <a:p>
            <a:pPr algn="l" indent="0" marL="0">
              <a:lnSpc>
                <a:spcPct val="88000"/>
              </a:lnSpc>
              <a:buNone/>
            </a:pPr>
            <a:r>
              <a:rPr lang="en-US" sz="1750" b="1" dirty="0">
                <a:solidFill>
                  <a:srgbClr val="102033"/>
                </a:solidFill>
                <a:latin typeface="Inter Bold" pitchFamily="34" charset="0"/>
                <a:ea typeface="Inter Bold" pitchFamily="34" charset="-122"/>
                <a:cs typeface="Inter Bold" pitchFamily="34" charset="-120"/>
              </a:rPr>
              <a:t>Connectors、Skills、Plugins 构成企业上下文层</a:t>
            </a:r>
            <a:endParaRPr lang="en-US" sz="1750" dirty="0"/>
          </a:p>
        </p:txBody>
      </p:sp>
      <p:sp>
        <p:nvSpPr>
          <p:cNvPr id="5" name="Text 2"/>
          <p:cNvSpPr/>
          <p:nvPr/>
        </p:nvSpPr>
        <p:spPr>
          <a:xfrm>
            <a:off x="428625" y="844748"/>
            <a:ext cx="7715250" cy="152140"/>
          </a:xfrm>
          <a:prstGeom prst="rect">
            <a:avLst/>
          </a:prstGeom>
          <a:noFill/>
          <a:ln/>
        </p:spPr>
        <p:txBody>
          <a:bodyPr wrap="none" lIns="0" tIns="0" rIns="0" bIns="0" rtlCol="0" anchor="t">
            <a:spAutoFit/>
          </a:bodyPr>
          <a:lstStyle/>
          <a:p>
            <a:pPr algn="l" indent="0" marL="0">
              <a:lnSpc>
                <a:spcPct val="113600"/>
              </a:lnSpc>
              <a:buNone/>
            </a:pPr>
            <a:r>
              <a:rPr lang="en-US" sz="800" dirty="0">
                <a:solidFill>
                  <a:srgbClr val="4B5F73"/>
                </a:solidFill>
                <a:latin typeface="Inter" pitchFamily="34" charset="0"/>
                <a:ea typeface="Inter" pitchFamily="34" charset="-122"/>
                <a:cs typeface="Inter" pitchFamily="34" charset="-120"/>
              </a:rPr>
              <a:t>企业 AI 的瓶颈通常不是模型是否会写答案，而是模型能否安全获得正确上下文、遵循部门 SOP，并把结果接回业务系统。</a:t>
            </a:r>
            <a:endParaRPr lang="en-US" sz="800" dirty="0"/>
          </a:p>
        </p:txBody>
      </p:sp>
      <p:sp>
        <p:nvSpPr>
          <p:cNvPr id="6" name="Text 3"/>
          <p:cNvSpPr/>
          <p:nvPr/>
        </p:nvSpPr>
        <p:spPr>
          <a:xfrm>
            <a:off x="428625" y="1382650"/>
            <a:ext cx="3000375" cy="146447"/>
          </a:xfrm>
          <a:prstGeom prst="rect">
            <a:avLst/>
          </a:prstGeom>
          <a:noFill/>
          <a:ln/>
        </p:spPr>
        <p:txBody>
          <a:bodyPr wrap="square" lIns="0" tIns="0" rIns="0" bIns="0" rtlCol="0" anchor="t">
            <a:spAutoFit/>
          </a:bodyPr>
          <a:lstStyle/>
          <a:p>
            <a:pPr algn="l" indent="0" marL="0">
              <a:buNone/>
            </a:pPr>
            <a:r>
              <a:rPr lang="en-US" sz="900" b="1" dirty="0">
                <a:solidFill>
                  <a:srgbClr val="1E63FF"/>
                </a:solidFill>
                <a:latin typeface="Inter Bold" pitchFamily="34" charset="0"/>
                <a:ea typeface="Inter Bold" pitchFamily="34" charset="-122"/>
                <a:cs typeface="Inter Bold" pitchFamily="34" charset="-120"/>
              </a:rPr>
              <a:t>MCP Connectors</a:t>
            </a:r>
            <a:endParaRPr lang="en-US" sz="900" dirty="0"/>
          </a:p>
        </p:txBody>
      </p:sp>
      <p:sp>
        <p:nvSpPr>
          <p:cNvPr id="7" name="Text 4"/>
          <p:cNvSpPr/>
          <p:nvPr/>
        </p:nvSpPr>
        <p:spPr>
          <a:xfrm>
            <a:off x="428625" y="1593391"/>
            <a:ext cx="2898465" cy="105370"/>
          </a:xfrm>
          <a:prstGeom prst="rect">
            <a:avLst/>
          </a:prstGeom>
          <a:noFill/>
          <a:ln/>
        </p:spPr>
        <p:txBody>
          <a:bodyPr wrap="none" lIns="0" tIns="0" rIns="0" bIns="0" rtlCol="0" anchor="t">
            <a:spAutoFit/>
          </a:bodyPr>
          <a:lstStyle/>
          <a:p>
            <a:pPr algn="l" indent="0" marL="0">
              <a:lnSpc>
                <a:spcPct val="105600"/>
              </a:lnSpc>
              <a:buNone/>
            </a:pPr>
            <a:r>
              <a:rPr lang="en-US" sz="700" dirty="0">
                <a:solidFill>
                  <a:srgbClr val="4B5F73"/>
                </a:solidFill>
                <a:latin typeface="Inter" pitchFamily="34" charset="0"/>
                <a:ea typeface="Inter" pitchFamily="34" charset="-122"/>
                <a:cs typeface="Inter" pitchFamily="34" charset="-120"/>
              </a:rPr>
              <a:t>通过 Model Context Protocol 把数据库、业务系统、开发工具和 SaaS</a:t>
            </a:r>
            <a:endParaRPr lang="en-US" sz="700" dirty="0"/>
          </a:p>
        </p:txBody>
      </p:sp>
      <p:sp>
        <p:nvSpPr>
          <p:cNvPr id="8" name="Text 5"/>
          <p:cNvSpPr/>
          <p:nvPr/>
        </p:nvSpPr>
        <p:spPr>
          <a:xfrm>
            <a:off x="428625" y="1730350"/>
            <a:ext cx="608977" cy="105370"/>
          </a:xfrm>
          <a:prstGeom prst="rect">
            <a:avLst/>
          </a:prstGeom>
          <a:noFill/>
          <a:ln/>
        </p:spPr>
        <p:txBody>
          <a:bodyPr wrap="none" lIns="0" tIns="0" rIns="0" bIns="0" rtlCol="0" anchor="t">
            <a:spAutoFit/>
          </a:bodyPr>
          <a:lstStyle/>
          <a:p>
            <a:pPr algn="l" indent="0" marL="0">
              <a:lnSpc>
                <a:spcPct val="105600"/>
              </a:lnSpc>
              <a:buNone/>
            </a:pPr>
            <a:r>
              <a:rPr lang="en-US" sz="700" dirty="0">
                <a:solidFill>
                  <a:srgbClr val="4B5F73"/>
                </a:solidFill>
                <a:latin typeface="Inter" pitchFamily="34" charset="0"/>
                <a:ea typeface="Inter" pitchFamily="34" charset="-122"/>
                <a:cs typeface="Inter" pitchFamily="34" charset="-120"/>
              </a:rPr>
              <a:t>接入 Claude。</a:t>
            </a:r>
            <a:endParaRPr lang="en-US" sz="700" dirty="0"/>
          </a:p>
        </p:txBody>
      </p:sp>
      <p:sp>
        <p:nvSpPr>
          <p:cNvPr id="9" name="Text 6"/>
          <p:cNvSpPr/>
          <p:nvPr/>
        </p:nvSpPr>
        <p:spPr>
          <a:xfrm>
            <a:off x="428625" y="2239900"/>
            <a:ext cx="3000375" cy="146447"/>
          </a:xfrm>
          <a:prstGeom prst="rect">
            <a:avLst/>
          </a:prstGeom>
          <a:noFill/>
          <a:ln/>
        </p:spPr>
        <p:txBody>
          <a:bodyPr wrap="square" lIns="0" tIns="0" rIns="0" bIns="0" rtlCol="0" anchor="t">
            <a:spAutoFit/>
          </a:bodyPr>
          <a:lstStyle/>
          <a:p>
            <a:pPr algn="l" indent="0" marL="0">
              <a:buNone/>
            </a:pPr>
            <a:r>
              <a:rPr lang="en-US" sz="900" b="1" dirty="0">
                <a:solidFill>
                  <a:srgbClr val="1E63FF"/>
                </a:solidFill>
                <a:latin typeface="Inter Bold" pitchFamily="34" charset="0"/>
                <a:ea typeface="Inter Bold" pitchFamily="34" charset="-122"/>
                <a:cs typeface="Inter Bold" pitchFamily="34" charset="-120"/>
              </a:rPr>
              <a:t>Slack / M365 / Chrome</a:t>
            </a:r>
            <a:endParaRPr lang="en-US" sz="900" dirty="0"/>
          </a:p>
        </p:txBody>
      </p:sp>
      <p:sp>
        <p:nvSpPr>
          <p:cNvPr id="10" name="Text 7"/>
          <p:cNvSpPr/>
          <p:nvPr/>
        </p:nvSpPr>
        <p:spPr>
          <a:xfrm>
            <a:off x="428625" y="2450641"/>
            <a:ext cx="2461022" cy="105370"/>
          </a:xfrm>
          <a:prstGeom prst="rect">
            <a:avLst/>
          </a:prstGeom>
          <a:noFill/>
          <a:ln/>
        </p:spPr>
        <p:txBody>
          <a:bodyPr wrap="none" lIns="0" tIns="0" rIns="0" bIns="0" rtlCol="0" anchor="t">
            <a:spAutoFit/>
          </a:bodyPr>
          <a:lstStyle/>
          <a:p>
            <a:pPr algn="l" indent="0" marL="0">
              <a:lnSpc>
                <a:spcPct val="105600"/>
              </a:lnSpc>
              <a:buNone/>
            </a:pPr>
            <a:r>
              <a:rPr lang="en-US" sz="700" dirty="0">
                <a:solidFill>
                  <a:srgbClr val="4B5F73"/>
                </a:solidFill>
                <a:latin typeface="Inter" pitchFamily="34" charset="0"/>
                <a:ea typeface="Inter" pitchFamily="34" charset="-122"/>
                <a:cs typeface="Inter" pitchFamily="34" charset="-120"/>
              </a:rPr>
              <a:t>把协作信息、邮件、日历、文档和浏览器任务纳入工作流。</a:t>
            </a:r>
            <a:endParaRPr lang="en-US" sz="700" dirty="0"/>
          </a:p>
        </p:txBody>
      </p:sp>
      <p:sp>
        <p:nvSpPr>
          <p:cNvPr id="11" name="Text 8"/>
          <p:cNvSpPr/>
          <p:nvPr/>
        </p:nvSpPr>
        <p:spPr>
          <a:xfrm>
            <a:off x="428625" y="3097150"/>
            <a:ext cx="3000375" cy="146447"/>
          </a:xfrm>
          <a:prstGeom prst="rect">
            <a:avLst/>
          </a:prstGeom>
          <a:noFill/>
          <a:ln/>
        </p:spPr>
        <p:txBody>
          <a:bodyPr wrap="square" lIns="0" tIns="0" rIns="0" bIns="0" rtlCol="0" anchor="t">
            <a:spAutoFit/>
          </a:bodyPr>
          <a:lstStyle/>
          <a:p>
            <a:pPr algn="l" indent="0" marL="0">
              <a:buNone/>
            </a:pPr>
            <a:r>
              <a:rPr lang="en-US" sz="900" b="1" dirty="0">
                <a:solidFill>
                  <a:srgbClr val="1E63FF"/>
                </a:solidFill>
                <a:latin typeface="Inter Bold" pitchFamily="34" charset="0"/>
                <a:ea typeface="Inter Bold" pitchFamily="34" charset="-122"/>
                <a:cs typeface="Inter Bold" pitchFamily="34" charset="-120"/>
              </a:rPr>
              <a:t>Files / Projects</a:t>
            </a:r>
            <a:endParaRPr lang="en-US" sz="900" dirty="0"/>
          </a:p>
        </p:txBody>
      </p:sp>
      <p:sp>
        <p:nvSpPr>
          <p:cNvPr id="12" name="Text 9"/>
          <p:cNvSpPr/>
          <p:nvPr/>
        </p:nvSpPr>
        <p:spPr>
          <a:xfrm>
            <a:off x="428625" y="3307891"/>
            <a:ext cx="2082403" cy="105370"/>
          </a:xfrm>
          <a:prstGeom prst="rect">
            <a:avLst/>
          </a:prstGeom>
          <a:noFill/>
          <a:ln/>
        </p:spPr>
        <p:txBody>
          <a:bodyPr wrap="none" lIns="0" tIns="0" rIns="0" bIns="0" rtlCol="0" anchor="t">
            <a:spAutoFit/>
          </a:bodyPr>
          <a:lstStyle/>
          <a:p>
            <a:pPr algn="l" indent="0" marL="0">
              <a:lnSpc>
                <a:spcPct val="105600"/>
              </a:lnSpc>
              <a:buNone/>
            </a:pPr>
            <a:r>
              <a:rPr lang="en-US" sz="700" dirty="0">
                <a:solidFill>
                  <a:srgbClr val="4B5F73"/>
                </a:solidFill>
                <a:latin typeface="Inter" pitchFamily="34" charset="0"/>
                <a:ea typeface="Inter" pitchFamily="34" charset="-122"/>
                <a:cs typeface="Inter" pitchFamily="34" charset="-120"/>
              </a:rPr>
              <a:t>组织长期资料、项目文档、政策、合同和知识库。</a:t>
            </a:r>
            <a:endParaRPr lang="en-US" sz="700" dirty="0"/>
          </a:p>
        </p:txBody>
      </p:sp>
      <p:sp>
        <p:nvSpPr>
          <p:cNvPr id="13" name="Text 10"/>
          <p:cNvSpPr/>
          <p:nvPr/>
        </p:nvSpPr>
        <p:spPr>
          <a:xfrm>
            <a:off x="3643313" y="1839850"/>
            <a:ext cx="1857375" cy="262533"/>
          </a:xfrm>
          <a:prstGeom prst="rect">
            <a:avLst/>
          </a:prstGeom>
          <a:noFill/>
          <a:ln/>
        </p:spPr>
        <p:txBody>
          <a:bodyPr wrap="square" lIns="0" tIns="0" rIns="0" bIns="0" rtlCol="0" anchor="t">
            <a:spAutoFit/>
          </a:bodyPr>
          <a:lstStyle/>
          <a:p>
            <a:pPr algn="ctr" indent="0" marL="0">
              <a:buNone/>
            </a:pPr>
            <a:r>
              <a:rPr lang="en-US" sz="1600" b="1" dirty="0">
                <a:solidFill>
                  <a:srgbClr val="102033"/>
                </a:solidFill>
                <a:latin typeface="Inter Bold" pitchFamily="34" charset="0"/>
                <a:ea typeface="Inter Bold" pitchFamily="34" charset="-122"/>
                <a:cs typeface="Inter Bold" pitchFamily="34" charset="-120"/>
              </a:rPr>
              <a:t>Claude</a:t>
            </a:r>
            <a:endParaRPr lang="en-US" sz="1600" dirty="0"/>
          </a:p>
        </p:txBody>
      </p:sp>
      <p:sp>
        <p:nvSpPr>
          <p:cNvPr id="14" name="Text 11"/>
          <p:cNvSpPr/>
          <p:nvPr/>
        </p:nvSpPr>
        <p:spPr>
          <a:xfrm>
            <a:off x="3643313" y="2188108"/>
            <a:ext cx="1857375" cy="560003"/>
          </a:xfrm>
          <a:prstGeom prst="rect">
            <a:avLst/>
          </a:prstGeom>
          <a:noFill/>
          <a:ln/>
        </p:spPr>
        <p:txBody>
          <a:bodyPr wrap="square" lIns="0" tIns="0" rIns="0" bIns="0" rtlCol="0" anchor="t">
            <a:spAutoFit/>
          </a:bodyPr>
          <a:lstStyle/>
          <a:p>
            <a:pPr algn="ctr" indent="0" marL="0">
              <a:lnSpc>
                <a:spcPct val="112000"/>
              </a:lnSpc>
              <a:buNone/>
            </a:pPr>
            <a:r>
              <a:rPr lang="en-US" sz="750" dirty="0">
                <a:solidFill>
                  <a:srgbClr val="4B5F73"/>
                </a:solidFill>
                <a:latin typeface="Inter" pitchFamily="34" charset="0"/>
                <a:ea typeface="Inter" pitchFamily="34" charset="-122"/>
                <a:cs typeface="Inter" pitchFamily="34" charset="-120"/>
              </a:rPr>
              <a:t>模型推理</a:t>
            </a:r>
            <a:r>
              <a:rPr lang="en-US" sz="750" dirty="0">
                <a:solidFill>
                  <a:srgbClr val="4B5F73"/>
                </a:solidFill>
                <a:latin typeface="Inter" pitchFamily="34" charset="0"/>
                <a:ea typeface="Inter" pitchFamily="34" charset="-122"/>
                <a:cs typeface="Inter" pitchFamily="34" charset="-120"/>
              </a:rPr>
              <a:t>
</a:t>
            </a:r>
            <a:r>
              <a:rPr lang="en-US" sz="750" dirty="0">
                <a:solidFill>
                  <a:srgbClr val="4B5F73"/>
                </a:solidFill>
                <a:latin typeface="Inter" pitchFamily="34" charset="0"/>
                <a:ea typeface="Inter" pitchFamily="34" charset="-122"/>
                <a:cs typeface="Inter" pitchFamily="34" charset="-120"/>
              </a:rPr>
              <a:t>工具调用</a:t>
            </a:r>
            <a:r>
              <a:rPr lang="en-US" sz="750" dirty="0">
                <a:solidFill>
                  <a:srgbClr val="4B5F73"/>
                </a:solidFill>
                <a:latin typeface="Inter" pitchFamily="34" charset="0"/>
                <a:ea typeface="Inter" pitchFamily="34" charset="-122"/>
                <a:cs typeface="Inter" pitchFamily="34" charset="-120"/>
              </a:rPr>
              <a:t>
</a:t>
            </a:r>
            <a:r>
              <a:rPr lang="en-US" sz="750" dirty="0">
                <a:solidFill>
                  <a:srgbClr val="4B5F73"/>
                </a:solidFill>
                <a:latin typeface="Inter" pitchFamily="34" charset="0"/>
                <a:ea typeface="Inter" pitchFamily="34" charset="-122"/>
                <a:cs typeface="Inter" pitchFamily="34" charset="-120"/>
              </a:rPr>
              <a:t>任务规划</a:t>
            </a:r>
            <a:r>
              <a:rPr lang="en-US" sz="750" dirty="0">
                <a:solidFill>
                  <a:srgbClr val="4B5F73"/>
                </a:solidFill>
                <a:latin typeface="Inter" pitchFamily="34" charset="0"/>
                <a:ea typeface="Inter" pitchFamily="34" charset="-122"/>
                <a:cs typeface="Inter" pitchFamily="34" charset="-120"/>
              </a:rPr>
              <a:t>
</a:t>
            </a:r>
            <a:r>
              <a:rPr lang="en-US" sz="750" dirty="0">
                <a:solidFill>
                  <a:srgbClr val="4B5F73"/>
                </a:solidFill>
                <a:latin typeface="Inter" pitchFamily="34" charset="0"/>
                <a:ea typeface="Inter" pitchFamily="34" charset="-122"/>
                <a:cs typeface="Inter" pitchFamily="34" charset="-120"/>
              </a:rPr>
              <a:t>上下文整合</a:t>
            </a:r>
            <a:endParaRPr lang="en-US" sz="750" dirty="0"/>
          </a:p>
        </p:txBody>
      </p:sp>
      <p:sp>
        <p:nvSpPr>
          <p:cNvPr id="15" name="Text 12"/>
          <p:cNvSpPr/>
          <p:nvPr/>
        </p:nvSpPr>
        <p:spPr>
          <a:xfrm>
            <a:off x="5715000" y="1382650"/>
            <a:ext cx="3000375" cy="146447"/>
          </a:xfrm>
          <a:prstGeom prst="rect">
            <a:avLst/>
          </a:prstGeom>
          <a:noFill/>
          <a:ln/>
        </p:spPr>
        <p:txBody>
          <a:bodyPr wrap="square" lIns="0" tIns="0" rIns="0" bIns="0" rtlCol="0" anchor="t">
            <a:spAutoFit/>
          </a:bodyPr>
          <a:lstStyle/>
          <a:p>
            <a:pPr algn="l" indent="0" marL="0">
              <a:buNone/>
            </a:pPr>
            <a:r>
              <a:rPr lang="en-US" sz="900" b="1" dirty="0">
                <a:solidFill>
                  <a:srgbClr val="1E63FF"/>
                </a:solidFill>
                <a:latin typeface="Inter Bold" pitchFamily="34" charset="0"/>
                <a:ea typeface="Inter Bold" pitchFamily="34" charset="-122"/>
                <a:cs typeface="Inter Bold" pitchFamily="34" charset="-120"/>
              </a:rPr>
              <a:t>Skills</a:t>
            </a:r>
            <a:endParaRPr lang="en-US" sz="900" dirty="0"/>
          </a:p>
        </p:txBody>
      </p:sp>
      <p:sp>
        <p:nvSpPr>
          <p:cNvPr id="16" name="Text 13"/>
          <p:cNvSpPr/>
          <p:nvPr/>
        </p:nvSpPr>
        <p:spPr>
          <a:xfrm>
            <a:off x="5715000" y="1593391"/>
            <a:ext cx="2366367" cy="105370"/>
          </a:xfrm>
          <a:prstGeom prst="rect">
            <a:avLst/>
          </a:prstGeom>
          <a:noFill/>
          <a:ln/>
        </p:spPr>
        <p:txBody>
          <a:bodyPr wrap="none" lIns="0" tIns="0" rIns="0" bIns="0" rtlCol="0" anchor="t">
            <a:spAutoFit/>
          </a:bodyPr>
          <a:lstStyle/>
          <a:p>
            <a:pPr algn="l" indent="0" marL="0">
              <a:lnSpc>
                <a:spcPct val="105600"/>
              </a:lnSpc>
              <a:buNone/>
            </a:pPr>
            <a:r>
              <a:rPr lang="en-US" sz="700" dirty="0">
                <a:solidFill>
                  <a:srgbClr val="4B5F73"/>
                </a:solidFill>
                <a:latin typeface="Inter" pitchFamily="34" charset="0"/>
                <a:ea typeface="Inter" pitchFamily="34" charset="-122"/>
                <a:cs typeface="Inter" pitchFamily="34" charset="-120"/>
              </a:rPr>
              <a:t>把标准操作流程、模板和专业知识封装为可复用能力包。</a:t>
            </a:r>
            <a:endParaRPr lang="en-US" sz="700" dirty="0"/>
          </a:p>
        </p:txBody>
      </p:sp>
      <p:sp>
        <p:nvSpPr>
          <p:cNvPr id="17" name="Text 14"/>
          <p:cNvSpPr/>
          <p:nvPr/>
        </p:nvSpPr>
        <p:spPr>
          <a:xfrm>
            <a:off x="5715000" y="2239900"/>
            <a:ext cx="3000375" cy="146447"/>
          </a:xfrm>
          <a:prstGeom prst="rect">
            <a:avLst/>
          </a:prstGeom>
          <a:noFill/>
          <a:ln/>
        </p:spPr>
        <p:txBody>
          <a:bodyPr wrap="square" lIns="0" tIns="0" rIns="0" bIns="0" rtlCol="0" anchor="t">
            <a:spAutoFit/>
          </a:bodyPr>
          <a:lstStyle/>
          <a:p>
            <a:pPr algn="l" indent="0" marL="0">
              <a:buNone/>
            </a:pPr>
            <a:r>
              <a:rPr lang="en-US" sz="900" b="1" dirty="0">
                <a:solidFill>
                  <a:srgbClr val="1E63FF"/>
                </a:solidFill>
                <a:latin typeface="Inter Bold" pitchFamily="34" charset="0"/>
                <a:ea typeface="Inter Bold" pitchFamily="34" charset="-122"/>
                <a:cs typeface="Inter Bold" pitchFamily="34" charset="-120"/>
              </a:rPr>
              <a:t>Sub-agents</a:t>
            </a:r>
            <a:endParaRPr lang="en-US" sz="900" dirty="0"/>
          </a:p>
        </p:txBody>
      </p:sp>
      <p:sp>
        <p:nvSpPr>
          <p:cNvPr id="18" name="Text 15"/>
          <p:cNvSpPr/>
          <p:nvPr/>
        </p:nvSpPr>
        <p:spPr>
          <a:xfrm>
            <a:off x="5715000" y="2450641"/>
            <a:ext cx="2744986" cy="105370"/>
          </a:xfrm>
          <a:prstGeom prst="rect">
            <a:avLst/>
          </a:prstGeom>
          <a:noFill/>
          <a:ln/>
        </p:spPr>
        <p:txBody>
          <a:bodyPr wrap="none" lIns="0" tIns="0" rIns="0" bIns="0" rtlCol="0" anchor="t">
            <a:spAutoFit/>
          </a:bodyPr>
          <a:lstStyle/>
          <a:p>
            <a:pPr algn="l" indent="0" marL="0">
              <a:lnSpc>
                <a:spcPct val="105600"/>
              </a:lnSpc>
              <a:buNone/>
            </a:pPr>
            <a:r>
              <a:rPr lang="en-US" sz="700" dirty="0">
                <a:solidFill>
                  <a:srgbClr val="4B5F73"/>
                </a:solidFill>
                <a:latin typeface="Inter" pitchFamily="34" charset="0"/>
                <a:ea typeface="Inter" pitchFamily="34" charset="-122"/>
                <a:cs typeface="Inter" pitchFamily="34" charset="-120"/>
              </a:rPr>
              <a:t>将复杂任务拆分给专门角色，适合研究、代码、安全和运营场景。</a:t>
            </a:r>
            <a:endParaRPr lang="en-US" sz="700" dirty="0"/>
          </a:p>
        </p:txBody>
      </p:sp>
      <p:sp>
        <p:nvSpPr>
          <p:cNvPr id="19" name="Text 16"/>
          <p:cNvSpPr/>
          <p:nvPr/>
        </p:nvSpPr>
        <p:spPr>
          <a:xfrm>
            <a:off x="5715000" y="3097150"/>
            <a:ext cx="3000375" cy="146447"/>
          </a:xfrm>
          <a:prstGeom prst="rect">
            <a:avLst/>
          </a:prstGeom>
          <a:noFill/>
          <a:ln/>
        </p:spPr>
        <p:txBody>
          <a:bodyPr wrap="square" lIns="0" tIns="0" rIns="0" bIns="0" rtlCol="0" anchor="t">
            <a:spAutoFit/>
          </a:bodyPr>
          <a:lstStyle/>
          <a:p>
            <a:pPr algn="l" indent="0" marL="0">
              <a:buNone/>
            </a:pPr>
            <a:r>
              <a:rPr lang="en-US" sz="900" b="1" dirty="0">
                <a:solidFill>
                  <a:srgbClr val="1E63FF"/>
                </a:solidFill>
                <a:latin typeface="Inter Bold" pitchFamily="34" charset="0"/>
                <a:ea typeface="Inter Bold" pitchFamily="34" charset="-122"/>
                <a:cs typeface="Inter Bold" pitchFamily="34" charset="-120"/>
              </a:rPr>
              <a:t>Artifacts / Plugins</a:t>
            </a:r>
            <a:endParaRPr lang="en-US" sz="900" dirty="0"/>
          </a:p>
        </p:txBody>
      </p:sp>
      <p:sp>
        <p:nvSpPr>
          <p:cNvPr id="20" name="Text 17"/>
          <p:cNvSpPr/>
          <p:nvPr/>
        </p:nvSpPr>
        <p:spPr>
          <a:xfrm>
            <a:off x="5715000" y="3307891"/>
            <a:ext cx="2744986" cy="105370"/>
          </a:xfrm>
          <a:prstGeom prst="rect">
            <a:avLst/>
          </a:prstGeom>
          <a:noFill/>
          <a:ln/>
        </p:spPr>
        <p:txBody>
          <a:bodyPr wrap="none" lIns="0" tIns="0" rIns="0" bIns="0" rtlCol="0" anchor="t">
            <a:spAutoFit/>
          </a:bodyPr>
          <a:lstStyle/>
          <a:p>
            <a:pPr algn="l" indent="0" marL="0">
              <a:lnSpc>
                <a:spcPct val="105600"/>
              </a:lnSpc>
              <a:buNone/>
            </a:pPr>
            <a:r>
              <a:rPr lang="en-US" sz="700" dirty="0">
                <a:solidFill>
                  <a:srgbClr val="4B5F73"/>
                </a:solidFill>
                <a:latin typeface="Inter" pitchFamily="34" charset="0"/>
                <a:ea typeface="Inter" pitchFamily="34" charset="-122"/>
                <a:cs typeface="Inter" pitchFamily="34" charset="-120"/>
              </a:rPr>
              <a:t>把输出变为报告、表格、页面或可复用插件，提高业务分发效率。</a:t>
            </a:r>
            <a:endParaRPr lang="en-US" sz="700" dirty="0"/>
          </a:p>
        </p:txBody>
      </p:sp>
      <p:sp>
        <p:nvSpPr>
          <p:cNvPr id="21" name="Text 18"/>
          <p:cNvSpPr/>
          <p:nvPr/>
        </p:nvSpPr>
        <p:spPr>
          <a:xfrm>
            <a:off x="428625" y="4018694"/>
            <a:ext cx="8286750" cy="224024"/>
          </a:xfrm>
          <a:prstGeom prst="rect">
            <a:avLst/>
          </a:prstGeom>
          <a:noFill/>
          <a:ln/>
        </p:spPr>
        <p:txBody>
          <a:bodyPr wrap="square" lIns="0" tIns="102108" rIns="0" bIns="0" rtlCol="0" anchor="t">
            <a:spAutoFit/>
          </a:bodyPr>
          <a:lstStyle/>
          <a:p>
            <a:pPr algn="l" indent="0" marL="0">
              <a:lnSpc>
                <a:spcPct val="108000"/>
              </a:lnSpc>
              <a:buNone/>
            </a:pPr>
            <a:r>
              <a:rPr lang="en-US" sz="650" b="1" dirty="0">
                <a:solidFill>
                  <a:srgbClr val="0B8F5A"/>
                </a:solidFill>
                <a:latin typeface="Inter Bold" pitchFamily="34" charset="0"/>
                <a:ea typeface="Inter Bold" pitchFamily="34" charset="-122"/>
                <a:cs typeface="Inter Bold" pitchFamily="34" charset="-120"/>
              </a:rPr>
              <a:t>企业价值：</a:t>
            </a:r>
            <a:r>
              <a:rPr lang="en-US" sz="700" dirty="0">
                <a:solidFill>
                  <a:srgbClr val="4B5F73"/>
                </a:solidFill>
                <a:latin typeface="Inter" pitchFamily="34" charset="0"/>
                <a:ea typeface="Inter" pitchFamily="34" charset="-122"/>
                <a:cs typeface="Inter" pitchFamily="34" charset="-120"/>
              </a:rPr>
              <a:t>上下文生态决定 Claude 能否从“通用大模型”变成“组织内可治理的专业代理”。</a:t>
            </a:r>
            <a:endParaRPr lang="en-US" sz="650" dirty="0"/>
          </a:p>
        </p:txBody>
      </p:sp>
      <p:sp>
        <p:nvSpPr>
          <p:cNvPr id="22" name="Text 19"/>
          <p:cNvSpPr/>
          <p:nvPr/>
        </p:nvSpPr>
        <p:spPr>
          <a:xfrm>
            <a:off x="428625" y="4342730"/>
            <a:ext cx="8286750" cy="133722"/>
          </a:xfrm>
          <a:prstGeom prst="rect">
            <a:avLst/>
          </a:prstGeom>
          <a:noFill/>
          <a:ln/>
        </p:spPr>
        <p:txBody>
          <a:bodyPr wrap="none" lIns="0" tIns="42545" rIns="0" bIns="0" rtlCol="0" anchor="t">
            <a:spAutoFit/>
          </a:bodyPr>
          <a:lstStyle/>
          <a:p>
            <a:pPr algn="l" indent="0" marL="0">
              <a:lnSpc>
                <a:spcPct val="96000"/>
              </a:lnSpc>
              <a:buNone/>
            </a:pPr>
            <a:r>
              <a:rPr lang="en-US" sz="550" dirty="0">
                <a:solidFill>
                  <a:srgbClr val="6B7A8A"/>
                </a:solidFill>
                <a:latin typeface="Inter" pitchFamily="34" charset="0"/>
                <a:ea typeface="Inter" pitchFamily="34" charset="-122"/>
                <a:cs typeface="Inter" pitchFamily="34" charset="-120"/>
              </a:rPr>
              <a:t>来源：Claude Connectors / MCP / Skills / Chrome / Slack / Microsoft 365 official pages；Anthropic Docs。</a:t>
            </a:r>
            <a:endParaRPr lang="en-US" sz="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300038"/>
            <a:ext cx="8286750" cy="98227"/>
          </a:xfrm>
          <a:prstGeom prst="rect">
            <a:avLst/>
          </a:prstGeom>
          <a:noFill/>
          <a:ln/>
        </p:spPr>
        <p:txBody>
          <a:bodyPr wrap="square" lIns="0" tIns="0" rIns="0" bIns="0" rtlCol="0" anchor="t">
            <a:spAutoFit/>
          </a:bodyPr>
          <a:lstStyle/>
          <a:p>
            <a:pPr algn="l" indent="0" marL="0">
              <a:buNone/>
            </a:pPr>
            <a:r>
              <a:rPr lang="en-US" sz="600" b="1" spc="2" kern="0" dirty="0">
                <a:solidFill>
                  <a:srgbClr val="0B8F5A"/>
                </a:solidFill>
                <a:latin typeface="Inter ExtraBold" pitchFamily="34" charset="0"/>
                <a:ea typeface="Inter ExtraBold" pitchFamily="34" charset="-122"/>
                <a:cs typeface="Inter ExtraBold" pitchFamily="34" charset="-120"/>
              </a:rPr>
              <a:t>CLOUD CHANNELS</a:t>
            </a:r>
            <a:endParaRPr lang="en-US" sz="600" dirty="0"/>
          </a:p>
        </p:txBody>
      </p:sp>
      <p:sp>
        <p:nvSpPr>
          <p:cNvPr id="4" name="Text 1"/>
          <p:cNvSpPr/>
          <p:nvPr/>
        </p:nvSpPr>
        <p:spPr>
          <a:xfrm>
            <a:off x="428625" y="455414"/>
            <a:ext cx="8286750" cy="267165"/>
          </a:xfrm>
          <a:prstGeom prst="rect">
            <a:avLst/>
          </a:prstGeom>
          <a:noFill/>
          <a:ln/>
        </p:spPr>
        <p:txBody>
          <a:bodyPr wrap="none" lIns="0" tIns="0" rIns="0" bIns="0" rtlCol="0" anchor="t">
            <a:spAutoFit/>
          </a:bodyPr>
          <a:lstStyle/>
          <a:p>
            <a:pPr algn="l" indent="0" marL="0">
              <a:lnSpc>
                <a:spcPct val="88000"/>
              </a:lnSpc>
              <a:buNone/>
            </a:pPr>
            <a:r>
              <a:rPr lang="en-US" sz="1700" b="1" dirty="0">
                <a:solidFill>
                  <a:srgbClr val="102033"/>
                </a:solidFill>
                <a:latin typeface="Inter Bold" pitchFamily="34" charset="0"/>
                <a:ea typeface="Inter Bold" pitchFamily="34" charset="-122"/>
                <a:cs typeface="Inter Bold" pitchFamily="34" charset="-120"/>
              </a:rPr>
              <a:t>云渠道决定企业采购与合规速度</a:t>
            </a:r>
            <a:endParaRPr lang="en-US" sz="1700" dirty="0"/>
          </a:p>
        </p:txBody>
      </p:sp>
      <p:sp>
        <p:nvSpPr>
          <p:cNvPr id="5" name="Text 2"/>
          <p:cNvSpPr/>
          <p:nvPr/>
        </p:nvSpPr>
        <p:spPr>
          <a:xfrm>
            <a:off x="428625" y="779729"/>
            <a:ext cx="7715250" cy="139833"/>
          </a:xfrm>
          <a:prstGeom prst="rect">
            <a:avLst/>
          </a:prstGeom>
          <a:noFill/>
          <a:ln/>
        </p:spPr>
        <p:txBody>
          <a:bodyPr wrap="none" lIns="0" tIns="0" rIns="0" bIns="0" rtlCol="0" anchor="t">
            <a:spAutoFit/>
          </a:bodyPr>
          <a:lstStyle/>
          <a:p>
            <a:pPr algn="l" indent="0" marL="0">
              <a:lnSpc>
                <a:spcPct val="108000"/>
              </a:lnSpc>
              <a:buNone/>
            </a:pPr>
            <a:r>
              <a:rPr lang="en-US" sz="750" dirty="0">
                <a:solidFill>
                  <a:srgbClr val="4B5F73"/>
                </a:solidFill>
                <a:latin typeface="Inter" pitchFamily="34" charset="0"/>
                <a:ea typeface="Inter" pitchFamily="34" charset="-122"/>
                <a:cs typeface="Inter" pitchFamily="34" charset="-120"/>
              </a:rPr>
              <a:t>对于大型企业，Claude 的采购路径往往不仅取决于模型能力，也取决于云合同、IAM、数据边界、账单和现有平台栈。</a:t>
            </a:r>
            <a:endParaRPr lang="en-US" sz="750" dirty="0"/>
          </a:p>
        </p:txBody>
      </p:sp>
      <p:sp>
        <p:nvSpPr>
          <p:cNvPr id="6" name="Text 3"/>
          <p:cNvSpPr/>
          <p:nvPr/>
        </p:nvSpPr>
        <p:spPr>
          <a:xfrm>
            <a:off x="428625" y="1016003"/>
            <a:ext cx="1214438" cy="214313"/>
          </a:xfrm>
          <a:prstGeom prst="rect">
            <a:avLst/>
          </a:prstGeom>
          <a:noFill/>
          <a:ln/>
        </p:spPr>
        <p:txBody>
          <a:bodyPr wrap="none" lIns="8509" tIns="8509" rIns="8509" bIns="8509" rtlCol="0" anchor="ctr">
            <a:spAutoFit/>
          </a:bodyPr>
          <a:lstStyle/>
          <a:p>
            <a:pPr algn="l" indent="0" marL="0">
              <a:buNone/>
            </a:pPr>
            <a:r>
              <a:rPr lang="en-US" sz="600" b="1" dirty="0">
                <a:solidFill>
                  <a:srgbClr val="0B8F5A"/>
                </a:solidFill>
                <a:latin typeface="Inter Bold" pitchFamily="34" charset="0"/>
                <a:ea typeface="Inter Bold" pitchFamily="34" charset="-122"/>
                <a:cs typeface="Inter Bold" pitchFamily="34" charset="-120"/>
              </a:rPr>
              <a:t>渠道</a:t>
            </a:r>
            <a:endParaRPr lang="en-US" sz="600" dirty="0"/>
          </a:p>
        </p:txBody>
      </p:sp>
      <p:sp>
        <p:nvSpPr>
          <p:cNvPr id="7" name="Text 4"/>
          <p:cNvSpPr/>
          <p:nvPr/>
        </p:nvSpPr>
        <p:spPr>
          <a:xfrm>
            <a:off x="1643063" y="1016003"/>
            <a:ext cx="2545910" cy="214313"/>
          </a:xfrm>
          <a:prstGeom prst="rect">
            <a:avLst/>
          </a:prstGeom>
          <a:noFill/>
          <a:ln/>
        </p:spPr>
        <p:txBody>
          <a:bodyPr wrap="square" lIns="8509" tIns="8509" rIns="8509" bIns="8509" rtlCol="0" anchor="ctr">
            <a:spAutoFit/>
          </a:bodyPr>
          <a:lstStyle/>
          <a:p>
            <a:pPr algn="l" indent="0" marL="0">
              <a:buNone/>
            </a:pPr>
            <a:r>
              <a:rPr lang="en-US" sz="600" b="1" dirty="0">
                <a:solidFill>
                  <a:srgbClr val="0B8F5A"/>
                </a:solidFill>
                <a:latin typeface="Inter Bold" pitchFamily="34" charset="0"/>
                <a:ea typeface="Inter Bold" pitchFamily="34" charset="-122"/>
                <a:cs typeface="Inter Bold" pitchFamily="34" charset="-120"/>
              </a:rPr>
              <a:t>企业意义</a:t>
            </a:r>
            <a:endParaRPr lang="en-US" sz="600" dirty="0"/>
          </a:p>
        </p:txBody>
      </p:sp>
      <p:sp>
        <p:nvSpPr>
          <p:cNvPr id="8" name="Text 5"/>
          <p:cNvSpPr/>
          <p:nvPr/>
        </p:nvSpPr>
        <p:spPr>
          <a:xfrm>
            <a:off x="4188972" y="1016003"/>
            <a:ext cx="2410653" cy="214313"/>
          </a:xfrm>
          <a:prstGeom prst="rect">
            <a:avLst/>
          </a:prstGeom>
          <a:noFill/>
          <a:ln/>
        </p:spPr>
        <p:txBody>
          <a:bodyPr wrap="square" lIns="8509" tIns="8509" rIns="8509" bIns="8509" rtlCol="0" anchor="ctr">
            <a:spAutoFit/>
          </a:bodyPr>
          <a:lstStyle/>
          <a:p>
            <a:pPr algn="l" indent="0" marL="0">
              <a:buNone/>
            </a:pPr>
            <a:r>
              <a:rPr lang="en-US" sz="600" b="1" dirty="0">
                <a:solidFill>
                  <a:srgbClr val="0B8F5A"/>
                </a:solidFill>
                <a:latin typeface="Inter Bold" pitchFamily="34" charset="0"/>
                <a:ea typeface="Inter Bold" pitchFamily="34" charset="-122"/>
                <a:cs typeface="Inter Bold" pitchFamily="34" charset="-120"/>
              </a:rPr>
              <a:t>适合客户</a:t>
            </a:r>
            <a:endParaRPr lang="en-US" sz="600" dirty="0"/>
          </a:p>
        </p:txBody>
      </p:sp>
      <p:sp>
        <p:nvSpPr>
          <p:cNvPr id="9" name="Text 6"/>
          <p:cNvSpPr/>
          <p:nvPr/>
        </p:nvSpPr>
        <p:spPr>
          <a:xfrm>
            <a:off x="6599625" y="1016003"/>
            <a:ext cx="2115750" cy="214313"/>
          </a:xfrm>
          <a:prstGeom prst="rect">
            <a:avLst/>
          </a:prstGeom>
          <a:noFill/>
          <a:ln/>
        </p:spPr>
        <p:txBody>
          <a:bodyPr wrap="square" lIns="8509" tIns="8509" rIns="8509" bIns="8509" rtlCol="0" anchor="ctr">
            <a:spAutoFit/>
          </a:bodyPr>
          <a:lstStyle/>
          <a:p>
            <a:pPr algn="l" indent="0" marL="0">
              <a:buNone/>
            </a:pPr>
            <a:r>
              <a:rPr lang="en-US" sz="600" b="1" dirty="0">
                <a:solidFill>
                  <a:srgbClr val="0B8F5A"/>
                </a:solidFill>
                <a:latin typeface="Inter Bold" pitchFamily="34" charset="0"/>
                <a:ea typeface="Inter Bold" pitchFamily="34" charset="-122"/>
                <a:cs typeface="Inter Bold" pitchFamily="34" charset="-120"/>
              </a:rPr>
              <a:t>关键考量</a:t>
            </a:r>
            <a:endParaRPr lang="en-US" sz="600" dirty="0"/>
          </a:p>
        </p:txBody>
      </p:sp>
      <p:sp>
        <p:nvSpPr>
          <p:cNvPr id="10" name="Text 7"/>
          <p:cNvSpPr/>
          <p:nvPr/>
        </p:nvSpPr>
        <p:spPr>
          <a:xfrm>
            <a:off x="428625" y="1230316"/>
            <a:ext cx="1214438" cy="450056"/>
          </a:xfrm>
          <a:prstGeom prst="rect">
            <a:avLst/>
          </a:prstGeom>
          <a:noFill/>
          <a:ln/>
        </p:spPr>
        <p:txBody>
          <a:bodyPr wrap="square" lIns="8509" tIns="68072" rIns="8509" bIns="8509" rtlCol="0" anchor="t">
            <a:spAutoFit/>
          </a:bodyPr>
          <a:lstStyle/>
          <a:p>
            <a:pPr algn="l" indent="0" marL="0">
              <a:lnSpc>
                <a:spcPct val="100000"/>
              </a:lnSpc>
              <a:buNone/>
            </a:pPr>
            <a:r>
              <a:rPr lang="en-US" sz="600" b="1" dirty="0">
                <a:solidFill>
                  <a:srgbClr val="1E63FF"/>
                </a:solidFill>
                <a:latin typeface="Inter ExtraBold" pitchFamily="34" charset="0"/>
                <a:ea typeface="Inter ExtraBold" pitchFamily="34" charset="-122"/>
                <a:cs typeface="Inter ExtraBold" pitchFamily="34" charset="-120"/>
              </a:rPr>
              <a:t>Direct API / Claude Platform</a:t>
            </a:r>
            <a:endParaRPr lang="en-US" sz="600" dirty="0"/>
          </a:p>
        </p:txBody>
      </p:sp>
      <p:sp>
        <p:nvSpPr>
          <p:cNvPr id="11" name="Text 8"/>
          <p:cNvSpPr/>
          <p:nvPr/>
        </p:nvSpPr>
        <p:spPr>
          <a:xfrm>
            <a:off x="1643063" y="1230316"/>
            <a:ext cx="2545910" cy="450056"/>
          </a:xfrm>
          <a:prstGeom prst="rect">
            <a:avLst/>
          </a:prstGeom>
          <a:noFill/>
          <a:ln/>
        </p:spPr>
        <p:txBody>
          <a:bodyPr wrap="square" lIns="8509" tIns="68072" rIns="8509" bIns="8509"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直接接入 Anthropic 平台，使用最新 API 能力和平台工具。</a:t>
            </a:r>
            <a:endParaRPr lang="en-US" sz="650" dirty="0"/>
          </a:p>
        </p:txBody>
      </p:sp>
      <p:sp>
        <p:nvSpPr>
          <p:cNvPr id="12" name="Text 9"/>
          <p:cNvSpPr/>
          <p:nvPr/>
        </p:nvSpPr>
        <p:spPr>
          <a:xfrm>
            <a:off x="4188972" y="1230316"/>
            <a:ext cx="2410653" cy="450056"/>
          </a:xfrm>
          <a:prstGeom prst="rect">
            <a:avLst/>
          </a:prstGeom>
          <a:noFill/>
          <a:ln/>
        </p:spPr>
        <p:txBody>
          <a:bodyPr wrap="square" lIns="8509" tIns="68072" rIns="8509" bIns="8509"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有独立 AI 平台团队、需要前沿功能和开发灵活性的企业。</a:t>
            </a:r>
            <a:endParaRPr lang="en-US" sz="650" dirty="0"/>
          </a:p>
        </p:txBody>
      </p:sp>
      <p:sp>
        <p:nvSpPr>
          <p:cNvPr id="13" name="Text 10"/>
          <p:cNvSpPr/>
          <p:nvPr/>
        </p:nvSpPr>
        <p:spPr>
          <a:xfrm>
            <a:off x="6599625" y="1230316"/>
            <a:ext cx="2115750" cy="450056"/>
          </a:xfrm>
          <a:prstGeom prst="rect">
            <a:avLst/>
          </a:prstGeom>
          <a:noFill/>
          <a:ln/>
        </p:spPr>
        <p:txBody>
          <a:bodyPr wrap="square" lIns="8509" tIns="68072" rIns="8509" bIns="8509"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密钥治理、成本控制、数据策略、SLA 和内部合规审查。</a:t>
            </a:r>
            <a:endParaRPr lang="en-US" sz="650" dirty="0"/>
          </a:p>
        </p:txBody>
      </p:sp>
      <p:sp>
        <p:nvSpPr>
          <p:cNvPr id="14" name="Text 11"/>
          <p:cNvSpPr/>
          <p:nvPr/>
        </p:nvSpPr>
        <p:spPr>
          <a:xfrm>
            <a:off x="428625" y="1680372"/>
            <a:ext cx="1214438" cy="450056"/>
          </a:xfrm>
          <a:prstGeom prst="rect">
            <a:avLst/>
          </a:prstGeom>
          <a:noFill/>
          <a:ln/>
        </p:spPr>
        <p:txBody>
          <a:bodyPr wrap="square" lIns="8509" tIns="68072" rIns="8509" bIns="8509" rtlCol="0" anchor="t">
            <a:spAutoFit/>
          </a:bodyPr>
          <a:lstStyle/>
          <a:p>
            <a:pPr algn="l" indent="0" marL="0">
              <a:lnSpc>
                <a:spcPct val="100000"/>
              </a:lnSpc>
              <a:buNone/>
            </a:pPr>
            <a:r>
              <a:rPr lang="en-US" sz="600" b="1" dirty="0">
                <a:solidFill>
                  <a:srgbClr val="1E63FF"/>
                </a:solidFill>
                <a:latin typeface="Inter ExtraBold" pitchFamily="34" charset="0"/>
                <a:ea typeface="Inter ExtraBold" pitchFamily="34" charset="-122"/>
                <a:cs typeface="Inter ExtraBold" pitchFamily="34" charset="-120"/>
              </a:rPr>
              <a:t>Claude Enterprise</a:t>
            </a:r>
            <a:endParaRPr lang="en-US" sz="600" dirty="0"/>
          </a:p>
        </p:txBody>
      </p:sp>
      <p:sp>
        <p:nvSpPr>
          <p:cNvPr id="15" name="Text 12"/>
          <p:cNvSpPr/>
          <p:nvPr/>
        </p:nvSpPr>
        <p:spPr>
          <a:xfrm>
            <a:off x="1643063" y="1680372"/>
            <a:ext cx="2545910" cy="450056"/>
          </a:xfrm>
          <a:prstGeom prst="rect">
            <a:avLst/>
          </a:prstGeom>
          <a:noFill/>
          <a:ln/>
        </p:spPr>
        <p:txBody>
          <a:bodyPr wrap="square" lIns="8509" tIns="68072" rIns="8509" bIns="8509"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组织级员工部署路径，强调用户管理、连接器、审计与数据承诺。</a:t>
            </a:r>
            <a:endParaRPr lang="en-US" sz="650" dirty="0"/>
          </a:p>
        </p:txBody>
      </p:sp>
      <p:sp>
        <p:nvSpPr>
          <p:cNvPr id="16" name="Text 13"/>
          <p:cNvSpPr/>
          <p:nvPr/>
        </p:nvSpPr>
        <p:spPr>
          <a:xfrm>
            <a:off x="4188972" y="1680372"/>
            <a:ext cx="2410653" cy="450056"/>
          </a:xfrm>
          <a:prstGeom prst="rect">
            <a:avLst/>
          </a:prstGeom>
          <a:noFill/>
          <a:ln/>
        </p:spPr>
        <p:txBody>
          <a:bodyPr wrap="square" lIns="8509" tIns="68072" rIns="8509" bIns="8509"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希望先提升员工生产力、再向业务流程扩展的企业。</a:t>
            </a:r>
            <a:endParaRPr lang="en-US" sz="650" dirty="0"/>
          </a:p>
        </p:txBody>
      </p:sp>
      <p:sp>
        <p:nvSpPr>
          <p:cNvPr id="17" name="Text 14"/>
          <p:cNvSpPr/>
          <p:nvPr/>
        </p:nvSpPr>
        <p:spPr>
          <a:xfrm>
            <a:off x="6599625" y="1680372"/>
            <a:ext cx="2115750" cy="450056"/>
          </a:xfrm>
          <a:prstGeom prst="rect">
            <a:avLst/>
          </a:prstGeom>
          <a:noFill/>
          <a:ln/>
        </p:spPr>
        <p:txBody>
          <a:bodyPr wrap="square" lIns="8509" tIns="68072" rIns="8509" bIns="8509"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SSO/SCIM、权限、连接器、培训、使用政策和 ROI。</a:t>
            </a:r>
            <a:endParaRPr lang="en-US" sz="650" dirty="0"/>
          </a:p>
        </p:txBody>
      </p:sp>
      <p:sp>
        <p:nvSpPr>
          <p:cNvPr id="18" name="Text 15"/>
          <p:cNvSpPr/>
          <p:nvPr/>
        </p:nvSpPr>
        <p:spPr>
          <a:xfrm>
            <a:off x="428625" y="2130428"/>
            <a:ext cx="1214438" cy="450056"/>
          </a:xfrm>
          <a:prstGeom prst="rect">
            <a:avLst/>
          </a:prstGeom>
          <a:noFill/>
          <a:ln/>
        </p:spPr>
        <p:txBody>
          <a:bodyPr wrap="square" lIns="8509" tIns="68072" rIns="8509" bIns="8509" rtlCol="0" anchor="t">
            <a:spAutoFit/>
          </a:bodyPr>
          <a:lstStyle/>
          <a:p>
            <a:pPr algn="l" indent="0" marL="0">
              <a:lnSpc>
                <a:spcPct val="100000"/>
              </a:lnSpc>
              <a:buNone/>
            </a:pPr>
            <a:r>
              <a:rPr lang="en-US" sz="600" b="1" dirty="0">
                <a:solidFill>
                  <a:srgbClr val="1E63FF"/>
                </a:solidFill>
                <a:latin typeface="Inter ExtraBold" pitchFamily="34" charset="0"/>
                <a:ea typeface="Inter ExtraBold" pitchFamily="34" charset="-122"/>
                <a:cs typeface="Inter ExtraBold" pitchFamily="34" charset="-120"/>
              </a:rPr>
              <a:t>Amazon Bedrock / AWS</a:t>
            </a:r>
            <a:endParaRPr lang="en-US" sz="600" dirty="0"/>
          </a:p>
        </p:txBody>
      </p:sp>
      <p:sp>
        <p:nvSpPr>
          <p:cNvPr id="19" name="Text 16"/>
          <p:cNvSpPr/>
          <p:nvPr/>
        </p:nvSpPr>
        <p:spPr>
          <a:xfrm>
            <a:off x="1643063" y="2130428"/>
            <a:ext cx="2545910" cy="450056"/>
          </a:xfrm>
          <a:prstGeom prst="rect">
            <a:avLst/>
          </a:prstGeom>
          <a:noFill/>
          <a:ln/>
        </p:spPr>
        <p:txBody>
          <a:bodyPr wrap="square" lIns="8509" tIns="68072" rIns="8509" bIns="8509"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通过 AWS 生态采购和调用 Claude，复用云治理、IAM 和账单体系。</a:t>
            </a:r>
            <a:endParaRPr lang="en-US" sz="650" dirty="0"/>
          </a:p>
        </p:txBody>
      </p:sp>
      <p:sp>
        <p:nvSpPr>
          <p:cNvPr id="20" name="Text 17"/>
          <p:cNvSpPr/>
          <p:nvPr/>
        </p:nvSpPr>
        <p:spPr>
          <a:xfrm>
            <a:off x="4188972" y="2130428"/>
            <a:ext cx="2410653" cy="450056"/>
          </a:xfrm>
          <a:prstGeom prst="rect">
            <a:avLst/>
          </a:prstGeom>
          <a:noFill/>
          <a:ln/>
        </p:spPr>
        <p:txBody>
          <a:bodyPr wrap="square" lIns="8509" tIns="68072" rIns="8509" bIns="8509"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AWS-heavy 企业、已有 Bedrock/云原生 AI 平台的客户。</a:t>
            </a:r>
            <a:endParaRPr lang="en-US" sz="650" dirty="0"/>
          </a:p>
        </p:txBody>
      </p:sp>
      <p:sp>
        <p:nvSpPr>
          <p:cNvPr id="21" name="Text 18"/>
          <p:cNvSpPr/>
          <p:nvPr/>
        </p:nvSpPr>
        <p:spPr>
          <a:xfrm>
            <a:off x="6599625" y="2130428"/>
            <a:ext cx="2115750" cy="450056"/>
          </a:xfrm>
          <a:prstGeom prst="rect">
            <a:avLst/>
          </a:prstGeom>
          <a:noFill/>
          <a:ln/>
        </p:spPr>
        <p:txBody>
          <a:bodyPr wrap="square" lIns="8509" tIns="68072" rIns="8509" bIns="8509"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区域可用性、模型版本、云成本、VPC/数据路径和权限。</a:t>
            </a:r>
            <a:endParaRPr lang="en-US" sz="650" dirty="0"/>
          </a:p>
        </p:txBody>
      </p:sp>
      <p:sp>
        <p:nvSpPr>
          <p:cNvPr id="22" name="Text 19"/>
          <p:cNvSpPr/>
          <p:nvPr/>
        </p:nvSpPr>
        <p:spPr>
          <a:xfrm>
            <a:off x="428625" y="2580484"/>
            <a:ext cx="1214438" cy="450056"/>
          </a:xfrm>
          <a:prstGeom prst="rect">
            <a:avLst/>
          </a:prstGeom>
          <a:noFill/>
          <a:ln/>
        </p:spPr>
        <p:txBody>
          <a:bodyPr wrap="square" lIns="8509" tIns="68072" rIns="8509" bIns="8509" rtlCol="0" anchor="t">
            <a:spAutoFit/>
          </a:bodyPr>
          <a:lstStyle/>
          <a:p>
            <a:pPr algn="l" indent="0" marL="0">
              <a:lnSpc>
                <a:spcPct val="100000"/>
              </a:lnSpc>
              <a:buNone/>
            </a:pPr>
            <a:r>
              <a:rPr lang="en-US" sz="600" b="1" dirty="0">
                <a:solidFill>
                  <a:srgbClr val="1E63FF"/>
                </a:solidFill>
                <a:latin typeface="Inter ExtraBold" pitchFamily="34" charset="0"/>
                <a:ea typeface="Inter ExtraBold" pitchFamily="34" charset="-122"/>
                <a:cs typeface="Inter ExtraBold" pitchFamily="34" charset="-120"/>
              </a:rPr>
              <a:t>Google Vertex AI</a:t>
            </a:r>
            <a:endParaRPr lang="en-US" sz="600" dirty="0"/>
          </a:p>
        </p:txBody>
      </p:sp>
      <p:sp>
        <p:nvSpPr>
          <p:cNvPr id="23" name="Text 20"/>
          <p:cNvSpPr/>
          <p:nvPr/>
        </p:nvSpPr>
        <p:spPr>
          <a:xfrm>
            <a:off x="1643063" y="2580484"/>
            <a:ext cx="2545910" cy="450056"/>
          </a:xfrm>
          <a:prstGeom prst="rect">
            <a:avLst/>
          </a:prstGeom>
          <a:noFill/>
          <a:ln/>
        </p:spPr>
        <p:txBody>
          <a:bodyPr wrap="square" lIns="8509" tIns="68072" rIns="8509" bIns="8509"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通过 Google Cloud 生态使用 Claude，适合 GCP 数据与 AI 栈。</a:t>
            </a:r>
            <a:endParaRPr lang="en-US" sz="650" dirty="0"/>
          </a:p>
        </p:txBody>
      </p:sp>
      <p:sp>
        <p:nvSpPr>
          <p:cNvPr id="24" name="Text 21"/>
          <p:cNvSpPr/>
          <p:nvPr/>
        </p:nvSpPr>
        <p:spPr>
          <a:xfrm>
            <a:off x="4188972" y="2580484"/>
            <a:ext cx="2410653" cy="450056"/>
          </a:xfrm>
          <a:prstGeom prst="rect">
            <a:avLst/>
          </a:prstGeom>
          <a:noFill/>
          <a:ln/>
        </p:spPr>
        <p:txBody>
          <a:bodyPr wrap="square" lIns="8509" tIns="68072" rIns="8509" bIns="8509"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GCP-heavy 企业、数据平台和 ML 平台在 Google Cloud 的客户。</a:t>
            </a:r>
            <a:endParaRPr lang="en-US" sz="650" dirty="0"/>
          </a:p>
        </p:txBody>
      </p:sp>
      <p:sp>
        <p:nvSpPr>
          <p:cNvPr id="25" name="Text 22"/>
          <p:cNvSpPr/>
          <p:nvPr/>
        </p:nvSpPr>
        <p:spPr>
          <a:xfrm>
            <a:off x="6599625" y="2580484"/>
            <a:ext cx="2115750" cy="450056"/>
          </a:xfrm>
          <a:prstGeom prst="rect">
            <a:avLst/>
          </a:prstGeom>
          <a:noFill/>
          <a:ln/>
        </p:spPr>
        <p:txBody>
          <a:bodyPr wrap="square" lIns="8509" tIns="68072" rIns="8509" bIns="8509"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模型版本、企业合同、数据治理、延迟和现有管道集成。</a:t>
            </a:r>
            <a:endParaRPr lang="en-US" sz="650" dirty="0"/>
          </a:p>
        </p:txBody>
      </p:sp>
      <p:sp>
        <p:nvSpPr>
          <p:cNvPr id="26" name="Text 23"/>
          <p:cNvSpPr/>
          <p:nvPr/>
        </p:nvSpPr>
        <p:spPr>
          <a:xfrm>
            <a:off x="428625" y="3030541"/>
            <a:ext cx="1214438" cy="450056"/>
          </a:xfrm>
          <a:prstGeom prst="rect">
            <a:avLst/>
          </a:prstGeom>
          <a:noFill/>
          <a:ln/>
        </p:spPr>
        <p:txBody>
          <a:bodyPr wrap="square" lIns="8509" tIns="68072" rIns="8509" bIns="8509" rtlCol="0" anchor="t">
            <a:spAutoFit/>
          </a:bodyPr>
          <a:lstStyle/>
          <a:p>
            <a:pPr algn="l" indent="0" marL="0">
              <a:lnSpc>
                <a:spcPct val="100000"/>
              </a:lnSpc>
              <a:buNone/>
            </a:pPr>
            <a:r>
              <a:rPr lang="en-US" sz="600" b="1" dirty="0">
                <a:solidFill>
                  <a:srgbClr val="1E63FF"/>
                </a:solidFill>
                <a:latin typeface="Inter ExtraBold" pitchFamily="34" charset="0"/>
                <a:ea typeface="Inter ExtraBold" pitchFamily="34" charset="-122"/>
                <a:cs typeface="Inter ExtraBold" pitchFamily="34" charset="-120"/>
              </a:rPr>
              <a:t>Microsoft Foundry</a:t>
            </a:r>
            <a:endParaRPr lang="en-US" sz="600" dirty="0"/>
          </a:p>
        </p:txBody>
      </p:sp>
      <p:sp>
        <p:nvSpPr>
          <p:cNvPr id="27" name="Text 24"/>
          <p:cNvSpPr/>
          <p:nvPr/>
        </p:nvSpPr>
        <p:spPr>
          <a:xfrm>
            <a:off x="1643063" y="3030541"/>
            <a:ext cx="2545910" cy="450056"/>
          </a:xfrm>
          <a:prstGeom prst="rect">
            <a:avLst/>
          </a:prstGeom>
          <a:noFill/>
          <a:ln/>
        </p:spPr>
        <p:txBody>
          <a:bodyPr wrap="square" lIns="8509" tIns="68072" rIns="8509" bIns="8509"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扩大进入 Microsoft 企业生态的路径，贴近 Azure/开发者和企业采购。</a:t>
            </a:r>
            <a:endParaRPr lang="en-US" sz="650" dirty="0"/>
          </a:p>
        </p:txBody>
      </p:sp>
      <p:sp>
        <p:nvSpPr>
          <p:cNvPr id="28" name="Text 25"/>
          <p:cNvSpPr/>
          <p:nvPr/>
        </p:nvSpPr>
        <p:spPr>
          <a:xfrm>
            <a:off x="4188972" y="3030541"/>
            <a:ext cx="2410653" cy="450056"/>
          </a:xfrm>
          <a:prstGeom prst="rect">
            <a:avLst/>
          </a:prstGeom>
          <a:noFill/>
          <a:ln/>
        </p:spPr>
        <p:txBody>
          <a:bodyPr wrap="square" lIns="8509" tIns="68072" rIns="8509" bIns="8509"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Microsoft 365/Azure 深度客户与开发者团队。</a:t>
            </a:r>
            <a:endParaRPr lang="en-US" sz="650" dirty="0"/>
          </a:p>
        </p:txBody>
      </p:sp>
      <p:sp>
        <p:nvSpPr>
          <p:cNvPr id="29" name="Text 26"/>
          <p:cNvSpPr/>
          <p:nvPr/>
        </p:nvSpPr>
        <p:spPr>
          <a:xfrm>
            <a:off x="6599625" y="3030541"/>
            <a:ext cx="2115750" cy="450056"/>
          </a:xfrm>
          <a:prstGeom prst="rect">
            <a:avLst/>
          </a:prstGeom>
          <a:noFill/>
          <a:ln/>
        </p:spPr>
        <p:txBody>
          <a:bodyPr wrap="square" lIns="8509" tIns="68072" rIns="8509" bIns="8509"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可用区域、服务形态、合规、与 M365/身份体系协同。</a:t>
            </a:r>
            <a:endParaRPr lang="en-US" sz="650" dirty="0"/>
          </a:p>
        </p:txBody>
      </p:sp>
      <p:sp>
        <p:nvSpPr>
          <p:cNvPr id="30" name="Text 27"/>
          <p:cNvSpPr/>
          <p:nvPr/>
        </p:nvSpPr>
        <p:spPr>
          <a:xfrm>
            <a:off x="428625" y="3480597"/>
            <a:ext cx="1214438" cy="450056"/>
          </a:xfrm>
          <a:prstGeom prst="rect">
            <a:avLst/>
          </a:prstGeom>
          <a:noFill/>
          <a:ln/>
        </p:spPr>
        <p:txBody>
          <a:bodyPr wrap="square" lIns="8509" tIns="68072" rIns="8509" bIns="8509" rtlCol="0" anchor="t">
            <a:spAutoFit/>
          </a:bodyPr>
          <a:lstStyle/>
          <a:p>
            <a:pPr algn="l" indent="0" marL="0">
              <a:lnSpc>
                <a:spcPct val="100000"/>
              </a:lnSpc>
              <a:buNone/>
            </a:pPr>
            <a:r>
              <a:rPr lang="en-US" sz="600" b="1" dirty="0">
                <a:solidFill>
                  <a:srgbClr val="1E63FF"/>
                </a:solidFill>
                <a:latin typeface="Inter ExtraBold" pitchFamily="34" charset="0"/>
                <a:ea typeface="Inter ExtraBold" pitchFamily="34" charset="-122"/>
                <a:cs typeface="Inter ExtraBold" pitchFamily="34" charset="-120"/>
              </a:rPr>
              <a:t>AWS Marketplace 等</a:t>
            </a:r>
            <a:endParaRPr lang="en-US" sz="600" dirty="0"/>
          </a:p>
        </p:txBody>
      </p:sp>
      <p:sp>
        <p:nvSpPr>
          <p:cNvPr id="31" name="Text 28"/>
          <p:cNvSpPr/>
          <p:nvPr/>
        </p:nvSpPr>
        <p:spPr>
          <a:xfrm>
            <a:off x="1643063" y="3480597"/>
            <a:ext cx="2545910" cy="450056"/>
          </a:xfrm>
          <a:prstGeom prst="rect">
            <a:avLst/>
          </a:prstGeom>
          <a:noFill/>
          <a:ln/>
        </p:spPr>
        <p:txBody>
          <a:bodyPr wrap="square" lIns="8509" tIns="68072" rIns="8509" bIns="8509"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简化采购、预算和合同流程，降低引入新供应商摩擦。</a:t>
            </a:r>
            <a:endParaRPr lang="en-US" sz="650" dirty="0"/>
          </a:p>
        </p:txBody>
      </p:sp>
      <p:sp>
        <p:nvSpPr>
          <p:cNvPr id="32" name="Text 29"/>
          <p:cNvSpPr/>
          <p:nvPr/>
        </p:nvSpPr>
        <p:spPr>
          <a:xfrm>
            <a:off x="4188972" y="3480597"/>
            <a:ext cx="2410653" cy="450056"/>
          </a:xfrm>
          <a:prstGeom prst="rect">
            <a:avLst/>
          </a:prstGeom>
          <a:noFill/>
          <a:ln/>
        </p:spPr>
        <p:txBody>
          <a:bodyPr wrap="square" lIns="8509" tIns="68072" rIns="8509" bIns="8509"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采购流程严格、希望通过既有云预算购买 AI 服务的企业。</a:t>
            </a:r>
            <a:endParaRPr lang="en-US" sz="650" dirty="0"/>
          </a:p>
        </p:txBody>
      </p:sp>
      <p:sp>
        <p:nvSpPr>
          <p:cNvPr id="33" name="Text 30"/>
          <p:cNvSpPr/>
          <p:nvPr/>
        </p:nvSpPr>
        <p:spPr>
          <a:xfrm>
            <a:off x="6599625" y="3480597"/>
            <a:ext cx="2115750" cy="450056"/>
          </a:xfrm>
          <a:prstGeom prst="rect">
            <a:avLst/>
          </a:prstGeom>
          <a:noFill/>
          <a:ln/>
        </p:spPr>
        <p:txBody>
          <a:bodyPr wrap="square" lIns="8509" tIns="68072" rIns="8509" bIns="8509" rtlCol="0" anchor="t">
            <a:spAutoFit/>
          </a:bodyPr>
          <a:lstStyle/>
          <a:p>
            <a:pPr algn="l" indent="0" marL="0">
              <a:lnSpc>
                <a:spcPct val="100000"/>
              </a:lnSpc>
              <a:buNone/>
            </a:pPr>
            <a:r>
              <a:rPr lang="en-US" sz="650" dirty="0">
                <a:solidFill>
                  <a:srgbClr val="4B5F73"/>
                </a:solidFill>
                <a:latin typeface="Inter" pitchFamily="34" charset="0"/>
                <a:ea typeface="Inter" pitchFamily="34" charset="-122"/>
                <a:cs typeface="Inter" pitchFamily="34" charset="-120"/>
              </a:rPr>
              <a:t>计费模式、折扣、供应商风险和合规材料。</a:t>
            </a:r>
            <a:endParaRPr lang="en-US" sz="650" dirty="0"/>
          </a:p>
        </p:txBody>
      </p:sp>
      <p:sp>
        <p:nvSpPr>
          <p:cNvPr id="34" name="Text 31"/>
          <p:cNvSpPr/>
          <p:nvPr/>
        </p:nvSpPr>
        <p:spPr>
          <a:xfrm>
            <a:off x="428625" y="4127106"/>
            <a:ext cx="4029075" cy="122560"/>
          </a:xfrm>
          <a:prstGeom prst="rect">
            <a:avLst/>
          </a:prstGeom>
          <a:noFill/>
          <a:ln/>
        </p:spPr>
        <p:txBody>
          <a:bodyPr wrap="none" lIns="0" tIns="0" rIns="0" bIns="0" rtlCol="0" anchor="t">
            <a:spAutoFit/>
          </a:bodyPr>
          <a:lstStyle/>
          <a:p>
            <a:pPr algn="l" indent="0" marL="0">
              <a:lnSpc>
                <a:spcPct val="105600"/>
              </a:lnSpc>
              <a:buNone/>
            </a:pPr>
            <a:r>
              <a:rPr lang="en-US" sz="650" b="1" dirty="0">
                <a:solidFill>
                  <a:srgbClr val="0B8F5A"/>
                </a:solidFill>
                <a:latin typeface="Inter Bold" pitchFamily="34" charset="0"/>
                <a:ea typeface="Inter Bold" pitchFamily="34" charset="-122"/>
                <a:cs typeface="Inter Bold" pitchFamily="34" charset="-120"/>
              </a:rPr>
              <a:t>战略含义：</a:t>
            </a:r>
            <a:r>
              <a:rPr lang="en-US" sz="650" dirty="0">
                <a:solidFill>
                  <a:srgbClr val="4B5F73"/>
                </a:solidFill>
                <a:latin typeface="Inter" pitchFamily="34" charset="0"/>
                <a:ea typeface="Inter" pitchFamily="34" charset="-122"/>
                <a:cs typeface="Inter" pitchFamily="34" charset="-120"/>
              </a:rPr>
              <a:t>多云渠道让 Anthropic 同时覆盖开发者、CIO、采购和云平台团队。</a:t>
            </a:r>
            <a:endParaRPr lang="en-US" sz="650" dirty="0"/>
          </a:p>
        </p:txBody>
      </p:sp>
      <p:sp>
        <p:nvSpPr>
          <p:cNvPr id="35" name="Text 32"/>
          <p:cNvSpPr/>
          <p:nvPr/>
        </p:nvSpPr>
        <p:spPr>
          <a:xfrm>
            <a:off x="4686300" y="4127106"/>
            <a:ext cx="4029075" cy="122560"/>
          </a:xfrm>
          <a:prstGeom prst="rect">
            <a:avLst/>
          </a:prstGeom>
          <a:noFill/>
          <a:ln/>
        </p:spPr>
        <p:txBody>
          <a:bodyPr wrap="none" lIns="0" tIns="0" rIns="0" bIns="0" rtlCol="0" anchor="t">
            <a:spAutoFit/>
          </a:bodyPr>
          <a:lstStyle/>
          <a:p>
            <a:pPr algn="l" indent="0" marL="0">
              <a:lnSpc>
                <a:spcPct val="105600"/>
              </a:lnSpc>
              <a:buNone/>
            </a:pPr>
            <a:r>
              <a:rPr lang="en-US" sz="650" b="1" dirty="0">
                <a:solidFill>
                  <a:srgbClr val="0B8F5A"/>
                </a:solidFill>
                <a:latin typeface="Inter Bold" pitchFamily="34" charset="0"/>
                <a:ea typeface="Inter Bold" pitchFamily="34" charset="-122"/>
                <a:cs typeface="Inter Bold" pitchFamily="34" charset="-120"/>
              </a:rPr>
              <a:t>产品含义：</a:t>
            </a:r>
            <a:r>
              <a:rPr lang="en-US" sz="650" dirty="0">
                <a:solidFill>
                  <a:srgbClr val="4B5F73"/>
                </a:solidFill>
                <a:latin typeface="Inter" pitchFamily="34" charset="0"/>
                <a:ea typeface="Inter" pitchFamily="34" charset="-122"/>
                <a:cs typeface="Inter" pitchFamily="34" charset="-120"/>
              </a:rPr>
              <a:t>模型能力相同不代表部署体验相同；渠道会改变权限、数据路径和商业条款。</a:t>
            </a:r>
            <a:endParaRPr lang="en-US" sz="650" dirty="0"/>
          </a:p>
        </p:txBody>
      </p:sp>
      <p:sp>
        <p:nvSpPr>
          <p:cNvPr id="36" name="Text 33"/>
          <p:cNvSpPr/>
          <p:nvPr/>
        </p:nvSpPr>
        <p:spPr>
          <a:xfrm>
            <a:off x="428625" y="4335391"/>
            <a:ext cx="8286750" cy="132857"/>
          </a:xfrm>
          <a:prstGeom prst="rect">
            <a:avLst/>
          </a:prstGeom>
          <a:noFill/>
          <a:ln/>
        </p:spPr>
        <p:txBody>
          <a:bodyPr wrap="none" lIns="0" tIns="42545" rIns="0" bIns="0" rtlCol="0" anchor="t">
            <a:spAutoFit/>
          </a:bodyPr>
          <a:lstStyle/>
          <a:p>
            <a:pPr algn="l" indent="0" marL="0">
              <a:lnSpc>
                <a:spcPct val="96000"/>
              </a:lnSpc>
              <a:buNone/>
            </a:pPr>
            <a:r>
              <a:rPr lang="en-US" sz="550" dirty="0">
                <a:solidFill>
                  <a:srgbClr val="6B7A8A"/>
                </a:solidFill>
                <a:latin typeface="Inter" pitchFamily="34" charset="0"/>
                <a:ea typeface="Inter" pitchFamily="34" charset="-122"/>
                <a:cs typeface="Inter" pitchFamily="34" charset="-120"/>
              </a:rPr>
              <a:t>来源：Anthropic official cloud partner announcements；Claude Platform docs；AWS / Google / Microsoft related Anthropic pages。</a:t>
            </a:r>
            <a:endParaRPr lang="en-US" sz="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300038"/>
            <a:ext cx="8286750" cy="98227"/>
          </a:xfrm>
          <a:prstGeom prst="rect">
            <a:avLst/>
          </a:prstGeom>
          <a:noFill/>
          <a:ln/>
        </p:spPr>
        <p:txBody>
          <a:bodyPr wrap="square" lIns="0" tIns="0" rIns="0" bIns="0" rtlCol="0" anchor="t">
            <a:spAutoFit/>
          </a:bodyPr>
          <a:lstStyle/>
          <a:p>
            <a:pPr algn="l" indent="0" marL="0">
              <a:buNone/>
            </a:pPr>
            <a:r>
              <a:rPr lang="en-US" sz="600" b="1" spc="2" kern="0" dirty="0">
                <a:solidFill>
                  <a:srgbClr val="0B8F5A"/>
                </a:solidFill>
                <a:latin typeface="Inter ExtraBold" pitchFamily="34" charset="0"/>
                <a:ea typeface="Inter ExtraBold" pitchFamily="34" charset="-122"/>
                <a:cs typeface="Inter ExtraBold" pitchFamily="34" charset="-120"/>
              </a:rPr>
              <a:t>SUPPLY CHAIN MAPPING</a:t>
            </a:r>
            <a:endParaRPr lang="en-US" sz="600" dirty="0"/>
          </a:p>
        </p:txBody>
      </p:sp>
      <p:sp>
        <p:nvSpPr>
          <p:cNvPr id="4" name="Text 1"/>
          <p:cNvSpPr/>
          <p:nvPr/>
        </p:nvSpPr>
        <p:spPr>
          <a:xfrm>
            <a:off x="428625" y="455414"/>
            <a:ext cx="8286750" cy="267165"/>
          </a:xfrm>
          <a:prstGeom prst="rect">
            <a:avLst/>
          </a:prstGeom>
          <a:noFill/>
          <a:ln/>
        </p:spPr>
        <p:txBody>
          <a:bodyPr wrap="none" lIns="0" tIns="0" rIns="0" bIns="0" rtlCol="0" anchor="t">
            <a:spAutoFit/>
          </a:bodyPr>
          <a:lstStyle/>
          <a:p>
            <a:pPr algn="l" indent="0" marL="0">
              <a:lnSpc>
                <a:spcPct val="88000"/>
              </a:lnSpc>
              <a:buNone/>
            </a:pPr>
            <a:r>
              <a:rPr lang="en-US" sz="1700" b="1" dirty="0">
                <a:solidFill>
                  <a:srgbClr val="102033"/>
                </a:solidFill>
                <a:latin typeface="Inter Bold" pitchFamily="34" charset="0"/>
                <a:ea typeface="Inter Bold" pitchFamily="34" charset="-122"/>
                <a:cs typeface="Inter Bold" pitchFamily="34" charset="-120"/>
              </a:rPr>
              <a:t>供应链落地：尚无直接案例，但产品路径清晰</a:t>
            </a:r>
            <a:endParaRPr lang="en-US" sz="1700" dirty="0"/>
          </a:p>
        </p:txBody>
      </p:sp>
      <p:sp>
        <p:nvSpPr>
          <p:cNvPr id="5" name="Text 2"/>
          <p:cNvSpPr/>
          <p:nvPr/>
        </p:nvSpPr>
        <p:spPr>
          <a:xfrm>
            <a:off x="428625" y="779729"/>
            <a:ext cx="7715250" cy="139833"/>
          </a:xfrm>
          <a:prstGeom prst="rect">
            <a:avLst/>
          </a:prstGeom>
          <a:noFill/>
          <a:ln/>
        </p:spPr>
        <p:txBody>
          <a:bodyPr wrap="none" lIns="0" tIns="0" rIns="0" bIns="0" rtlCol="0" anchor="t">
            <a:spAutoFit/>
          </a:bodyPr>
          <a:lstStyle/>
          <a:p>
            <a:pPr algn="l" indent="0" marL="0">
              <a:lnSpc>
                <a:spcPct val="108000"/>
              </a:lnSpc>
              <a:buNone/>
            </a:pPr>
            <a:r>
              <a:rPr lang="en-US" sz="750" dirty="0">
                <a:solidFill>
                  <a:srgbClr val="4B5F73"/>
                </a:solidFill>
                <a:latin typeface="Inter" pitchFamily="34" charset="0"/>
                <a:ea typeface="Inter" pitchFamily="34" charset="-122"/>
                <a:cs typeface="Inter" pitchFamily="34" charset="-120"/>
              </a:rPr>
              <a:t>公开检索未发现 Anthropic 官方披露的“供应链行业直接实施案例”。因此本页仅做基于官方产品能力的近似映射，不将其表述为已落地事实。</a:t>
            </a:r>
            <a:endParaRPr lang="en-US" sz="750" dirty="0"/>
          </a:p>
        </p:txBody>
      </p:sp>
      <p:sp>
        <p:nvSpPr>
          <p:cNvPr id="6" name="Text 3"/>
          <p:cNvSpPr/>
          <p:nvPr/>
        </p:nvSpPr>
        <p:spPr>
          <a:xfrm>
            <a:off x="428625" y="1016003"/>
            <a:ext cx="1071563" cy="214313"/>
          </a:xfrm>
          <a:prstGeom prst="rect">
            <a:avLst/>
          </a:prstGeom>
          <a:noFill/>
          <a:ln/>
        </p:spPr>
        <p:txBody>
          <a:bodyPr wrap="none" lIns="8509" tIns="8509" rIns="8509" bIns="8509" rtlCol="0" anchor="ctr">
            <a:spAutoFit/>
          </a:bodyPr>
          <a:lstStyle/>
          <a:p>
            <a:pPr algn="l" indent="0" marL="0">
              <a:buNone/>
            </a:pPr>
            <a:r>
              <a:rPr lang="en-US" sz="600" b="1" dirty="0">
                <a:solidFill>
                  <a:srgbClr val="0B8F5A"/>
                </a:solidFill>
                <a:latin typeface="Inter Bold" pitchFamily="34" charset="0"/>
                <a:ea typeface="Inter Bold" pitchFamily="34" charset="-122"/>
                <a:cs typeface="Inter Bold" pitchFamily="34" charset="-120"/>
              </a:rPr>
              <a:t>供应链环节</a:t>
            </a:r>
            <a:endParaRPr lang="en-US" sz="600" dirty="0"/>
          </a:p>
        </p:txBody>
      </p:sp>
      <p:sp>
        <p:nvSpPr>
          <p:cNvPr id="7" name="Text 4"/>
          <p:cNvSpPr/>
          <p:nvPr/>
        </p:nvSpPr>
        <p:spPr>
          <a:xfrm>
            <a:off x="1500188" y="1016003"/>
            <a:ext cx="1714500" cy="214313"/>
          </a:xfrm>
          <a:prstGeom prst="rect">
            <a:avLst/>
          </a:prstGeom>
          <a:noFill/>
          <a:ln/>
        </p:spPr>
        <p:txBody>
          <a:bodyPr wrap="square" lIns="8509" tIns="8509" rIns="8509" bIns="8509" rtlCol="0" anchor="ctr">
            <a:spAutoFit/>
          </a:bodyPr>
          <a:lstStyle/>
          <a:p>
            <a:pPr algn="l" indent="0" marL="0">
              <a:buNone/>
            </a:pPr>
            <a:r>
              <a:rPr lang="en-US" sz="600" b="1" dirty="0">
                <a:solidFill>
                  <a:srgbClr val="0B8F5A"/>
                </a:solidFill>
                <a:latin typeface="Inter Bold" pitchFamily="34" charset="0"/>
                <a:ea typeface="Inter Bold" pitchFamily="34" charset="-122"/>
                <a:cs typeface="Inter Bold" pitchFamily="34" charset="-120"/>
              </a:rPr>
              <a:t>可用 Anthropic 产品</a:t>
            </a:r>
            <a:endParaRPr lang="en-US" sz="600" dirty="0"/>
          </a:p>
        </p:txBody>
      </p:sp>
      <p:sp>
        <p:nvSpPr>
          <p:cNvPr id="8" name="Text 5"/>
          <p:cNvSpPr/>
          <p:nvPr/>
        </p:nvSpPr>
        <p:spPr>
          <a:xfrm>
            <a:off x="3214688" y="1016003"/>
            <a:ext cx="2668163" cy="214313"/>
          </a:xfrm>
          <a:prstGeom prst="rect">
            <a:avLst/>
          </a:prstGeom>
          <a:noFill/>
          <a:ln/>
        </p:spPr>
        <p:txBody>
          <a:bodyPr wrap="square" lIns="8509" tIns="8509" rIns="8509" bIns="8509" rtlCol="0" anchor="ctr">
            <a:spAutoFit/>
          </a:bodyPr>
          <a:lstStyle/>
          <a:p>
            <a:pPr algn="l" indent="0" marL="0">
              <a:buNone/>
            </a:pPr>
            <a:r>
              <a:rPr lang="en-US" sz="600" b="1" dirty="0">
                <a:solidFill>
                  <a:srgbClr val="0B8F5A"/>
                </a:solidFill>
                <a:latin typeface="Inter Bold" pitchFamily="34" charset="0"/>
                <a:ea typeface="Inter Bold" pitchFamily="34" charset="-122"/>
                <a:cs typeface="Inter Bold" pitchFamily="34" charset="-120"/>
              </a:rPr>
              <a:t>可能任务</a:t>
            </a:r>
            <a:endParaRPr lang="en-US" sz="600" dirty="0"/>
          </a:p>
        </p:txBody>
      </p:sp>
      <p:sp>
        <p:nvSpPr>
          <p:cNvPr id="9" name="Text 6"/>
          <p:cNvSpPr/>
          <p:nvPr/>
        </p:nvSpPr>
        <p:spPr>
          <a:xfrm>
            <a:off x="5882850" y="1016003"/>
            <a:ext cx="2832525" cy="214313"/>
          </a:xfrm>
          <a:prstGeom prst="rect">
            <a:avLst/>
          </a:prstGeom>
          <a:noFill/>
          <a:ln/>
        </p:spPr>
        <p:txBody>
          <a:bodyPr wrap="square" lIns="8509" tIns="8509" rIns="8509" bIns="8509" rtlCol="0" anchor="ctr">
            <a:spAutoFit/>
          </a:bodyPr>
          <a:lstStyle/>
          <a:p>
            <a:pPr algn="l" indent="0" marL="0">
              <a:buNone/>
            </a:pPr>
            <a:r>
              <a:rPr lang="en-US" sz="600" b="1" dirty="0">
                <a:solidFill>
                  <a:srgbClr val="0B8F5A"/>
                </a:solidFill>
                <a:latin typeface="Inter Bold" pitchFamily="34" charset="0"/>
                <a:ea typeface="Inter Bold" pitchFamily="34" charset="-122"/>
                <a:cs typeface="Inter Bold" pitchFamily="34" charset="-120"/>
              </a:rPr>
              <a:t>证据边界</a:t>
            </a:r>
            <a:endParaRPr lang="en-US" sz="600" dirty="0"/>
          </a:p>
        </p:txBody>
      </p:sp>
      <p:sp>
        <p:nvSpPr>
          <p:cNvPr id="10" name="Text 7"/>
          <p:cNvSpPr/>
          <p:nvPr/>
        </p:nvSpPr>
        <p:spPr>
          <a:xfrm>
            <a:off x="428625" y="1230316"/>
            <a:ext cx="1071563" cy="385763"/>
          </a:xfrm>
          <a:prstGeom prst="rect">
            <a:avLst/>
          </a:prstGeom>
          <a:noFill/>
          <a:ln/>
        </p:spPr>
        <p:txBody>
          <a:bodyPr wrap="square" lIns="8509" tIns="59563" rIns="8509" bIns="8509" rtlCol="0" anchor="t">
            <a:spAutoFit/>
          </a:bodyPr>
          <a:lstStyle/>
          <a:p>
            <a:pPr algn="l" indent="0" marL="0">
              <a:lnSpc>
                <a:spcPct val="98400"/>
              </a:lnSpc>
              <a:buNone/>
            </a:pPr>
            <a:r>
              <a:rPr lang="en-US" sz="600" b="1" dirty="0">
                <a:solidFill>
                  <a:srgbClr val="102033"/>
                </a:solidFill>
                <a:latin typeface="Inter ExtraBold" pitchFamily="34" charset="0"/>
                <a:ea typeface="Inter ExtraBold" pitchFamily="34" charset="-122"/>
                <a:cs typeface="Inter ExtraBold" pitchFamily="34" charset="-120"/>
              </a:rPr>
              <a:t>采购寻源</a:t>
            </a:r>
            <a:endParaRPr lang="en-US" sz="600" dirty="0"/>
          </a:p>
        </p:txBody>
      </p:sp>
      <p:sp>
        <p:nvSpPr>
          <p:cNvPr id="11" name="Text 8"/>
          <p:cNvSpPr/>
          <p:nvPr/>
        </p:nvSpPr>
        <p:spPr>
          <a:xfrm>
            <a:off x="1500188" y="1230316"/>
            <a:ext cx="1714500" cy="385763"/>
          </a:xfrm>
          <a:prstGeom prst="rect">
            <a:avLst/>
          </a:prstGeom>
          <a:noFill/>
          <a:ln/>
        </p:spPr>
        <p:txBody>
          <a:bodyPr wrap="square" lIns="8509" tIns="59563" rIns="8509" bIns="8509" rtlCol="0" anchor="t">
            <a:spAutoFit/>
          </a:bodyPr>
          <a:lstStyle/>
          <a:p>
            <a:pPr algn="l" indent="0" marL="0">
              <a:lnSpc>
                <a:spcPct val="98400"/>
              </a:lnSpc>
              <a:buNone/>
            </a:pPr>
            <a:r>
              <a:rPr lang="en-US" sz="600" b="1" dirty="0">
                <a:solidFill>
                  <a:srgbClr val="1E63FF"/>
                </a:solidFill>
                <a:latin typeface="Inter Bold" pitchFamily="34" charset="0"/>
                <a:ea typeface="Inter Bold" pitchFamily="34" charset="-122"/>
                <a:cs typeface="Inter Bold" pitchFamily="34" charset="-120"/>
              </a:rPr>
              <a:t>Claude Enterprise / Cowork / Connectors</a:t>
            </a:r>
            <a:endParaRPr lang="en-US" sz="600" dirty="0"/>
          </a:p>
        </p:txBody>
      </p:sp>
      <p:sp>
        <p:nvSpPr>
          <p:cNvPr id="12" name="Text 9"/>
          <p:cNvSpPr/>
          <p:nvPr/>
        </p:nvSpPr>
        <p:spPr>
          <a:xfrm>
            <a:off x="3214688" y="1230316"/>
            <a:ext cx="2668163" cy="385763"/>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供应商资料整理、RFP 初稿、合同摘要、风险清单、价格与条款比对。</a:t>
            </a:r>
            <a:endParaRPr lang="en-US" sz="650" dirty="0"/>
          </a:p>
        </p:txBody>
      </p:sp>
      <p:sp>
        <p:nvSpPr>
          <p:cNvPr id="13" name="Text 10"/>
          <p:cNvSpPr/>
          <p:nvPr/>
        </p:nvSpPr>
        <p:spPr>
          <a:xfrm>
            <a:off x="5882850" y="1230316"/>
            <a:ext cx="2832525" cy="385763"/>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能力可由文档理解、网页研究和连接器支持；未发现官方供应链客户案例。</a:t>
            </a:r>
            <a:endParaRPr lang="en-US" sz="650" dirty="0"/>
          </a:p>
        </p:txBody>
      </p:sp>
      <p:sp>
        <p:nvSpPr>
          <p:cNvPr id="14" name="Text 11"/>
          <p:cNvSpPr/>
          <p:nvPr/>
        </p:nvSpPr>
        <p:spPr>
          <a:xfrm>
            <a:off x="428625" y="1616078"/>
            <a:ext cx="1071563" cy="385763"/>
          </a:xfrm>
          <a:prstGeom prst="rect">
            <a:avLst/>
          </a:prstGeom>
          <a:noFill/>
          <a:ln/>
        </p:spPr>
        <p:txBody>
          <a:bodyPr wrap="square" lIns="8509" tIns="59563" rIns="8509" bIns="8509" rtlCol="0" anchor="t">
            <a:spAutoFit/>
          </a:bodyPr>
          <a:lstStyle/>
          <a:p>
            <a:pPr algn="l" indent="0" marL="0">
              <a:lnSpc>
                <a:spcPct val="98400"/>
              </a:lnSpc>
              <a:buNone/>
            </a:pPr>
            <a:r>
              <a:rPr lang="en-US" sz="600" b="1" dirty="0">
                <a:solidFill>
                  <a:srgbClr val="102033"/>
                </a:solidFill>
                <a:latin typeface="Inter ExtraBold" pitchFamily="34" charset="0"/>
                <a:ea typeface="Inter ExtraBold" pitchFamily="34" charset="-122"/>
                <a:cs typeface="Inter ExtraBold" pitchFamily="34" charset="-120"/>
              </a:rPr>
              <a:t>供应商合规</a:t>
            </a:r>
            <a:endParaRPr lang="en-US" sz="600" dirty="0"/>
          </a:p>
        </p:txBody>
      </p:sp>
      <p:sp>
        <p:nvSpPr>
          <p:cNvPr id="15" name="Text 12"/>
          <p:cNvSpPr/>
          <p:nvPr/>
        </p:nvSpPr>
        <p:spPr>
          <a:xfrm>
            <a:off x="1500188" y="1616078"/>
            <a:ext cx="1714500" cy="385763"/>
          </a:xfrm>
          <a:prstGeom prst="rect">
            <a:avLst/>
          </a:prstGeom>
          <a:noFill/>
          <a:ln/>
        </p:spPr>
        <p:txBody>
          <a:bodyPr wrap="square" lIns="8509" tIns="59563" rIns="8509" bIns="8509" rtlCol="0" anchor="t">
            <a:spAutoFit/>
          </a:bodyPr>
          <a:lstStyle/>
          <a:p>
            <a:pPr algn="l" indent="0" marL="0">
              <a:lnSpc>
                <a:spcPct val="98400"/>
              </a:lnSpc>
              <a:buNone/>
            </a:pPr>
            <a:r>
              <a:rPr lang="en-US" sz="600" b="1" dirty="0">
                <a:solidFill>
                  <a:srgbClr val="1E63FF"/>
                </a:solidFill>
                <a:latin typeface="Inter Bold" pitchFamily="34" charset="0"/>
                <a:ea typeface="Inter Bold" pitchFamily="34" charset="-122"/>
                <a:cs typeface="Inter Bold" pitchFamily="34" charset="-120"/>
              </a:rPr>
              <a:t>Claude Enterprise / Platform / Files</a:t>
            </a:r>
            <a:endParaRPr lang="en-US" sz="600" dirty="0"/>
          </a:p>
        </p:txBody>
      </p:sp>
      <p:sp>
        <p:nvSpPr>
          <p:cNvPr id="16" name="Text 13"/>
          <p:cNvSpPr/>
          <p:nvPr/>
        </p:nvSpPr>
        <p:spPr>
          <a:xfrm>
            <a:off x="3214688" y="1616078"/>
            <a:ext cx="2668163" cy="385763"/>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认证文件审查、ESG/质量条款比对、审计证据包整理。</a:t>
            </a:r>
            <a:endParaRPr lang="en-US" sz="650" dirty="0"/>
          </a:p>
        </p:txBody>
      </p:sp>
      <p:sp>
        <p:nvSpPr>
          <p:cNvPr id="17" name="Text 14"/>
          <p:cNvSpPr/>
          <p:nvPr/>
        </p:nvSpPr>
        <p:spPr>
          <a:xfrm>
            <a:off x="5882850" y="1616078"/>
            <a:ext cx="2832525" cy="385763"/>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与法律、合规、文档审查近似；需人工核验和权限控制。</a:t>
            </a:r>
            <a:endParaRPr lang="en-US" sz="650" dirty="0"/>
          </a:p>
        </p:txBody>
      </p:sp>
      <p:sp>
        <p:nvSpPr>
          <p:cNvPr id="18" name="Text 15"/>
          <p:cNvSpPr/>
          <p:nvPr/>
        </p:nvSpPr>
        <p:spPr>
          <a:xfrm>
            <a:off x="428625" y="2001841"/>
            <a:ext cx="1071563" cy="385763"/>
          </a:xfrm>
          <a:prstGeom prst="rect">
            <a:avLst/>
          </a:prstGeom>
          <a:noFill/>
          <a:ln/>
        </p:spPr>
        <p:txBody>
          <a:bodyPr wrap="square" lIns="8509" tIns="59563" rIns="8509" bIns="8509" rtlCol="0" anchor="t">
            <a:spAutoFit/>
          </a:bodyPr>
          <a:lstStyle/>
          <a:p>
            <a:pPr algn="l" indent="0" marL="0">
              <a:lnSpc>
                <a:spcPct val="98400"/>
              </a:lnSpc>
              <a:buNone/>
            </a:pPr>
            <a:r>
              <a:rPr lang="en-US" sz="600" b="1" dirty="0">
                <a:solidFill>
                  <a:srgbClr val="102033"/>
                </a:solidFill>
                <a:latin typeface="Inter ExtraBold" pitchFamily="34" charset="0"/>
                <a:ea typeface="Inter ExtraBold" pitchFamily="34" charset="-122"/>
                <a:cs typeface="Inter ExtraBold" pitchFamily="34" charset="-120"/>
              </a:rPr>
              <a:t>订单与物流异常</a:t>
            </a:r>
            <a:endParaRPr lang="en-US" sz="600" dirty="0"/>
          </a:p>
        </p:txBody>
      </p:sp>
      <p:sp>
        <p:nvSpPr>
          <p:cNvPr id="19" name="Text 16"/>
          <p:cNvSpPr/>
          <p:nvPr/>
        </p:nvSpPr>
        <p:spPr>
          <a:xfrm>
            <a:off x="1500188" y="2001841"/>
            <a:ext cx="1714500" cy="385763"/>
          </a:xfrm>
          <a:prstGeom prst="rect">
            <a:avLst/>
          </a:prstGeom>
          <a:noFill/>
          <a:ln/>
        </p:spPr>
        <p:txBody>
          <a:bodyPr wrap="square" lIns="8509" tIns="59563" rIns="8509" bIns="8509" rtlCol="0" anchor="t">
            <a:spAutoFit/>
          </a:bodyPr>
          <a:lstStyle/>
          <a:p>
            <a:pPr algn="l" indent="0" marL="0">
              <a:lnSpc>
                <a:spcPct val="98400"/>
              </a:lnSpc>
              <a:buNone/>
            </a:pPr>
            <a:r>
              <a:rPr lang="en-US" sz="600" b="1" dirty="0">
                <a:solidFill>
                  <a:srgbClr val="1E63FF"/>
                </a:solidFill>
                <a:latin typeface="Inter Bold" pitchFamily="34" charset="0"/>
                <a:ea typeface="Inter Bold" pitchFamily="34" charset="-122"/>
                <a:cs typeface="Inter Bold" pitchFamily="34" charset="-120"/>
              </a:rPr>
              <a:t>Claude Platform / Agents / Tool Use</a:t>
            </a:r>
            <a:endParaRPr lang="en-US" sz="600" dirty="0"/>
          </a:p>
        </p:txBody>
      </p:sp>
      <p:sp>
        <p:nvSpPr>
          <p:cNvPr id="20" name="Text 17"/>
          <p:cNvSpPr/>
          <p:nvPr/>
        </p:nvSpPr>
        <p:spPr>
          <a:xfrm>
            <a:off x="3214688" y="2001841"/>
            <a:ext cx="2668163" cy="385763"/>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读取订单、邮件、运输状态，生成异常解释、客户通知和下一步动作。</a:t>
            </a:r>
            <a:endParaRPr lang="en-US" sz="650" dirty="0"/>
          </a:p>
        </p:txBody>
      </p:sp>
      <p:sp>
        <p:nvSpPr>
          <p:cNvPr id="21" name="Text 18"/>
          <p:cNvSpPr/>
          <p:nvPr/>
        </p:nvSpPr>
        <p:spPr>
          <a:xfrm>
            <a:off x="5882850" y="2001841"/>
            <a:ext cx="2832525" cy="385763"/>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可由 API 与工具调用实现；需接入 ERP/TMS/WMS。</a:t>
            </a:r>
            <a:endParaRPr lang="en-US" sz="650" dirty="0"/>
          </a:p>
        </p:txBody>
      </p:sp>
      <p:sp>
        <p:nvSpPr>
          <p:cNvPr id="22" name="Text 19"/>
          <p:cNvSpPr/>
          <p:nvPr/>
        </p:nvSpPr>
        <p:spPr>
          <a:xfrm>
            <a:off x="428625" y="2387603"/>
            <a:ext cx="1071563" cy="385763"/>
          </a:xfrm>
          <a:prstGeom prst="rect">
            <a:avLst/>
          </a:prstGeom>
          <a:noFill/>
          <a:ln/>
        </p:spPr>
        <p:txBody>
          <a:bodyPr wrap="square" lIns="8509" tIns="59563" rIns="8509" bIns="8509" rtlCol="0" anchor="t">
            <a:spAutoFit/>
          </a:bodyPr>
          <a:lstStyle/>
          <a:p>
            <a:pPr algn="l" indent="0" marL="0">
              <a:lnSpc>
                <a:spcPct val="98400"/>
              </a:lnSpc>
              <a:buNone/>
            </a:pPr>
            <a:r>
              <a:rPr lang="en-US" sz="600" b="1" dirty="0">
                <a:solidFill>
                  <a:srgbClr val="102033"/>
                </a:solidFill>
                <a:latin typeface="Inter ExtraBold" pitchFamily="34" charset="0"/>
                <a:ea typeface="Inter ExtraBold" pitchFamily="34" charset="-122"/>
                <a:cs typeface="Inter ExtraBold" pitchFamily="34" charset="-120"/>
              </a:rPr>
              <a:t>库存与需求分析</a:t>
            </a:r>
            <a:endParaRPr lang="en-US" sz="600" dirty="0"/>
          </a:p>
        </p:txBody>
      </p:sp>
      <p:sp>
        <p:nvSpPr>
          <p:cNvPr id="23" name="Text 20"/>
          <p:cNvSpPr/>
          <p:nvPr/>
        </p:nvSpPr>
        <p:spPr>
          <a:xfrm>
            <a:off x="1500188" y="2387603"/>
            <a:ext cx="1714500" cy="385763"/>
          </a:xfrm>
          <a:prstGeom prst="rect">
            <a:avLst/>
          </a:prstGeom>
          <a:noFill/>
          <a:ln/>
        </p:spPr>
        <p:txBody>
          <a:bodyPr wrap="square" lIns="8509" tIns="59563" rIns="8509" bIns="8509" rtlCol="0" anchor="t">
            <a:spAutoFit/>
          </a:bodyPr>
          <a:lstStyle/>
          <a:p>
            <a:pPr algn="l" indent="0" marL="0">
              <a:lnSpc>
                <a:spcPct val="98400"/>
              </a:lnSpc>
              <a:buNone/>
            </a:pPr>
            <a:r>
              <a:rPr lang="en-US" sz="600" b="1" dirty="0">
                <a:solidFill>
                  <a:srgbClr val="1E63FF"/>
                </a:solidFill>
                <a:latin typeface="Inter Bold" pitchFamily="34" charset="0"/>
                <a:ea typeface="Inter Bold" pitchFamily="34" charset="-122"/>
                <a:cs typeface="Inter Bold" pitchFamily="34" charset="-120"/>
              </a:rPr>
              <a:t>Platform / Batch / Files</a:t>
            </a:r>
            <a:endParaRPr lang="en-US" sz="600" dirty="0"/>
          </a:p>
        </p:txBody>
      </p:sp>
      <p:sp>
        <p:nvSpPr>
          <p:cNvPr id="24" name="Text 21"/>
          <p:cNvSpPr/>
          <p:nvPr/>
        </p:nvSpPr>
        <p:spPr>
          <a:xfrm>
            <a:off x="3214688" y="2387603"/>
            <a:ext cx="2668163" cy="385763"/>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批量生成报告、解释预测偏差、归因缺货或积压原因。</a:t>
            </a:r>
            <a:endParaRPr lang="en-US" sz="650" dirty="0"/>
          </a:p>
        </p:txBody>
      </p:sp>
      <p:sp>
        <p:nvSpPr>
          <p:cNvPr id="25" name="Text 22"/>
          <p:cNvSpPr/>
          <p:nvPr/>
        </p:nvSpPr>
        <p:spPr>
          <a:xfrm>
            <a:off x="5882850" y="2387603"/>
            <a:ext cx="2832525" cy="385763"/>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模型不替代预测系统，更适合作为解释和报告层。</a:t>
            </a:r>
            <a:endParaRPr lang="en-US" sz="650" dirty="0"/>
          </a:p>
        </p:txBody>
      </p:sp>
      <p:sp>
        <p:nvSpPr>
          <p:cNvPr id="26" name="Text 23"/>
          <p:cNvSpPr/>
          <p:nvPr/>
        </p:nvSpPr>
        <p:spPr>
          <a:xfrm>
            <a:off x="428625" y="2773366"/>
            <a:ext cx="1071563" cy="385763"/>
          </a:xfrm>
          <a:prstGeom prst="rect">
            <a:avLst/>
          </a:prstGeom>
          <a:noFill/>
          <a:ln/>
        </p:spPr>
        <p:txBody>
          <a:bodyPr wrap="square" lIns="8509" tIns="59563" rIns="8509" bIns="8509" rtlCol="0" anchor="t">
            <a:spAutoFit/>
          </a:bodyPr>
          <a:lstStyle/>
          <a:p>
            <a:pPr algn="l" indent="0" marL="0">
              <a:lnSpc>
                <a:spcPct val="98400"/>
              </a:lnSpc>
              <a:buNone/>
            </a:pPr>
            <a:r>
              <a:rPr lang="en-US" sz="600" b="1" dirty="0">
                <a:solidFill>
                  <a:srgbClr val="102033"/>
                </a:solidFill>
                <a:latin typeface="Inter ExtraBold" pitchFamily="34" charset="0"/>
                <a:ea typeface="Inter ExtraBold" pitchFamily="34" charset="-122"/>
                <a:cs typeface="Inter ExtraBold" pitchFamily="34" charset="-120"/>
              </a:rPr>
              <a:t>质量与售后</a:t>
            </a:r>
            <a:endParaRPr lang="en-US" sz="600" dirty="0"/>
          </a:p>
        </p:txBody>
      </p:sp>
      <p:sp>
        <p:nvSpPr>
          <p:cNvPr id="27" name="Text 24"/>
          <p:cNvSpPr/>
          <p:nvPr/>
        </p:nvSpPr>
        <p:spPr>
          <a:xfrm>
            <a:off x="1500188" y="2773366"/>
            <a:ext cx="1714500" cy="385763"/>
          </a:xfrm>
          <a:prstGeom prst="rect">
            <a:avLst/>
          </a:prstGeom>
          <a:noFill/>
          <a:ln/>
        </p:spPr>
        <p:txBody>
          <a:bodyPr wrap="square" lIns="8509" tIns="59563" rIns="8509" bIns="8509" rtlCol="0" anchor="t">
            <a:spAutoFit/>
          </a:bodyPr>
          <a:lstStyle/>
          <a:p>
            <a:pPr algn="l" indent="0" marL="0">
              <a:lnSpc>
                <a:spcPct val="98400"/>
              </a:lnSpc>
              <a:buNone/>
            </a:pPr>
            <a:r>
              <a:rPr lang="en-US" sz="600" b="1" dirty="0">
                <a:solidFill>
                  <a:srgbClr val="1E63FF"/>
                </a:solidFill>
                <a:latin typeface="Inter Bold" pitchFamily="34" charset="0"/>
                <a:ea typeface="Inter Bold" pitchFamily="34" charset="-122"/>
                <a:cs typeface="Inter Bold" pitchFamily="34" charset="-120"/>
              </a:rPr>
              <a:t>Enterprise / Cowork / Security</a:t>
            </a:r>
            <a:endParaRPr lang="en-US" sz="600" dirty="0"/>
          </a:p>
        </p:txBody>
      </p:sp>
      <p:sp>
        <p:nvSpPr>
          <p:cNvPr id="28" name="Text 25"/>
          <p:cNvSpPr/>
          <p:nvPr/>
        </p:nvSpPr>
        <p:spPr>
          <a:xfrm>
            <a:off x="3214688" y="2773366"/>
            <a:ext cx="2668163" cy="385763"/>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质检报告摘要、8D 报告初稿、客户投诉归因、知识库答复。</a:t>
            </a:r>
            <a:endParaRPr lang="en-US" sz="650" dirty="0"/>
          </a:p>
        </p:txBody>
      </p:sp>
      <p:sp>
        <p:nvSpPr>
          <p:cNvPr id="29" name="Text 26"/>
          <p:cNvSpPr/>
          <p:nvPr/>
        </p:nvSpPr>
        <p:spPr>
          <a:xfrm>
            <a:off x="5882850" y="2773366"/>
            <a:ext cx="2832525" cy="385763"/>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与客服、运营、质量文档场景近似。</a:t>
            </a:r>
            <a:endParaRPr lang="en-US" sz="650" dirty="0"/>
          </a:p>
        </p:txBody>
      </p:sp>
      <p:sp>
        <p:nvSpPr>
          <p:cNvPr id="30" name="Text 27"/>
          <p:cNvSpPr/>
          <p:nvPr/>
        </p:nvSpPr>
        <p:spPr>
          <a:xfrm>
            <a:off x="428625" y="3159128"/>
            <a:ext cx="1071563" cy="385763"/>
          </a:xfrm>
          <a:prstGeom prst="rect">
            <a:avLst/>
          </a:prstGeom>
          <a:noFill/>
          <a:ln/>
        </p:spPr>
        <p:txBody>
          <a:bodyPr wrap="square" lIns="8509" tIns="59563" rIns="8509" bIns="8509" rtlCol="0" anchor="t">
            <a:spAutoFit/>
          </a:bodyPr>
          <a:lstStyle/>
          <a:p>
            <a:pPr algn="l" indent="0" marL="0">
              <a:lnSpc>
                <a:spcPct val="98400"/>
              </a:lnSpc>
              <a:buNone/>
            </a:pPr>
            <a:r>
              <a:rPr lang="en-US" sz="600" b="1" dirty="0">
                <a:solidFill>
                  <a:srgbClr val="102033"/>
                </a:solidFill>
                <a:latin typeface="Inter ExtraBold" pitchFamily="34" charset="0"/>
                <a:ea typeface="Inter ExtraBold" pitchFamily="34" charset="-122"/>
                <a:cs typeface="Inter ExtraBold" pitchFamily="34" charset="-120"/>
              </a:rPr>
              <a:t>IT 系统现代化</a:t>
            </a:r>
            <a:endParaRPr lang="en-US" sz="600" dirty="0"/>
          </a:p>
        </p:txBody>
      </p:sp>
      <p:sp>
        <p:nvSpPr>
          <p:cNvPr id="31" name="Text 28"/>
          <p:cNvSpPr/>
          <p:nvPr/>
        </p:nvSpPr>
        <p:spPr>
          <a:xfrm>
            <a:off x="1500188" y="3159128"/>
            <a:ext cx="1714500" cy="385763"/>
          </a:xfrm>
          <a:prstGeom prst="rect">
            <a:avLst/>
          </a:prstGeom>
          <a:noFill/>
          <a:ln/>
        </p:spPr>
        <p:txBody>
          <a:bodyPr wrap="square" lIns="8509" tIns="59563" rIns="8509" bIns="8509" rtlCol="0" anchor="t">
            <a:spAutoFit/>
          </a:bodyPr>
          <a:lstStyle/>
          <a:p>
            <a:pPr algn="l" indent="0" marL="0">
              <a:lnSpc>
                <a:spcPct val="98400"/>
              </a:lnSpc>
              <a:buNone/>
            </a:pPr>
            <a:r>
              <a:rPr lang="en-US" sz="600" b="1" dirty="0">
                <a:solidFill>
                  <a:srgbClr val="1E63FF"/>
                </a:solidFill>
                <a:latin typeface="Inter Bold" pitchFamily="34" charset="0"/>
                <a:ea typeface="Inter Bold" pitchFamily="34" charset="-122"/>
                <a:cs typeface="Inter Bold" pitchFamily="34" charset="-120"/>
              </a:rPr>
              <a:t>Claude Code / Platform</a:t>
            </a:r>
            <a:endParaRPr lang="en-US" sz="600" dirty="0"/>
          </a:p>
        </p:txBody>
      </p:sp>
      <p:sp>
        <p:nvSpPr>
          <p:cNvPr id="32" name="Text 29"/>
          <p:cNvSpPr/>
          <p:nvPr/>
        </p:nvSpPr>
        <p:spPr>
          <a:xfrm>
            <a:off x="3214688" y="3159128"/>
            <a:ext cx="2668163" cy="385763"/>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ERP 接口改造、遗留系统迁移、测试生成、漏洞修复。</a:t>
            </a:r>
            <a:endParaRPr lang="en-US" sz="650" dirty="0"/>
          </a:p>
        </p:txBody>
      </p:sp>
      <p:sp>
        <p:nvSpPr>
          <p:cNvPr id="33" name="Text 30"/>
          <p:cNvSpPr/>
          <p:nvPr/>
        </p:nvSpPr>
        <p:spPr>
          <a:xfrm>
            <a:off x="5882850" y="3159128"/>
            <a:ext cx="2832525" cy="385763"/>
          </a:xfrm>
          <a:prstGeom prst="rect">
            <a:avLst/>
          </a:prstGeom>
          <a:noFill/>
          <a:ln/>
        </p:spPr>
        <p:txBody>
          <a:bodyPr wrap="square" lIns="8509" tIns="59563" rIns="8509" bIns="8509" rtlCol="0" anchor="t">
            <a:spAutoFit/>
          </a:bodyPr>
          <a:lstStyle/>
          <a:p>
            <a:pPr algn="l" indent="0" marL="0">
              <a:lnSpc>
                <a:spcPct val="98400"/>
              </a:lnSpc>
              <a:buNone/>
            </a:pPr>
            <a:r>
              <a:rPr lang="en-US" sz="650" dirty="0">
                <a:solidFill>
                  <a:srgbClr val="4B5F73"/>
                </a:solidFill>
                <a:latin typeface="Inter" pitchFamily="34" charset="0"/>
                <a:ea typeface="Inter" pitchFamily="34" charset="-122"/>
                <a:cs typeface="Inter" pitchFamily="34" charset="-120"/>
              </a:rPr>
              <a:t>与工程组织客户案例和 Code 产品定位强相关。</a:t>
            </a:r>
            <a:endParaRPr lang="en-US" sz="650" dirty="0"/>
          </a:p>
        </p:txBody>
      </p:sp>
      <p:sp>
        <p:nvSpPr>
          <p:cNvPr id="34" name="Text 31"/>
          <p:cNvSpPr/>
          <p:nvPr/>
        </p:nvSpPr>
        <p:spPr>
          <a:xfrm>
            <a:off x="428625" y="3648475"/>
            <a:ext cx="8286750" cy="203039"/>
          </a:xfrm>
          <a:prstGeom prst="rect">
            <a:avLst/>
          </a:prstGeom>
          <a:noFill/>
          <a:ln/>
        </p:spPr>
        <p:txBody>
          <a:bodyPr wrap="square" lIns="0" tIns="85090" rIns="0" bIns="0" rtlCol="0" anchor="t">
            <a:spAutoFit/>
          </a:bodyPr>
          <a:lstStyle/>
          <a:p>
            <a:pPr algn="l" indent="0" marL="0">
              <a:lnSpc>
                <a:spcPct val="105600"/>
              </a:lnSpc>
              <a:buNone/>
            </a:pPr>
            <a:r>
              <a:rPr lang="en-US" sz="650" b="1" dirty="0">
                <a:solidFill>
                  <a:srgbClr val="0B8F5A"/>
                </a:solidFill>
                <a:latin typeface="Inter Bold" pitchFamily="34" charset="0"/>
                <a:ea typeface="Inter Bold" pitchFamily="34" charset="-122"/>
                <a:cs typeface="Inter Bold" pitchFamily="34" charset="-120"/>
              </a:rPr>
              <a:t>建议落地顺序：</a:t>
            </a:r>
            <a:r>
              <a:rPr lang="en-US" sz="700" dirty="0">
                <a:solidFill>
                  <a:srgbClr val="4B5F73"/>
                </a:solidFill>
                <a:latin typeface="Inter" pitchFamily="34" charset="0"/>
                <a:ea typeface="Inter" pitchFamily="34" charset="-122"/>
                <a:cs typeface="Inter" pitchFamily="34" charset="-120"/>
              </a:rPr>
              <a:t>先从低风险文档/报告场景试点，再接入只读数据源，最后通过工具调用进入半自动执行流程；所有外发、交易和主数据变更需人工确认。</a:t>
            </a:r>
            <a:endParaRPr lang="en-US" sz="650" dirty="0"/>
          </a:p>
        </p:txBody>
      </p:sp>
      <p:sp>
        <p:nvSpPr>
          <p:cNvPr id="35" name="Text 32"/>
          <p:cNvSpPr/>
          <p:nvPr/>
        </p:nvSpPr>
        <p:spPr>
          <a:xfrm>
            <a:off x="428625" y="3937239"/>
            <a:ext cx="8286750" cy="132857"/>
          </a:xfrm>
          <a:prstGeom prst="rect">
            <a:avLst/>
          </a:prstGeom>
          <a:noFill/>
          <a:ln/>
        </p:spPr>
        <p:txBody>
          <a:bodyPr wrap="none" lIns="0" tIns="42545" rIns="0" bIns="0" rtlCol="0" anchor="t">
            <a:spAutoFit/>
          </a:bodyPr>
          <a:lstStyle/>
          <a:p>
            <a:pPr algn="l" indent="0" marL="0">
              <a:lnSpc>
                <a:spcPct val="96000"/>
              </a:lnSpc>
              <a:buNone/>
            </a:pPr>
            <a:r>
              <a:rPr lang="en-US" sz="550" dirty="0">
                <a:solidFill>
                  <a:srgbClr val="6B7A8A"/>
                </a:solidFill>
                <a:latin typeface="Inter" pitchFamily="34" charset="0"/>
                <a:ea typeface="Inter" pitchFamily="34" charset="-122"/>
                <a:cs typeface="Inter" pitchFamily="34" charset="-120"/>
              </a:rPr>
              <a:t>来源：Anthropic customer pages；Claude Enterprise / Platform / Code / Cowork pages；供应链案例结论为“未发现直接公开案例”。</a:t>
            </a:r>
            <a:endParaRPr lang="en-US" sz="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314325"/>
            <a:ext cx="8286750" cy="98227"/>
          </a:xfrm>
          <a:prstGeom prst="rect">
            <a:avLst/>
          </a:prstGeom>
          <a:noFill/>
          <a:ln/>
        </p:spPr>
        <p:txBody>
          <a:bodyPr wrap="square" lIns="0" tIns="0" rIns="0" bIns="0" rtlCol="0" anchor="t">
            <a:spAutoFit/>
          </a:bodyPr>
          <a:lstStyle/>
          <a:p>
            <a:pPr algn="l" indent="0" marL="0">
              <a:buNone/>
            </a:pPr>
            <a:r>
              <a:rPr lang="en-US" sz="600" b="1" spc="2" kern="0" dirty="0">
                <a:solidFill>
                  <a:srgbClr val="0B8F5A"/>
                </a:solidFill>
                <a:latin typeface="Inter ExtraBold" pitchFamily="34" charset="0"/>
                <a:ea typeface="Inter ExtraBold" pitchFamily="34" charset="-122"/>
                <a:cs typeface="Inter ExtraBold" pitchFamily="34" charset="-120"/>
              </a:rPr>
              <a:t>B2B PRODUCTS</a:t>
            </a:r>
            <a:endParaRPr lang="en-US" sz="600" dirty="0"/>
          </a:p>
        </p:txBody>
      </p:sp>
      <p:sp>
        <p:nvSpPr>
          <p:cNvPr id="4" name="Text 1"/>
          <p:cNvSpPr/>
          <p:nvPr/>
        </p:nvSpPr>
        <p:spPr>
          <a:xfrm>
            <a:off x="428625" y="469702"/>
            <a:ext cx="8286750" cy="267165"/>
          </a:xfrm>
          <a:prstGeom prst="rect">
            <a:avLst/>
          </a:prstGeom>
          <a:noFill/>
          <a:ln/>
        </p:spPr>
        <p:txBody>
          <a:bodyPr wrap="none" lIns="0" tIns="0" rIns="0" bIns="0" rtlCol="0" anchor="t">
            <a:spAutoFit/>
          </a:bodyPr>
          <a:lstStyle/>
          <a:p>
            <a:pPr algn="l" indent="0" marL="0">
              <a:lnSpc>
                <a:spcPct val="88000"/>
              </a:lnSpc>
              <a:buNone/>
            </a:pPr>
            <a:r>
              <a:rPr lang="en-US" sz="1700" b="1" dirty="0">
                <a:solidFill>
                  <a:srgbClr val="102033"/>
                </a:solidFill>
                <a:latin typeface="Inter Bold" pitchFamily="34" charset="0"/>
                <a:ea typeface="Inter Bold" pitchFamily="34" charset="-122"/>
                <a:cs typeface="Inter Bold" pitchFamily="34" charset="-120"/>
              </a:rPr>
              <a:t>To B 产品：API、代码、办公、云与行业方案</a:t>
            </a:r>
            <a:endParaRPr lang="en-US" sz="1700" dirty="0"/>
          </a:p>
        </p:txBody>
      </p:sp>
      <p:sp>
        <p:nvSpPr>
          <p:cNvPr id="5" name="Text 2"/>
          <p:cNvSpPr/>
          <p:nvPr/>
        </p:nvSpPr>
        <p:spPr>
          <a:xfrm>
            <a:off x="428625" y="794017"/>
            <a:ext cx="7715250" cy="140866"/>
          </a:xfrm>
          <a:prstGeom prst="rect">
            <a:avLst/>
          </a:prstGeom>
          <a:noFill/>
          <a:ln/>
        </p:spPr>
        <p:txBody>
          <a:bodyPr wrap="none" lIns="0" tIns="0" rIns="0" bIns="0" rtlCol="0" anchor="t">
            <a:spAutoFit/>
          </a:bodyPr>
          <a:lstStyle/>
          <a:p>
            <a:pPr algn="l" indent="0" marL="0">
              <a:lnSpc>
                <a:spcPct val="108800"/>
              </a:lnSpc>
              <a:buNone/>
            </a:pPr>
            <a:r>
              <a:rPr lang="en-US" sz="750" dirty="0">
                <a:solidFill>
                  <a:srgbClr val="4B5F73"/>
                </a:solidFill>
                <a:latin typeface="Inter" pitchFamily="34" charset="0"/>
                <a:ea typeface="Inter" pitchFamily="34" charset="-122"/>
                <a:cs typeface="Inter" pitchFamily="34" charset="-120"/>
              </a:rPr>
              <a:t>Anthropic 的企业业务由四类产品和一组渠道共同构成：员工工作台、开发者平台、工程代理、流程/安全代理，以及多云采购路径。</a:t>
            </a:r>
            <a:endParaRPr lang="en-US" sz="750" dirty="0"/>
          </a:p>
        </p:txBody>
      </p:sp>
      <p:sp>
        <p:nvSpPr>
          <p:cNvPr id="6" name="Text 3"/>
          <p:cNvSpPr/>
          <p:nvPr/>
        </p:nvSpPr>
        <p:spPr>
          <a:xfrm>
            <a:off x="428625" y="1249207"/>
            <a:ext cx="4021931" cy="173236"/>
          </a:xfrm>
          <a:prstGeom prst="rect">
            <a:avLst/>
          </a:prstGeom>
          <a:noFill/>
          <a:ln/>
        </p:spPr>
        <p:txBody>
          <a:bodyPr wrap="square" lIns="0" tIns="0" rIns="0" bIns="0" rtlCol="0" anchor="t">
            <a:spAutoFit/>
          </a:bodyPr>
          <a:lstStyle/>
          <a:p>
            <a:pPr algn="l" indent="0" marL="0">
              <a:buNone/>
            </a:pPr>
            <a:r>
              <a:rPr lang="en-US" sz="1050" b="1" dirty="0">
                <a:solidFill>
                  <a:srgbClr val="1E63FF"/>
                </a:solidFill>
                <a:latin typeface="Inter Bold" pitchFamily="34" charset="0"/>
                <a:ea typeface="Inter Bold" pitchFamily="34" charset="-122"/>
                <a:cs typeface="Inter Bold" pitchFamily="34" charset="-120"/>
              </a:rPr>
              <a:t>Claude Enterprise</a:t>
            </a:r>
            <a:endParaRPr lang="en-US" sz="1050" dirty="0"/>
          </a:p>
        </p:txBody>
      </p:sp>
      <p:sp>
        <p:nvSpPr>
          <p:cNvPr id="7" name="Text 4"/>
          <p:cNvSpPr/>
          <p:nvPr/>
        </p:nvSpPr>
        <p:spPr>
          <a:xfrm>
            <a:off x="428625" y="1479593"/>
            <a:ext cx="4021931" cy="384758"/>
          </a:xfrm>
          <a:prstGeom prst="rect">
            <a:avLst/>
          </a:prstGeom>
          <a:noFill/>
          <a:ln/>
        </p:spPr>
        <p:txBody>
          <a:bodyPr wrap="square" lIns="0" tIns="0" rIns="0" bIns="0" rtlCol="0" anchor="t">
            <a:spAutoFit/>
          </a:bodyPr>
          <a:lstStyle/>
          <a:p>
            <a:pPr algn="l" indent="0" marL="0">
              <a:lnSpc>
                <a:spcPct val="107200"/>
              </a:lnSpc>
              <a:buNone/>
            </a:pPr>
            <a:r>
              <a:rPr lang="en-US" sz="650" b="1" dirty="0">
                <a:solidFill>
                  <a:srgbClr val="102033"/>
                </a:solidFill>
                <a:latin typeface="Inter Bold" pitchFamily="34" charset="0"/>
                <a:ea typeface="Inter Bold" pitchFamily="34" charset="-122"/>
                <a:cs typeface="Inter Bold" pitchFamily="34" charset="-120"/>
              </a:rPr>
              <a:t>定位：</a:t>
            </a:r>
            <a:r>
              <a:rPr lang="en-US" sz="700" dirty="0">
                <a:solidFill>
                  <a:srgbClr val="4B5F73"/>
                </a:solidFill>
                <a:latin typeface="Inter" pitchFamily="34" charset="0"/>
                <a:ea typeface="Inter" pitchFamily="34" charset="-122"/>
                <a:cs typeface="Inter" pitchFamily="34" charset="-120"/>
              </a:rPr>
              <a:t>企业员工 AI 工作台。</a:t>
            </a:r>
            <a:r>
              <a:rPr lang="en-US" sz="700" dirty="0">
                <a:solidFill>
                  <a:srgbClr val="4B5F73"/>
                </a:solidFill>
                <a:latin typeface="Inter" pitchFamily="34" charset="0"/>
                <a:ea typeface="Inter" pitchFamily="34" charset="-122"/>
                <a:cs typeface="Inter" pitchFamily="34" charset="-120"/>
              </a:rPr>
              <a:t>
</a:t>
            </a:r>
            <a:r>
              <a:rPr lang="en-US" sz="700" dirty="0">
                <a:solidFill>
                  <a:srgbClr val="4B5F73"/>
                </a:solidFill>
                <a:latin typeface="Inter" pitchFamily="34" charset="0"/>
                <a:ea typeface="Inter" pitchFamily="34" charset="-122"/>
                <a:cs typeface="Inter" pitchFamily="34" charset="-120"/>
              </a:rPr>
              <a:t>核心能力包括组织管理、数据承诺、企业连接器、权限、审计和团队级知识组织。适用于知识</a:t>
            </a:r>
            <a:r>
              <a:rPr lang="en-US" sz="700" dirty="0">
                <a:solidFill>
                  <a:srgbClr val="4B5F73"/>
                </a:solidFill>
                <a:latin typeface="Inter" pitchFamily="34" charset="0"/>
                <a:ea typeface="Inter" pitchFamily="34" charset="-122"/>
                <a:cs typeface="Inter" pitchFamily="34" charset="-120"/>
              </a:rPr>
              <a:t>工作、文档分析、部门助理和跨系统研究。</a:t>
            </a:r>
            <a:endParaRPr lang="en-US" sz="650" dirty="0"/>
          </a:p>
        </p:txBody>
      </p:sp>
      <p:sp>
        <p:nvSpPr>
          <p:cNvPr id="8" name="Text 5"/>
          <p:cNvSpPr/>
          <p:nvPr/>
        </p:nvSpPr>
        <p:spPr>
          <a:xfrm>
            <a:off x="4693444" y="1249207"/>
            <a:ext cx="4021931" cy="173236"/>
          </a:xfrm>
          <a:prstGeom prst="rect">
            <a:avLst/>
          </a:prstGeom>
          <a:noFill/>
          <a:ln/>
        </p:spPr>
        <p:txBody>
          <a:bodyPr wrap="square" lIns="0" tIns="0" rIns="0" bIns="0" rtlCol="0" anchor="t">
            <a:spAutoFit/>
          </a:bodyPr>
          <a:lstStyle/>
          <a:p>
            <a:pPr algn="l" indent="0" marL="0">
              <a:buNone/>
            </a:pPr>
            <a:r>
              <a:rPr lang="en-US" sz="1050" b="1" dirty="0">
                <a:solidFill>
                  <a:srgbClr val="1E63FF"/>
                </a:solidFill>
                <a:latin typeface="Inter Bold" pitchFamily="34" charset="0"/>
                <a:ea typeface="Inter Bold" pitchFamily="34" charset="-122"/>
                <a:cs typeface="Inter Bold" pitchFamily="34" charset="-120"/>
              </a:rPr>
              <a:t>Claude Platform / API</a:t>
            </a:r>
            <a:endParaRPr lang="en-US" sz="1050" dirty="0"/>
          </a:p>
        </p:txBody>
      </p:sp>
      <p:sp>
        <p:nvSpPr>
          <p:cNvPr id="9" name="Text 6"/>
          <p:cNvSpPr/>
          <p:nvPr/>
        </p:nvSpPr>
        <p:spPr>
          <a:xfrm>
            <a:off x="4693444" y="1479593"/>
            <a:ext cx="4021931" cy="384758"/>
          </a:xfrm>
          <a:prstGeom prst="rect">
            <a:avLst/>
          </a:prstGeom>
          <a:noFill/>
          <a:ln/>
        </p:spPr>
        <p:txBody>
          <a:bodyPr wrap="square" lIns="0" tIns="0" rIns="0" bIns="0" rtlCol="0" anchor="t">
            <a:spAutoFit/>
          </a:bodyPr>
          <a:lstStyle/>
          <a:p>
            <a:pPr algn="l" indent="0" marL="0">
              <a:lnSpc>
                <a:spcPct val="107200"/>
              </a:lnSpc>
              <a:buNone/>
            </a:pPr>
            <a:r>
              <a:rPr lang="en-US" sz="650" b="1" dirty="0">
                <a:solidFill>
                  <a:srgbClr val="102033"/>
                </a:solidFill>
                <a:latin typeface="Inter Bold" pitchFamily="34" charset="0"/>
                <a:ea typeface="Inter Bold" pitchFamily="34" charset="-122"/>
                <a:cs typeface="Inter Bold" pitchFamily="34" charset="-120"/>
              </a:rPr>
              <a:t>定位：</a:t>
            </a:r>
            <a:r>
              <a:rPr lang="en-US" sz="700" dirty="0">
                <a:solidFill>
                  <a:srgbClr val="4B5F73"/>
                </a:solidFill>
                <a:latin typeface="Inter" pitchFamily="34" charset="0"/>
                <a:ea typeface="Inter" pitchFamily="34" charset="-122"/>
                <a:cs typeface="Inter" pitchFamily="34" charset="-120"/>
              </a:rPr>
              <a:t>开发者与企业 AI 平台底座。</a:t>
            </a:r>
            <a:r>
              <a:rPr lang="en-US" sz="700" dirty="0">
                <a:solidFill>
                  <a:srgbClr val="4B5F73"/>
                </a:solidFill>
                <a:latin typeface="Inter" pitchFamily="34" charset="0"/>
                <a:ea typeface="Inter" pitchFamily="34" charset="-122"/>
                <a:cs typeface="Inter" pitchFamily="34" charset="-120"/>
              </a:rPr>
              <a:t>
</a:t>
            </a:r>
            <a:r>
              <a:rPr lang="en-US" sz="700" dirty="0">
                <a:solidFill>
                  <a:srgbClr val="4B5F73"/>
                </a:solidFill>
                <a:latin typeface="Inter" pitchFamily="34" charset="0"/>
                <a:ea typeface="Inter" pitchFamily="34" charset="-122"/>
                <a:cs typeface="Inter" pitchFamily="34" charset="-120"/>
              </a:rPr>
              <a:t>通过 Messages、Batches、Files、Tool Use、Agents、Sessions 等能力，把 Claude 嵌入自有</a:t>
            </a:r>
            <a:r>
              <a:rPr lang="en-US" sz="700" dirty="0">
                <a:solidFill>
                  <a:srgbClr val="4B5F73"/>
                </a:solidFill>
                <a:latin typeface="Inter" pitchFamily="34" charset="0"/>
                <a:ea typeface="Inter" pitchFamily="34" charset="-122"/>
                <a:cs typeface="Inter" pitchFamily="34" charset="-120"/>
              </a:rPr>
              <a:t>产品、客户系统和后台流程。</a:t>
            </a:r>
            <a:endParaRPr lang="en-US" sz="650" dirty="0"/>
          </a:p>
        </p:txBody>
      </p:sp>
      <p:sp>
        <p:nvSpPr>
          <p:cNvPr id="10" name="Text 7"/>
          <p:cNvSpPr/>
          <p:nvPr/>
        </p:nvSpPr>
        <p:spPr>
          <a:xfrm>
            <a:off x="428625" y="2477932"/>
            <a:ext cx="4021931" cy="173236"/>
          </a:xfrm>
          <a:prstGeom prst="rect">
            <a:avLst/>
          </a:prstGeom>
          <a:noFill/>
          <a:ln/>
        </p:spPr>
        <p:txBody>
          <a:bodyPr wrap="square" lIns="0" tIns="0" rIns="0" bIns="0" rtlCol="0" anchor="t">
            <a:spAutoFit/>
          </a:bodyPr>
          <a:lstStyle/>
          <a:p>
            <a:pPr algn="l" indent="0" marL="0">
              <a:buNone/>
            </a:pPr>
            <a:r>
              <a:rPr lang="en-US" sz="1050" b="1" dirty="0">
                <a:solidFill>
                  <a:srgbClr val="1E63FF"/>
                </a:solidFill>
                <a:latin typeface="Inter Bold" pitchFamily="34" charset="0"/>
                <a:ea typeface="Inter Bold" pitchFamily="34" charset="-122"/>
                <a:cs typeface="Inter Bold" pitchFamily="34" charset="-120"/>
              </a:rPr>
              <a:t>Claude Code / Code Enterprise</a:t>
            </a:r>
            <a:endParaRPr lang="en-US" sz="1050" dirty="0"/>
          </a:p>
        </p:txBody>
      </p:sp>
      <p:sp>
        <p:nvSpPr>
          <p:cNvPr id="11" name="Text 8"/>
          <p:cNvSpPr/>
          <p:nvPr/>
        </p:nvSpPr>
        <p:spPr>
          <a:xfrm>
            <a:off x="428625" y="2708318"/>
            <a:ext cx="4021931" cy="384758"/>
          </a:xfrm>
          <a:prstGeom prst="rect">
            <a:avLst/>
          </a:prstGeom>
          <a:noFill/>
          <a:ln/>
        </p:spPr>
        <p:txBody>
          <a:bodyPr wrap="square" lIns="0" tIns="0" rIns="0" bIns="0" rtlCol="0" anchor="t">
            <a:spAutoFit/>
          </a:bodyPr>
          <a:lstStyle/>
          <a:p>
            <a:pPr algn="l" indent="0" marL="0">
              <a:lnSpc>
                <a:spcPct val="107200"/>
              </a:lnSpc>
              <a:buNone/>
            </a:pPr>
            <a:r>
              <a:rPr lang="en-US" sz="650" b="1" dirty="0">
                <a:solidFill>
                  <a:srgbClr val="102033"/>
                </a:solidFill>
                <a:latin typeface="Inter Bold" pitchFamily="34" charset="0"/>
                <a:ea typeface="Inter Bold" pitchFamily="34" charset="-122"/>
                <a:cs typeface="Inter Bold" pitchFamily="34" charset="-120"/>
              </a:rPr>
              <a:t>定位：</a:t>
            </a:r>
            <a:r>
              <a:rPr lang="en-US" sz="700" dirty="0">
                <a:solidFill>
                  <a:srgbClr val="4B5F73"/>
                </a:solidFill>
                <a:latin typeface="Inter" pitchFamily="34" charset="0"/>
                <a:ea typeface="Inter" pitchFamily="34" charset="-122"/>
                <a:cs typeface="Inter" pitchFamily="34" charset="-120"/>
              </a:rPr>
              <a:t>工程组织 AI 代理。</a:t>
            </a:r>
            <a:r>
              <a:rPr lang="en-US" sz="700" dirty="0">
                <a:solidFill>
                  <a:srgbClr val="4B5F73"/>
                </a:solidFill>
                <a:latin typeface="Inter" pitchFamily="34" charset="0"/>
                <a:ea typeface="Inter" pitchFamily="34" charset="-122"/>
                <a:cs typeface="Inter" pitchFamily="34" charset="-120"/>
              </a:rPr>
              <a:t>
</a:t>
            </a:r>
            <a:r>
              <a:rPr lang="en-US" sz="700" dirty="0">
                <a:solidFill>
                  <a:srgbClr val="4B5F73"/>
                </a:solidFill>
                <a:latin typeface="Inter" pitchFamily="34" charset="0"/>
                <a:ea typeface="Inter" pitchFamily="34" charset="-122"/>
                <a:cs typeface="Inter" pitchFamily="34" charset="-120"/>
              </a:rPr>
              <a:t>面向大型代码库理解、代码迁移、调试、测试生成、安全修复和工程知识沉淀，是 Anthropic </a:t>
            </a:r>
            <a:r>
              <a:rPr lang="en-US" sz="700" dirty="0">
                <a:solidFill>
                  <a:srgbClr val="4B5F73"/>
                </a:solidFill>
                <a:latin typeface="Inter" pitchFamily="34" charset="0"/>
                <a:ea typeface="Inter" pitchFamily="34" charset="-122"/>
                <a:cs typeface="Inter" pitchFamily="34" charset="-120"/>
              </a:rPr>
              <a:t>企业产品中 ROI 最清晰的方向之一。</a:t>
            </a:r>
            <a:endParaRPr lang="en-US" sz="650" dirty="0"/>
          </a:p>
        </p:txBody>
      </p:sp>
      <p:sp>
        <p:nvSpPr>
          <p:cNvPr id="12" name="Text 9"/>
          <p:cNvSpPr/>
          <p:nvPr/>
        </p:nvSpPr>
        <p:spPr>
          <a:xfrm>
            <a:off x="4693444" y="2477932"/>
            <a:ext cx="4021931" cy="173236"/>
          </a:xfrm>
          <a:prstGeom prst="rect">
            <a:avLst/>
          </a:prstGeom>
          <a:noFill/>
          <a:ln/>
        </p:spPr>
        <p:txBody>
          <a:bodyPr wrap="square" lIns="0" tIns="0" rIns="0" bIns="0" rtlCol="0" anchor="t">
            <a:spAutoFit/>
          </a:bodyPr>
          <a:lstStyle/>
          <a:p>
            <a:pPr algn="l" indent="0" marL="0">
              <a:buNone/>
            </a:pPr>
            <a:r>
              <a:rPr lang="en-US" sz="1050" b="1" dirty="0">
                <a:solidFill>
                  <a:srgbClr val="1E63FF"/>
                </a:solidFill>
                <a:latin typeface="Inter Bold" pitchFamily="34" charset="0"/>
                <a:ea typeface="Inter Bold" pitchFamily="34" charset="-122"/>
                <a:cs typeface="Inter Bold" pitchFamily="34" charset="-120"/>
              </a:rPr>
              <a:t>Cowork / Security / Connectors</a:t>
            </a:r>
            <a:endParaRPr lang="en-US" sz="1050" dirty="0"/>
          </a:p>
        </p:txBody>
      </p:sp>
      <p:sp>
        <p:nvSpPr>
          <p:cNvPr id="13" name="Text 10"/>
          <p:cNvSpPr/>
          <p:nvPr/>
        </p:nvSpPr>
        <p:spPr>
          <a:xfrm>
            <a:off x="4693444" y="2708318"/>
            <a:ext cx="4021931" cy="384758"/>
          </a:xfrm>
          <a:prstGeom prst="rect">
            <a:avLst/>
          </a:prstGeom>
          <a:noFill/>
          <a:ln/>
        </p:spPr>
        <p:txBody>
          <a:bodyPr wrap="square" lIns="0" tIns="0" rIns="0" bIns="0" rtlCol="0" anchor="t">
            <a:spAutoFit/>
          </a:bodyPr>
          <a:lstStyle/>
          <a:p>
            <a:pPr algn="l" indent="0" marL="0">
              <a:lnSpc>
                <a:spcPct val="107200"/>
              </a:lnSpc>
              <a:buNone/>
            </a:pPr>
            <a:r>
              <a:rPr lang="en-US" sz="650" b="1" dirty="0">
                <a:solidFill>
                  <a:srgbClr val="102033"/>
                </a:solidFill>
                <a:latin typeface="Inter Bold" pitchFamily="34" charset="0"/>
                <a:ea typeface="Inter Bold" pitchFamily="34" charset="-122"/>
                <a:cs typeface="Inter Bold" pitchFamily="34" charset="-120"/>
              </a:rPr>
              <a:t>定位：</a:t>
            </a:r>
            <a:r>
              <a:rPr lang="en-US" sz="700" dirty="0">
                <a:solidFill>
                  <a:srgbClr val="4B5F73"/>
                </a:solidFill>
                <a:latin typeface="Inter" pitchFamily="34" charset="0"/>
                <a:ea typeface="Inter" pitchFamily="34" charset="-122"/>
                <a:cs typeface="Inter" pitchFamily="34" charset="-120"/>
              </a:rPr>
              <a:t>流程自动化与专业场景包装。</a:t>
            </a:r>
            <a:r>
              <a:rPr lang="en-US" sz="700" dirty="0">
                <a:solidFill>
                  <a:srgbClr val="4B5F73"/>
                </a:solidFill>
                <a:latin typeface="Inter" pitchFamily="34" charset="0"/>
                <a:ea typeface="Inter" pitchFamily="34" charset="-122"/>
                <a:cs typeface="Inter" pitchFamily="34" charset="-120"/>
              </a:rPr>
              <a:t>
</a:t>
            </a:r>
            <a:r>
              <a:rPr lang="en-US" sz="700" dirty="0">
                <a:solidFill>
                  <a:srgbClr val="4B5F73"/>
                </a:solidFill>
                <a:latin typeface="Inter" pitchFamily="34" charset="0"/>
                <a:ea typeface="Inter" pitchFamily="34" charset="-122"/>
                <a:cs typeface="Inter" pitchFamily="34" charset="-120"/>
              </a:rPr>
              <a:t>Cowork 承接非编码运营流程；Security 服务安全团队；Connectors、Skills、MCP 负责把企业</a:t>
            </a:r>
            <a:r>
              <a:rPr lang="en-US" sz="700" dirty="0">
                <a:solidFill>
                  <a:srgbClr val="4B5F73"/>
                </a:solidFill>
                <a:latin typeface="Inter" pitchFamily="34" charset="0"/>
                <a:ea typeface="Inter" pitchFamily="34" charset="-122"/>
                <a:cs typeface="Inter" pitchFamily="34" charset="-120"/>
              </a:rPr>
              <a:t>数据和 SOP 接入 Claude。</a:t>
            </a:r>
            <a:endParaRPr lang="en-US" sz="650" dirty="0"/>
          </a:p>
        </p:txBody>
      </p:sp>
      <p:sp>
        <p:nvSpPr>
          <p:cNvPr id="14" name="Text 11"/>
          <p:cNvSpPr/>
          <p:nvPr/>
        </p:nvSpPr>
        <p:spPr>
          <a:xfrm>
            <a:off x="428625" y="3720945"/>
            <a:ext cx="2647931" cy="118876"/>
          </a:xfrm>
          <a:prstGeom prst="rect">
            <a:avLst/>
          </a:prstGeom>
          <a:noFill/>
          <a:ln/>
        </p:spPr>
        <p:txBody>
          <a:bodyPr wrap="none" lIns="0" tIns="0" rIns="0" bIns="0" rtlCol="0" anchor="t">
            <a:spAutoFit/>
          </a:bodyPr>
          <a:lstStyle/>
          <a:p>
            <a:pPr algn="l" indent="0" marL="0">
              <a:lnSpc>
                <a:spcPct val="104000"/>
              </a:lnSpc>
              <a:buNone/>
            </a:pPr>
            <a:r>
              <a:rPr lang="en-US" sz="600" b="1" dirty="0">
                <a:solidFill>
                  <a:srgbClr val="0B8F5A"/>
                </a:solidFill>
                <a:latin typeface="Inter Bold" pitchFamily="34" charset="0"/>
                <a:ea typeface="Inter Bold" pitchFamily="34" charset="-122"/>
                <a:cs typeface="Inter Bold" pitchFamily="34" charset="-120"/>
              </a:rPr>
              <a:t>采购路径</a:t>
            </a:r>
            <a:endParaRPr lang="en-US" sz="600" dirty="0"/>
          </a:p>
        </p:txBody>
      </p:sp>
      <p:sp>
        <p:nvSpPr>
          <p:cNvPr id="15" name="Text 12"/>
          <p:cNvSpPr/>
          <p:nvPr/>
        </p:nvSpPr>
        <p:spPr>
          <a:xfrm>
            <a:off x="428625" y="3868396"/>
            <a:ext cx="2540412" cy="101798"/>
          </a:xfrm>
          <a:prstGeom prst="rect">
            <a:avLst/>
          </a:prstGeom>
          <a:noFill/>
          <a:ln/>
        </p:spPr>
        <p:txBody>
          <a:bodyPr wrap="none" lIns="0" tIns="0" rIns="0" bIns="0" rtlCol="0" anchor="t">
            <a:spAutoFit/>
          </a:bodyPr>
          <a:lstStyle/>
          <a:p>
            <a:pPr algn="l" indent="0" marL="0">
              <a:lnSpc>
                <a:spcPct val="104000"/>
              </a:lnSpc>
              <a:buNone/>
            </a:pPr>
            <a:r>
              <a:rPr lang="en-US" sz="650" dirty="0">
                <a:solidFill>
                  <a:srgbClr val="4B5F73"/>
                </a:solidFill>
                <a:latin typeface="Inter" pitchFamily="34" charset="0"/>
                <a:ea typeface="Inter" pitchFamily="34" charset="-122"/>
                <a:cs typeface="Inter" pitchFamily="34" charset="-120"/>
              </a:rPr>
              <a:t>Direct、Enterprise plan、AWS/GCP/Microsoft、Marketplace。</a:t>
            </a:r>
            <a:endParaRPr lang="en-US" sz="650" dirty="0"/>
          </a:p>
        </p:txBody>
      </p:sp>
      <p:sp>
        <p:nvSpPr>
          <p:cNvPr id="16" name="Text 13"/>
          <p:cNvSpPr/>
          <p:nvPr/>
        </p:nvSpPr>
        <p:spPr>
          <a:xfrm>
            <a:off x="3248006" y="3720945"/>
            <a:ext cx="2647959" cy="118876"/>
          </a:xfrm>
          <a:prstGeom prst="rect">
            <a:avLst/>
          </a:prstGeom>
          <a:noFill/>
          <a:ln/>
        </p:spPr>
        <p:txBody>
          <a:bodyPr wrap="none" lIns="0" tIns="0" rIns="0" bIns="0" rtlCol="0" anchor="t">
            <a:spAutoFit/>
          </a:bodyPr>
          <a:lstStyle/>
          <a:p>
            <a:pPr algn="l" indent="0" marL="0">
              <a:lnSpc>
                <a:spcPct val="104000"/>
              </a:lnSpc>
              <a:buNone/>
            </a:pPr>
            <a:r>
              <a:rPr lang="en-US" sz="600" b="1" dirty="0">
                <a:solidFill>
                  <a:srgbClr val="0B8F5A"/>
                </a:solidFill>
                <a:latin typeface="Inter Bold" pitchFamily="34" charset="0"/>
                <a:ea typeface="Inter Bold" pitchFamily="34" charset="-122"/>
                <a:cs typeface="Inter Bold" pitchFamily="34" charset="-120"/>
              </a:rPr>
              <a:t>关键评估</a:t>
            </a:r>
            <a:endParaRPr lang="en-US" sz="600" dirty="0"/>
          </a:p>
        </p:txBody>
      </p:sp>
      <p:sp>
        <p:nvSpPr>
          <p:cNvPr id="17" name="Text 14"/>
          <p:cNvSpPr/>
          <p:nvPr/>
        </p:nvSpPr>
        <p:spPr>
          <a:xfrm>
            <a:off x="3248006" y="3868396"/>
            <a:ext cx="2277070" cy="101798"/>
          </a:xfrm>
          <a:prstGeom prst="rect">
            <a:avLst/>
          </a:prstGeom>
          <a:noFill/>
          <a:ln/>
        </p:spPr>
        <p:txBody>
          <a:bodyPr wrap="none" lIns="0" tIns="0" rIns="0" bIns="0" rtlCol="0" anchor="t">
            <a:spAutoFit/>
          </a:bodyPr>
          <a:lstStyle/>
          <a:p>
            <a:pPr algn="l" indent="0" marL="0">
              <a:lnSpc>
                <a:spcPct val="104000"/>
              </a:lnSpc>
              <a:buNone/>
            </a:pPr>
            <a:r>
              <a:rPr lang="en-US" sz="650" dirty="0">
                <a:solidFill>
                  <a:srgbClr val="4B5F73"/>
                </a:solidFill>
                <a:latin typeface="Inter" pitchFamily="34" charset="0"/>
                <a:ea typeface="Inter" pitchFamily="34" charset="-122"/>
                <a:cs typeface="Inter" pitchFamily="34" charset="-120"/>
              </a:rPr>
              <a:t>数据承诺、合规、权限、审计、模型能力、成本和延迟。</a:t>
            </a:r>
            <a:endParaRPr lang="en-US" sz="650" dirty="0"/>
          </a:p>
        </p:txBody>
      </p:sp>
      <p:sp>
        <p:nvSpPr>
          <p:cNvPr id="18" name="Text 15"/>
          <p:cNvSpPr/>
          <p:nvPr/>
        </p:nvSpPr>
        <p:spPr>
          <a:xfrm>
            <a:off x="6067416" y="3720945"/>
            <a:ext cx="2647931" cy="118876"/>
          </a:xfrm>
          <a:prstGeom prst="rect">
            <a:avLst/>
          </a:prstGeom>
          <a:noFill/>
          <a:ln/>
        </p:spPr>
        <p:txBody>
          <a:bodyPr wrap="none" lIns="0" tIns="0" rIns="0" bIns="0" rtlCol="0" anchor="t">
            <a:spAutoFit/>
          </a:bodyPr>
          <a:lstStyle/>
          <a:p>
            <a:pPr algn="l" indent="0" marL="0">
              <a:lnSpc>
                <a:spcPct val="104000"/>
              </a:lnSpc>
              <a:buNone/>
            </a:pPr>
            <a:r>
              <a:rPr lang="en-US" sz="600" b="1" dirty="0">
                <a:solidFill>
                  <a:srgbClr val="0B8F5A"/>
                </a:solidFill>
                <a:latin typeface="Inter Bold" pitchFamily="34" charset="0"/>
                <a:ea typeface="Inter Bold" pitchFamily="34" charset="-122"/>
                <a:cs typeface="Inter Bold" pitchFamily="34" charset="-120"/>
              </a:rPr>
              <a:t>落地方法</a:t>
            </a:r>
            <a:endParaRPr lang="en-US" sz="600" dirty="0"/>
          </a:p>
        </p:txBody>
      </p:sp>
      <p:sp>
        <p:nvSpPr>
          <p:cNvPr id="19" name="Text 16"/>
          <p:cNvSpPr/>
          <p:nvPr/>
        </p:nvSpPr>
        <p:spPr>
          <a:xfrm>
            <a:off x="6067416" y="3868396"/>
            <a:ext cx="2459236" cy="101798"/>
          </a:xfrm>
          <a:prstGeom prst="rect">
            <a:avLst/>
          </a:prstGeom>
          <a:noFill/>
          <a:ln/>
        </p:spPr>
        <p:txBody>
          <a:bodyPr wrap="none" lIns="0" tIns="0" rIns="0" bIns="0" rtlCol="0" anchor="t">
            <a:spAutoFit/>
          </a:bodyPr>
          <a:lstStyle/>
          <a:p>
            <a:pPr algn="l" indent="0" marL="0">
              <a:lnSpc>
                <a:spcPct val="104000"/>
              </a:lnSpc>
              <a:buNone/>
            </a:pPr>
            <a:r>
              <a:rPr lang="en-US" sz="650" dirty="0">
                <a:solidFill>
                  <a:srgbClr val="4B5F73"/>
                </a:solidFill>
                <a:latin typeface="Inter" pitchFamily="34" charset="0"/>
                <a:ea typeface="Inter" pitchFamily="34" charset="-122"/>
                <a:cs typeface="Inter" pitchFamily="34" charset="-120"/>
              </a:rPr>
              <a:t>从低风险知识工作开始，再向系统集成和执行型智能体扩展。</a:t>
            </a:r>
            <a:endParaRPr lang="en-US" sz="650" dirty="0"/>
          </a:p>
        </p:txBody>
      </p:sp>
      <p:sp>
        <p:nvSpPr>
          <p:cNvPr id="20" name="Text 17"/>
          <p:cNvSpPr/>
          <p:nvPr/>
        </p:nvSpPr>
        <p:spPr>
          <a:xfrm>
            <a:off x="428625" y="4072998"/>
            <a:ext cx="8286750" cy="133722"/>
          </a:xfrm>
          <a:prstGeom prst="rect">
            <a:avLst/>
          </a:prstGeom>
          <a:noFill/>
          <a:ln/>
        </p:spPr>
        <p:txBody>
          <a:bodyPr wrap="none" lIns="0" tIns="42545" rIns="0" bIns="0" rtlCol="0" anchor="t">
            <a:spAutoFit/>
          </a:bodyPr>
          <a:lstStyle/>
          <a:p>
            <a:pPr algn="l" indent="0" marL="0">
              <a:lnSpc>
                <a:spcPct val="96000"/>
              </a:lnSpc>
              <a:buNone/>
            </a:pPr>
            <a:r>
              <a:rPr lang="en-US" sz="550" dirty="0">
                <a:solidFill>
                  <a:srgbClr val="6B7A8A"/>
                </a:solidFill>
                <a:latin typeface="Inter" pitchFamily="34" charset="0"/>
                <a:ea typeface="Inter" pitchFamily="34" charset="-122"/>
                <a:cs typeface="Inter" pitchFamily="34" charset="-120"/>
              </a:rPr>
              <a:t>来源：Claude Enterprise；Claude Platform docs；Claude Code / Cowork / Security / Connectors official pages；pricing and cloud partner pages。</a:t>
            </a:r>
            <a:endParaRPr lang="en-US" sz="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328613"/>
            <a:ext cx="8286750" cy="98227"/>
          </a:xfrm>
          <a:prstGeom prst="rect">
            <a:avLst/>
          </a:prstGeom>
          <a:noFill/>
          <a:ln/>
        </p:spPr>
        <p:txBody>
          <a:bodyPr wrap="square" lIns="0" tIns="0" rIns="0" bIns="0" rtlCol="0" anchor="t">
            <a:spAutoFit/>
          </a:bodyPr>
          <a:lstStyle/>
          <a:p>
            <a:pPr algn="l" indent="0" marL="0">
              <a:buNone/>
            </a:pPr>
            <a:r>
              <a:rPr lang="en-US" sz="600" b="1" spc="2" kern="0" dirty="0">
                <a:solidFill>
                  <a:srgbClr val="0B8F5A"/>
                </a:solidFill>
                <a:latin typeface="Inter ExtraBold" pitchFamily="34" charset="0"/>
                <a:ea typeface="Inter ExtraBold" pitchFamily="34" charset="-122"/>
                <a:cs typeface="Inter ExtraBold" pitchFamily="34" charset="-120"/>
              </a:rPr>
              <a:t>CUSTOMERS &amp; BUSINESS</a:t>
            </a:r>
            <a:endParaRPr lang="en-US" sz="600" dirty="0"/>
          </a:p>
        </p:txBody>
      </p:sp>
      <p:sp>
        <p:nvSpPr>
          <p:cNvPr id="4" name="Text 1"/>
          <p:cNvSpPr/>
          <p:nvPr/>
        </p:nvSpPr>
        <p:spPr>
          <a:xfrm>
            <a:off x="428625" y="498277"/>
            <a:ext cx="8286750" cy="275034"/>
          </a:xfrm>
          <a:prstGeom prst="rect">
            <a:avLst/>
          </a:prstGeom>
          <a:noFill/>
          <a:ln/>
        </p:spPr>
        <p:txBody>
          <a:bodyPr wrap="none" lIns="0" tIns="0" rIns="0" bIns="0" rtlCol="0" anchor="t">
            <a:spAutoFit/>
          </a:bodyPr>
          <a:lstStyle/>
          <a:p>
            <a:pPr algn="l" indent="0" marL="0">
              <a:lnSpc>
                <a:spcPct val="88000"/>
              </a:lnSpc>
              <a:buNone/>
            </a:pPr>
            <a:r>
              <a:rPr lang="en-US" sz="1750" b="1" dirty="0">
                <a:solidFill>
                  <a:srgbClr val="102033"/>
                </a:solidFill>
                <a:latin typeface="Inter Bold" pitchFamily="34" charset="0"/>
                <a:ea typeface="Inter Bold" pitchFamily="34" charset="-122"/>
                <a:cs typeface="Inter Bold" pitchFamily="34" charset="-120"/>
              </a:rPr>
              <a:t>商业化：客户案例、云伙伴与企业入口</a:t>
            </a:r>
            <a:endParaRPr lang="en-US" sz="1750" dirty="0"/>
          </a:p>
        </p:txBody>
      </p:sp>
      <p:sp>
        <p:nvSpPr>
          <p:cNvPr id="5" name="Text 2"/>
          <p:cNvSpPr/>
          <p:nvPr/>
        </p:nvSpPr>
        <p:spPr>
          <a:xfrm>
            <a:off x="428625" y="844748"/>
            <a:ext cx="7715250" cy="152140"/>
          </a:xfrm>
          <a:prstGeom prst="rect">
            <a:avLst/>
          </a:prstGeom>
          <a:noFill/>
          <a:ln/>
        </p:spPr>
        <p:txBody>
          <a:bodyPr wrap="none" lIns="0" tIns="0" rIns="0" bIns="0" rtlCol="0" anchor="t">
            <a:spAutoFit/>
          </a:bodyPr>
          <a:lstStyle/>
          <a:p>
            <a:pPr algn="l" indent="0" marL="0">
              <a:lnSpc>
                <a:spcPct val="113600"/>
              </a:lnSpc>
              <a:buNone/>
            </a:pPr>
            <a:r>
              <a:rPr lang="en-US" sz="800" dirty="0">
                <a:solidFill>
                  <a:srgbClr val="4B5F73"/>
                </a:solidFill>
                <a:latin typeface="Inter" pitchFamily="34" charset="0"/>
                <a:ea typeface="Inter" pitchFamily="34" charset="-122"/>
                <a:cs typeface="Inter" pitchFamily="34" charset="-120"/>
              </a:rPr>
              <a:t>Anthropic 的 To B 增长依赖三类抓手：公开客户案例形成可信背书，云渠道降低采购摩擦，企业应用与 API 同时覆盖业务和技术买方。</a:t>
            </a:r>
            <a:endParaRPr lang="en-US" sz="800" dirty="0"/>
          </a:p>
        </p:txBody>
      </p:sp>
      <p:sp>
        <p:nvSpPr>
          <p:cNvPr id="6" name="Text 3"/>
          <p:cNvSpPr/>
          <p:nvPr/>
        </p:nvSpPr>
        <p:spPr>
          <a:xfrm>
            <a:off x="428625" y="1261207"/>
            <a:ext cx="3979069" cy="248245"/>
          </a:xfrm>
          <a:prstGeom prst="rect">
            <a:avLst/>
          </a:prstGeom>
          <a:noFill/>
          <a:ln/>
        </p:spPr>
        <p:txBody>
          <a:bodyPr wrap="square" lIns="0" tIns="0" rIns="0" bIns="0" rtlCol="0" anchor="t">
            <a:spAutoFit/>
          </a:bodyPr>
          <a:lstStyle/>
          <a:p>
            <a:pPr algn="l" indent="0" marL="0">
              <a:buNone/>
            </a:pPr>
            <a:r>
              <a:rPr lang="en-US" sz="1200" b="1" dirty="0">
                <a:solidFill>
                  <a:srgbClr val="1E63FF"/>
                </a:solidFill>
                <a:latin typeface="Inter Bold" pitchFamily="34" charset="0"/>
                <a:ea typeface="Inter Bold" pitchFamily="34" charset="-122"/>
                <a:cs typeface="Inter Bold" pitchFamily="34" charset="-120"/>
              </a:rPr>
              <a:t>公开客户与场景</a:t>
            </a:r>
            <a:endParaRPr lang="en-US" sz="1200" dirty="0"/>
          </a:p>
        </p:txBody>
      </p:sp>
      <p:sp>
        <p:nvSpPr>
          <p:cNvPr id="7" name="Text 4"/>
          <p:cNvSpPr/>
          <p:nvPr/>
        </p:nvSpPr>
        <p:spPr>
          <a:xfrm>
            <a:off x="428625" y="1652327"/>
            <a:ext cx="857250" cy="457200"/>
          </a:xfrm>
          <a:prstGeom prst="rect">
            <a:avLst/>
          </a:prstGeom>
          <a:noFill/>
          <a:ln/>
        </p:spPr>
        <p:txBody>
          <a:bodyPr wrap="none" lIns="0" tIns="0" rIns="0" bIns="0" rtlCol="0" anchor="t">
            <a:spAutoFit/>
          </a:bodyPr>
          <a:lstStyle/>
          <a:p>
            <a:pPr algn="l" indent="0" marL="0">
              <a:buNone/>
            </a:pPr>
            <a:r>
              <a:rPr lang="en-US" sz="650" b="1" dirty="0">
                <a:solidFill>
                  <a:srgbClr val="102033"/>
                </a:solidFill>
                <a:latin typeface="Inter Bold" pitchFamily="34" charset="0"/>
                <a:ea typeface="Inter Bold" pitchFamily="34" charset="-122"/>
                <a:cs typeface="Inter Bold" pitchFamily="34" charset="-120"/>
              </a:rPr>
              <a:t>金融/知识行业</a:t>
            </a:r>
            <a:endParaRPr lang="en-US" sz="650" dirty="0"/>
          </a:p>
        </p:txBody>
      </p:sp>
      <p:sp>
        <p:nvSpPr>
          <p:cNvPr id="8" name="Text 5"/>
          <p:cNvSpPr/>
          <p:nvPr/>
        </p:nvSpPr>
        <p:spPr>
          <a:xfrm>
            <a:off x="1385888" y="1652327"/>
            <a:ext cx="3021806" cy="457200"/>
          </a:xfrm>
          <a:prstGeom prst="rect">
            <a:avLst/>
          </a:prstGeom>
          <a:noFill/>
          <a:ln/>
        </p:spPr>
        <p:txBody>
          <a:bodyPr wrap="square" lIns="0" tIns="0" rIns="0" bIns="0" rtlCol="0" anchor="t">
            <a:spAutoFit/>
          </a:bodyPr>
          <a:lstStyle/>
          <a:p>
            <a:pPr algn="l" indent="0" marL="0">
              <a:lnSpc>
                <a:spcPct val="107200"/>
              </a:lnSpc>
              <a:buNone/>
            </a:pPr>
            <a:r>
              <a:rPr lang="en-US" sz="700" dirty="0">
                <a:solidFill>
                  <a:srgbClr val="4B5F73"/>
                </a:solidFill>
                <a:latin typeface="Inter" pitchFamily="34" charset="0"/>
                <a:ea typeface="Inter" pitchFamily="34" charset="-122"/>
                <a:cs typeface="Inter" pitchFamily="34" charset="-120"/>
              </a:rPr>
              <a:t>公开客户案例多集中在高知识密度、合规敏感、文档和分析密集行业。</a:t>
            </a:r>
            <a:endParaRPr lang="en-US" sz="700" dirty="0"/>
          </a:p>
        </p:txBody>
      </p:sp>
      <p:sp>
        <p:nvSpPr>
          <p:cNvPr id="9" name="Text 6"/>
          <p:cNvSpPr/>
          <p:nvPr/>
        </p:nvSpPr>
        <p:spPr>
          <a:xfrm>
            <a:off x="428625" y="2180965"/>
            <a:ext cx="857250" cy="457200"/>
          </a:xfrm>
          <a:prstGeom prst="rect">
            <a:avLst/>
          </a:prstGeom>
          <a:noFill/>
          <a:ln/>
        </p:spPr>
        <p:txBody>
          <a:bodyPr wrap="none" lIns="0" tIns="0" rIns="0" bIns="0" rtlCol="0" anchor="t">
            <a:spAutoFit/>
          </a:bodyPr>
          <a:lstStyle/>
          <a:p>
            <a:pPr algn="l" indent="0" marL="0">
              <a:buNone/>
            </a:pPr>
            <a:r>
              <a:rPr lang="en-US" sz="650" b="1" dirty="0">
                <a:solidFill>
                  <a:srgbClr val="102033"/>
                </a:solidFill>
                <a:latin typeface="Inter Bold" pitchFamily="34" charset="0"/>
                <a:ea typeface="Inter Bold" pitchFamily="34" charset="-122"/>
                <a:cs typeface="Inter Bold" pitchFamily="34" charset="-120"/>
              </a:rPr>
              <a:t>软件工程</a:t>
            </a:r>
            <a:endParaRPr lang="en-US" sz="650" dirty="0"/>
          </a:p>
        </p:txBody>
      </p:sp>
      <p:sp>
        <p:nvSpPr>
          <p:cNvPr id="10" name="Text 7"/>
          <p:cNvSpPr/>
          <p:nvPr/>
        </p:nvSpPr>
        <p:spPr>
          <a:xfrm>
            <a:off x="1385888" y="2180965"/>
            <a:ext cx="3021806" cy="457200"/>
          </a:xfrm>
          <a:prstGeom prst="rect">
            <a:avLst/>
          </a:prstGeom>
          <a:noFill/>
          <a:ln/>
        </p:spPr>
        <p:txBody>
          <a:bodyPr wrap="square" lIns="0" tIns="0" rIns="0" bIns="0" rtlCol="0" anchor="t">
            <a:spAutoFit/>
          </a:bodyPr>
          <a:lstStyle/>
          <a:p>
            <a:pPr algn="l" indent="0" marL="0">
              <a:lnSpc>
                <a:spcPct val="107200"/>
              </a:lnSpc>
              <a:buNone/>
            </a:pPr>
            <a:r>
              <a:rPr lang="en-US" sz="700" dirty="0">
                <a:solidFill>
                  <a:srgbClr val="4B5F73"/>
                </a:solidFill>
                <a:latin typeface="Inter" pitchFamily="34" charset="0"/>
                <a:ea typeface="Inter" pitchFamily="34" charset="-122"/>
                <a:cs typeface="Inter" pitchFamily="34" charset="-120"/>
              </a:rPr>
              <a:t>Claude Code 适配开发者效率、代码库迁移和安全修复，是工程团队高价值入口。</a:t>
            </a:r>
            <a:endParaRPr lang="en-US" sz="700" dirty="0"/>
          </a:p>
        </p:txBody>
      </p:sp>
      <p:sp>
        <p:nvSpPr>
          <p:cNvPr id="11" name="Text 8"/>
          <p:cNvSpPr/>
          <p:nvPr/>
        </p:nvSpPr>
        <p:spPr>
          <a:xfrm>
            <a:off x="428625" y="2709602"/>
            <a:ext cx="857250" cy="457200"/>
          </a:xfrm>
          <a:prstGeom prst="rect">
            <a:avLst/>
          </a:prstGeom>
          <a:noFill/>
          <a:ln/>
        </p:spPr>
        <p:txBody>
          <a:bodyPr wrap="none" lIns="0" tIns="0" rIns="0" bIns="0" rtlCol="0" anchor="t">
            <a:spAutoFit/>
          </a:bodyPr>
          <a:lstStyle/>
          <a:p>
            <a:pPr algn="l" indent="0" marL="0">
              <a:buNone/>
            </a:pPr>
            <a:r>
              <a:rPr lang="en-US" sz="650" b="1" dirty="0">
                <a:solidFill>
                  <a:srgbClr val="102033"/>
                </a:solidFill>
                <a:latin typeface="Inter Bold" pitchFamily="34" charset="0"/>
                <a:ea typeface="Inter Bold" pitchFamily="34" charset="-122"/>
                <a:cs typeface="Inter Bold" pitchFamily="34" charset="-120"/>
              </a:rPr>
              <a:t>法律/研究</a:t>
            </a:r>
            <a:endParaRPr lang="en-US" sz="650" dirty="0"/>
          </a:p>
        </p:txBody>
      </p:sp>
      <p:sp>
        <p:nvSpPr>
          <p:cNvPr id="12" name="Text 9"/>
          <p:cNvSpPr/>
          <p:nvPr/>
        </p:nvSpPr>
        <p:spPr>
          <a:xfrm>
            <a:off x="1385888" y="2709602"/>
            <a:ext cx="3021806" cy="457200"/>
          </a:xfrm>
          <a:prstGeom prst="rect">
            <a:avLst/>
          </a:prstGeom>
          <a:noFill/>
          <a:ln/>
        </p:spPr>
        <p:txBody>
          <a:bodyPr wrap="square" lIns="0" tIns="0" rIns="0" bIns="0" rtlCol="0" anchor="t">
            <a:spAutoFit/>
          </a:bodyPr>
          <a:lstStyle/>
          <a:p>
            <a:pPr algn="l" indent="0" marL="0">
              <a:lnSpc>
                <a:spcPct val="107200"/>
              </a:lnSpc>
              <a:buNone/>
            </a:pPr>
            <a:r>
              <a:rPr lang="en-US" sz="700" dirty="0">
                <a:solidFill>
                  <a:srgbClr val="4B5F73"/>
                </a:solidFill>
                <a:latin typeface="Inter" pitchFamily="34" charset="0"/>
                <a:ea typeface="Inter" pitchFamily="34" charset="-122"/>
                <a:cs typeface="Inter" pitchFamily="34" charset="-120"/>
              </a:rPr>
              <a:t>长文档理解、摘要、检索和推理能力与法律、咨询、研究流程高度相关。</a:t>
            </a:r>
            <a:endParaRPr lang="en-US" sz="700" dirty="0"/>
          </a:p>
        </p:txBody>
      </p:sp>
      <p:sp>
        <p:nvSpPr>
          <p:cNvPr id="13" name="Text 10"/>
          <p:cNvSpPr/>
          <p:nvPr/>
        </p:nvSpPr>
        <p:spPr>
          <a:xfrm>
            <a:off x="428625" y="3238240"/>
            <a:ext cx="857250" cy="457200"/>
          </a:xfrm>
          <a:prstGeom prst="rect">
            <a:avLst/>
          </a:prstGeom>
          <a:noFill/>
          <a:ln/>
        </p:spPr>
        <p:txBody>
          <a:bodyPr wrap="none" lIns="0" tIns="0" rIns="0" bIns="0" rtlCol="0" anchor="t">
            <a:spAutoFit/>
          </a:bodyPr>
          <a:lstStyle/>
          <a:p>
            <a:pPr algn="l" indent="0" marL="0">
              <a:buNone/>
            </a:pPr>
            <a:r>
              <a:rPr lang="en-US" sz="650" b="1" dirty="0">
                <a:solidFill>
                  <a:srgbClr val="102033"/>
                </a:solidFill>
                <a:latin typeface="Inter Bold" pitchFamily="34" charset="0"/>
                <a:ea typeface="Inter Bold" pitchFamily="34" charset="-122"/>
                <a:cs typeface="Inter Bold" pitchFamily="34" charset="-120"/>
              </a:rPr>
              <a:t>医疗/教育等</a:t>
            </a:r>
            <a:endParaRPr lang="en-US" sz="650" dirty="0"/>
          </a:p>
        </p:txBody>
      </p:sp>
      <p:sp>
        <p:nvSpPr>
          <p:cNvPr id="14" name="Text 11"/>
          <p:cNvSpPr/>
          <p:nvPr/>
        </p:nvSpPr>
        <p:spPr>
          <a:xfrm>
            <a:off x="1385888" y="3238240"/>
            <a:ext cx="3021806" cy="457200"/>
          </a:xfrm>
          <a:prstGeom prst="rect">
            <a:avLst/>
          </a:prstGeom>
          <a:noFill/>
          <a:ln/>
        </p:spPr>
        <p:txBody>
          <a:bodyPr wrap="square" lIns="0" tIns="0" rIns="0" bIns="0" rtlCol="0" anchor="t">
            <a:spAutoFit/>
          </a:bodyPr>
          <a:lstStyle/>
          <a:p>
            <a:pPr algn="l" indent="0" marL="0">
              <a:lnSpc>
                <a:spcPct val="107200"/>
              </a:lnSpc>
              <a:buNone/>
            </a:pPr>
            <a:r>
              <a:rPr lang="en-US" sz="700" dirty="0">
                <a:solidFill>
                  <a:srgbClr val="4B5F73"/>
                </a:solidFill>
                <a:latin typeface="Inter" pitchFamily="34" charset="0"/>
                <a:ea typeface="Inter" pitchFamily="34" charset="-122"/>
                <a:cs typeface="Inter" pitchFamily="34" charset="-120"/>
              </a:rPr>
              <a:t>需要严谨安全边界和人工复核，适合先做知识辅助再扩展流程。</a:t>
            </a:r>
            <a:endParaRPr lang="en-US" sz="700" dirty="0"/>
          </a:p>
        </p:txBody>
      </p:sp>
      <p:sp>
        <p:nvSpPr>
          <p:cNvPr id="15" name="Text 12"/>
          <p:cNvSpPr/>
          <p:nvPr/>
        </p:nvSpPr>
        <p:spPr>
          <a:xfrm>
            <a:off x="4736306" y="1261207"/>
            <a:ext cx="3979069" cy="248245"/>
          </a:xfrm>
          <a:prstGeom prst="rect">
            <a:avLst/>
          </a:prstGeom>
          <a:noFill/>
          <a:ln/>
        </p:spPr>
        <p:txBody>
          <a:bodyPr wrap="square" lIns="0" tIns="0" rIns="0" bIns="0" rtlCol="0" anchor="t">
            <a:spAutoFit/>
          </a:bodyPr>
          <a:lstStyle/>
          <a:p>
            <a:pPr algn="l" indent="0" marL="0">
              <a:buNone/>
            </a:pPr>
            <a:r>
              <a:rPr lang="en-US" sz="1200" b="1" dirty="0">
                <a:solidFill>
                  <a:srgbClr val="1E63FF"/>
                </a:solidFill>
                <a:latin typeface="Inter Bold" pitchFamily="34" charset="0"/>
                <a:ea typeface="Inter Bold" pitchFamily="34" charset="-122"/>
                <a:cs typeface="Inter Bold" pitchFamily="34" charset="-120"/>
              </a:rPr>
              <a:t>商业化机制</a:t>
            </a:r>
            <a:endParaRPr lang="en-US" sz="1200" dirty="0"/>
          </a:p>
        </p:txBody>
      </p:sp>
      <p:sp>
        <p:nvSpPr>
          <p:cNvPr id="16" name="Text 13"/>
          <p:cNvSpPr/>
          <p:nvPr/>
        </p:nvSpPr>
        <p:spPr>
          <a:xfrm>
            <a:off x="4736306" y="1652327"/>
            <a:ext cx="857250" cy="457200"/>
          </a:xfrm>
          <a:prstGeom prst="rect">
            <a:avLst/>
          </a:prstGeom>
          <a:noFill/>
          <a:ln/>
        </p:spPr>
        <p:txBody>
          <a:bodyPr wrap="none" lIns="0" tIns="0" rIns="0" bIns="0" rtlCol="0" anchor="t">
            <a:spAutoFit/>
          </a:bodyPr>
          <a:lstStyle/>
          <a:p>
            <a:pPr algn="l" indent="0" marL="0">
              <a:buNone/>
            </a:pPr>
            <a:r>
              <a:rPr lang="en-US" sz="650" b="1" dirty="0">
                <a:solidFill>
                  <a:srgbClr val="102033"/>
                </a:solidFill>
                <a:latin typeface="Inter Bold" pitchFamily="34" charset="0"/>
                <a:ea typeface="Inter Bold" pitchFamily="34" charset="-122"/>
                <a:cs typeface="Inter Bold" pitchFamily="34" charset="-120"/>
              </a:rPr>
              <a:t>企业订阅</a:t>
            </a:r>
            <a:endParaRPr lang="en-US" sz="650" dirty="0"/>
          </a:p>
        </p:txBody>
      </p:sp>
      <p:sp>
        <p:nvSpPr>
          <p:cNvPr id="17" name="Text 14"/>
          <p:cNvSpPr/>
          <p:nvPr/>
        </p:nvSpPr>
        <p:spPr>
          <a:xfrm>
            <a:off x="5693569" y="1652327"/>
            <a:ext cx="3021806" cy="457200"/>
          </a:xfrm>
          <a:prstGeom prst="rect">
            <a:avLst/>
          </a:prstGeom>
          <a:noFill/>
          <a:ln/>
        </p:spPr>
        <p:txBody>
          <a:bodyPr wrap="square" lIns="0" tIns="0" rIns="0" bIns="0" rtlCol="0" anchor="t">
            <a:spAutoFit/>
          </a:bodyPr>
          <a:lstStyle/>
          <a:p>
            <a:pPr algn="l" indent="0" marL="0">
              <a:lnSpc>
                <a:spcPct val="107200"/>
              </a:lnSpc>
              <a:buNone/>
            </a:pPr>
            <a:r>
              <a:rPr lang="en-US" sz="700" dirty="0">
                <a:solidFill>
                  <a:srgbClr val="4B5F73"/>
                </a:solidFill>
                <a:latin typeface="Inter" pitchFamily="34" charset="0"/>
                <a:ea typeface="Inter" pitchFamily="34" charset="-122"/>
                <a:cs typeface="Inter" pitchFamily="34" charset="-120"/>
              </a:rPr>
              <a:t>Claude Enterprise 和 Team 通过席位、管理和连接器进入组织。</a:t>
            </a:r>
            <a:endParaRPr lang="en-US" sz="700" dirty="0"/>
          </a:p>
        </p:txBody>
      </p:sp>
      <p:sp>
        <p:nvSpPr>
          <p:cNvPr id="18" name="Text 15"/>
          <p:cNvSpPr/>
          <p:nvPr/>
        </p:nvSpPr>
        <p:spPr>
          <a:xfrm>
            <a:off x="4736306" y="2180965"/>
            <a:ext cx="857250" cy="457200"/>
          </a:xfrm>
          <a:prstGeom prst="rect">
            <a:avLst/>
          </a:prstGeom>
          <a:noFill/>
          <a:ln/>
        </p:spPr>
        <p:txBody>
          <a:bodyPr wrap="none" lIns="0" tIns="0" rIns="0" bIns="0" rtlCol="0" anchor="t">
            <a:spAutoFit/>
          </a:bodyPr>
          <a:lstStyle/>
          <a:p>
            <a:pPr algn="l" indent="0" marL="0">
              <a:buNone/>
            </a:pPr>
            <a:r>
              <a:rPr lang="en-US" sz="650" b="1" dirty="0">
                <a:solidFill>
                  <a:srgbClr val="102033"/>
                </a:solidFill>
                <a:latin typeface="Inter Bold" pitchFamily="34" charset="0"/>
                <a:ea typeface="Inter Bold" pitchFamily="34" charset="-122"/>
                <a:cs typeface="Inter Bold" pitchFamily="34" charset="-120"/>
              </a:rPr>
              <a:t>API 用量</a:t>
            </a:r>
            <a:endParaRPr lang="en-US" sz="650" dirty="0"/>
          </a:p>
        </p:txBody>
      </p:sp>
      <p:sp>
        <p:nvSpPr>
          <p:cNvPr id="19" name="Text 16"/>
          <p:cNvSpPr/>
          <p:nvPr/>
        </p:nvSpPr>
        <p:spPr>
          <a:xfrm>
            <a:off x="5693569" y="2180965"/>
            <a:ext cx="3021806" cy="457200"/>
          </a:xfrm>
          <a:prstGeom prst="rect">
            <a:avLst/>
          </a:prstGeom>
          <a:noFill/>
          <a:ln/>
        </p:spPr>
        <p:txBody>
          <a:bodyPr wrap="square" lIns="0" tIns="0" rIns="0" bIns="0" rtlCol="0" anchor="t">
            <a:spAutoFit/>
          </a:bodyPr>
          <a:lstStyle/>
          <a:p>
            <a:pPr algn="l" indent="0" marL="0">
              <a:lnSpc>
                <a:spcPct val="107200"/>
              </a:lnSpc>
              <a:buNone/>
            </a:pPr>
            <a:r>
              <a:rPr lang="en-US" sz="700" dirty="0">
                <a:solidFill>
                  <a:srgbClr val="4B5F73"/>
                </a:solidFill>
                <a:latin typeface="Inter" pitchFamily="34" charset="0"/>
                <a:ea typeface="Inter" pitchFamily="34" charset="-122"/>
                <a:cs typeface="Inter" pitchFamily="34" charset="-120"/>
              </a:rPr>
              <a:t>Claude Platform 基于模型调用、批处理和智能体能力承接应用内嵌。</a:t>
            </a:r>
            <a:endParaRPr lang="en-US" sz="700" dirty="0"/>
          </a:p>
        </p:txBody>
      </p:sp>
      <p:sp>
        <p:nvSpPr>
          <p:cNvPr id="20" name="Text 17"/>
          <p:cNvSpPr/>
          <p:nvPr/>
        </p:nvSpPr>
        <p:spPr>
          <a:xfrm>
            <a:off x="4736306" y="2709602"/>
            <a:ext cx="857250" cy="457200"/>
          </a:xfrm>
          <a:prstGeom prst="rect">
            <a:avLst/>
          </a:prstGeom>
          <a:noFill/>
          <a:ln/>
        </p:spPr>
        <p:txBody>
          <a:bodyPr wrap="none" lIns="0" tIns="0" rIns="0" bIns="0" rtlCol="0" anchor="t">
            <a:spAutoFit/>
          </a:bodyPr>
          <a:lstStyle/>
          <a:p>
            <a:pPr algn="l" indent="0" marL="0">
              <a:buNone/>
            </a:pPr>
            <a:r>
              <a:rPr lang="en-US" sz="650" b="1" dirty="0">
                <a:solidFill>
                  <a:srgbClr val="102033"/>
                </a:solidFill>
                <a:latin typeface="Inter Bold" pitchFamily="34" charset="0"/>
                <a:ea typeface="Inter Bold" pitchFamily="34" charset="-122"/>
                <a:cs typeface="Inter Bold" pitchFamily="34" charset="-120"/>
              </a:rPr>
              <a:t>云伙伴</a:t>
            </a:r>
            <a:endParaRPr lang="en-US" sz="650" dirty="0"/>
          </a:p>
        </p:txBody>
      </p:sp>
      <p:sp>
        <p:nvSpPr>
          <p:cNvPr id="21" name="Text 18"/>
          <p:cNvSpPr/>
          <p:nvPr/>
        </p:nvSpPr>
        <p:spPr>
          <a:xfrm>
            <a:off x="5693569" y="2709602"/>
            <a:ext cx="3021806" cy="457200"/>
          </a:xfrm>
          <a:prstGeom prst="rect">
            <a:avLst/>
          </a:prstGeom>
          <a:noFill/>
          <a:ln/>
        </p:spPr>
        <p:txBody>
          <a:bodyPr wrap="square" lIns="0" tIns="0" rIns="0" bIns="0" rtlCol="0" anchor="t">
            <a:spAutoFit/>
          </a:bodyPr>
          <a:lstStyle/>
          <a:p>
            <a:pPr algn="l" indent="0" marL="0">
              <a:lnSpc>
                <a:spcPct val="107200"/>
              </a:lnSpc>
              <a:buNone/>
            </a:pPr>
            <a:r>
              <a:rPr lang="en-US" sz="700" dirty="0">
                <a:solidFill>
                  <a:srgbClr val="4B5F73"/>
                </a:solidFill>
                <a:latin typeface="Inter" pitchFamily="34" charset="0"/>
                <a:ea typeface="Inter" pitchFamily="34" charset="-122"/>
                <a:cs typeface="Inter" pitchFamily="34" charset="-120"/>
              </a:rPr>
              <a:t>AWS、Google Cloud、Microsoft 等渠道把 Claude 纳入既有云采购与治理体系。</a:t>
            </a:r>
            <a:endParaRPr lang="en-US" sz="700" dirty="0"/>
          </a:p>
        </p:txBody>
      </p:sp>
      <p:sp>
        <p:nvSpPr>
          <p:cNvPr id="22" name="Text 19"/>
          <p:cNvSpPr/>
          <p:nvPr/>
        </p:nvSpPr>
        <p:spPr>
          <a:xfrm>
            <a:off x="4736306" y="3238240"/>
            <a:ext cx="857250" cy="457200"/>
          </a:xfrm>
          <a:prstGeom prst="rect">
            <a:avLst/>
          </a:prstGeom>
          <a:noFill/>
          <a:ln/>
        </p:spPr>
        <p:txBody>
          <a:bodyPr wrap="none" lIns="0" tIns="0" rIns="0" bIns="0" rtlCol="0" anchor="t">
            <a:spAutoFit/>
          </a:bodyPr>
          <a:lstStyle/>
          <a:p>
            <a:pPr algn="l" indent="0" marL="0">
              <a:buNone/>
            </a:pPr>
            <a:r>
              <a:rPr lang="en-US" sz="650" b="1" dirty="0">
                <a:solidFill>
                  <a:srgbClr val="102033"/>
                </a:solidFill>
                <a:latin typeface="Inter Bold" pitchFamily="34" charset="0"/>
                <a:ea typeface="Inter Bold" pitchFamily="34" charset="-122"/>
                <a:cs typeface="Inter Bold" pitchFamily="34" charset="-120"/>
              </a:rPr>
              <a:t>基础设施</a:t>
            </a:r>
            <a:endParaRPr lang="en-US" sz="650" dirty="0"/>
          </a:p>
        </p:txBody>
      </p:sp>
      <p:sp>
        <p:nvSpPr>
          <p:cNvPr id="23" name="Text 20"/>
          <p:cNvSpPr/>
          <p:nvPr/>
        </p:nvSpPr>
        <p:spPr>
          <a:xfrm>
            <a:off x="5693569" y="3238240"/>
            <a:ext cx="3021806" cy="457200"/>
          </a:xfrm>
          <a:prstGeom prst="rect">
            <a:avLst/>
          </a:prstGeom>
          <a:noFill/>
          <a:ln/>
        </p:spPr>
        <p:txBody>
          <a:bodyPr wrap="square" lIns="0" tIns="0" rIns="0" bIns="0" rtlCol="0" anchor="t">
            <a:spAutoFit/>
          </a:bodyPr>
          <a:lstStyle/>
          <a:p>
            <a:pPr algn="l" indent="0" marL="0">
              <a:lnSpc>
                <a:spcPct val="107200"/>
              </a:lnSpc>
              <a:buNone/>
            </a:pPr>
            <a:r>
              <a:rPr lang="en-US" sz="700" dirty="0">
                <a:solidFill>
                  <a:srgbClr val="4B5F73"/>
                </a:solidFill>
                <a:latin typeface="Inter" pitchFamily="34" charset="0"/>
                <a:ea typeface="Inter" pitchFamily="34" charset="-122"/>
                <a:cs typeface="Inter" pitchFamily="34" charset="-120"/>
              </a:rPr>
              <a:t>与 Amazon 等云伙伴的算力合作支撑模型训练、推理和规模化服务。</a:t>
            </a:r>
            <a:endParaRPr lang="en-US" sz="700" dirty="0"/>
          </a:p>
        </p:txBody>
      </p:sp>
      <p:sp>
        <p:nvSpPr>
          <p:cNvPr id="24" name="Text 21"/>
          <p:cNvSpPr/>
          <p:nvPr/>
        </p:nvSpPr>
        <p:spPr>
          <a:xfrm>
            <a:off x="428625" y="3852602"/>
            <a:ext cx="8286750" cy="224972"/>
          </a:xfrm>
          <a:prstGeom prst="rect">
            <a:avLst/>
          </a:prstGeom>
          <a:noFill/>
          <a:ln/>
        </p:spPr>
        <p:txBody>
          <a:bodyPr wrap="square" lIns="0" tIns="102108" rIns="0" bIns="0" rtlCol="0" anchor="t">
            <a:spAutoFit/>
          </a:bodyPr>
          <a:lstStyle/>
          <a:p>
            <a:pPr algn="l" indent="0" marL="0">
              <a:lnSpc>
                <a:spcPct val="108000"/>
              </a:lnSpc>
              <a:buNone/>
            </a:pPr>
            <a:r>
              <a:rPr lang="en-US" sz="650" b="1" dirty="0">
                <a:solidFill>
                  <a:srgbClr val="0B8F5A"/>
                </a:solidFill>
                <a:latin typeface="Inter Bold" pitchFamily="34" charset="0"/>
                <a:ea typeface="Inter Bold" pitchFamily="34" charset="-122"/>
                <a:cs typeface="Inter Bold" pitchFamily="34" charset="-120"/>
              </a:rPr>
              <a:t>证据边界：</a:t>
            </a:r>
            <a:r>
              <a:rPr lang="en-US" sz="700" dirty="0">
                <a:solidFill>
                  <a:srgbClr val="4B5F73"/>
                </a:solidFill>
                <a:latin typeface="Inter" pitchFamily="34" charset="0"/>
                <a:ea typeface="Inter" pitchFamily="34" charset="-122"/>
                <a:cs typeface="Inter" pitchFamily="34" charset="-120"/>
              </a:rPr>
              <a:t>本页强调公开披露的客户类型与渠道逻辑；未公开客户、合同金额、真实收入结构不做推断。</a:t>
            </a:r>
            <a:endParaRPr lang="en-US" sz="650" dirty="0"/>
          </a:p>
        </p:txBody>
      </p:sp>
      <p:sp>
        <p:nvSpPr>
          <p:cNvPr id="25" name="Text 22"/>
          <p:cNvSpPr/>
          <p:nvPr/>
        </p:nvSpPr>
        <p:spPr>
          <a:xfrm>
            <a:off x="428625" y="4184731"/>
            <a:ext cx="8286750" cy="133722"/>
          </a:xfrm>
          <a:prstGeom prst="rect">
            <a:avLst/>
          </a:prstGeom>
          <a:noFill/>
          <a:ln/>
        </p:spPr>
        <p:txBody>
          <a:bodyPr wrap="none" lIns="0" tIns="42545" rIns="0" bIns="0" rtlCol="0" anchor="t">
            <a:spAutoFit/>
          </a:bodyPr>
          <a:lstStyle/>
          <a:p>
            <a:pPr algn="l" indent="0" marL="0">
              <a:lnSpc>
                <a:spcPct val="96000"/>
              </a:lnSpc>
              <a:buNone/>
            </a:pPr>
            <a:r>
              <a:rPr lang="en-US" sz="550" dirty="0">
                <a:solidFill>
                  <a:srgbClr val="6B7A8A"/>
                </a:solidFill>
                <a:latin typeface="Inter" pitchFamily="34" charset="0"/>
                <a:ea typeface="Inter" pitchFamily="34" charset="-122"/>
                <a:cs typeface="Inter" pitchFamily="34" charset="-120"/>
              </a:rPr>
              <a:t>来源：Anthropic Customers；Anthropic official funding and cloud partnership announcements；Claude product and pricing pages。</a:t>
            </a:r>
            <a:endParaRPr lang="en-US" sz="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314325"/>
            <a:ext cx="8286750" cy="98227"/>
          </a:xfrm>
          <a:prstGeom prst="rect">
            <a:avLst/>
          </a:prstGeom>
          <a:noFill/>
          <a:ln/>
        </p:spPr>
        <p:txBody>
          <a:bodyPr wrap="square" lIns="0" tIns="0" rIns="0" bIns="0" rtlCol="0" anchor="t">
            <a:spAutoFit/>
          </a:bodyPr>
          <a:lstStyle/>
          <a:p>
            <a:pPr algn="l" indent="0" marL="0">
              <a:buNone/>
            </a:pPr>
            <a:r>
              <a:rPr lang="en-US" sz="600" b="1" spc="2" kern="0" dirty="0">
                <a:solidFill>
                  <a:srgbClr val="0B8F5A"/>
                </a:solidFill>
                <a:latin typeface="Inter ExtraBold" pitchFamily="34" charset="0"/>
                <a:ea typeface="Inter ExtraBold" pitchFamily="34" charset="-122"/>
                <a:cs typeface="Inter ExtraBold" pitchFamily="34" charset="-120"/>
              </a:rPr>
              <a:t>SUPPLY CHAIN CASES</a:t>
            </a:r>
            <a:endParaRPr lang="en-US" sz="600" dirty="0"/>
          </a:p>
        </p:txBody>
      </p:sp>
      <p:sp>
        <p:nvSpPr>
          <p:cNvPr id="4" name="Text 1"/>
          <p:cNvSpPr/>
          <p:nvPr/>
        </p:nvSpPr>
        <p:spPr>
          <a:xfrm>
            <a:off x="428625" y="469702"/>
            <a:ext cx="8286750" cy="267165"/>
          </a:xfrm>
          <a:prstGeom prst="rect">
            <a:avLst/>
          </a:prstGeom>
          <a:noFill/>
          <a:ln/>
        </p:spPr>
        <p:txBody>
          <a:bodyPr wrap="none" lIns="0" tIns="0" rIns="0" bIns="0" rtlCol="0" anchor="t">
            <a:spAutoFit/>
          </a:bodyPr>
          <a:lstStyle/>
          <a:p>
            <a:pPr algn="l" indent="0" marL="0">
              <a:lnSpc>
                <a:spcPct val="88000"/>
              </a:lnSpc>
              <a:buNone/>
            </a:pPr>
            <a:r>
              <a:rPr lang="en-US" sz="1700" b="1" dirty="0">
                <a:solidFill>
                  <a:srgbClr val="102033"/>
                </a:solidFill>
                <a:latin typeface="Inter Bold" pitchFamily="34" charset="0"/>
                <a:ea typeface="Inter Bold" pitchFamily="34" charset="-122"/>
                <a:cs typeface="Inter Bold" pitchFamily="34" charset="-120"/>
              </a:rPr>
              <a:t>供应链案例：公开证据与近似案例</a:t>
            </a:r>
            <a:endParaRPr lang="en-US" sz="1700" dirty="0"/>
          </a:p>
        </p:txBody>
      </p:sp>
      <p:sp>
        <p:nvSpPr>
          <p:cNvPr id="5" name="Text 2"/>
          <p:cNvSpPr/>
          <p:nvPr/>
        </p:nvSpPr>
        <p:spPr>
          <a:xfrm>
            <a:off x="428625" y="794017"/>
            <a:ext cx="7715250" cy="140866"/>
          </a:xfrm>
          <a:prstGeom prst="rect">
            <a:avLst/>
          </a:prstGeom>
          <a:noFill/>
          <a:ln/>
        </p:spPr>
        <p:txBody>
          <a:bodyPr wrap="none" lIns="0" tIns="0" rIns="0" bIns="0" rtlCol="0" anchor="t">
            <a:spAutoFit/>
          </a:bodyPr>
          <a:lstStyle/>
          <a:p>
            <a:pPr algn="l" indent="0" marL="0">
              <a:lnSpc>
                <a:spcPct val="108800"/>
              </a:lnSpc>
              <a:buNone/>
            </a:pPr>
            <a:r>
              <a:rPr lang="en-US" sz="750" dirty="0">
                <a:solidFill>
                  <a:srgbClr val="4B5F73"/>
                </a:solidFill>
                <a:latin typeface="Inter" pitchFamily="34" charset="0"/>
                <a:ea typeface="Inter" pitchFamily="34" charset="-122"/>
                <a:cs typeface="Inter" pitchFamily="34" charset="-120"/>
              </a:rPr>
              <a:t>为避免编造，本页将“已公开证据”和“能力可迁移场景”分开呈现。</a:t>
            </a:r>
            <a:endParaRPr lang="en-US" sz="750" dirty="0"/>
          </a:p>
        </p:txBody>
      </p:sp>
      <p:sp>
        <p:nvSpPr>
          <p:cNvPr id="6" name="Text 3"/>
          <p:cNvSpPr/>
          <p:nvPr/>
        </p:nvSpPr>
        <p:spPr>
          <a:xfrm>
            <a:off x="428625" y="1034895"/>
            <a:ext cx="8286750" cy="542925"/>
          </a:xfrm>
          <a:prstGeom prst="rect">
            <a:avLst/>
          </a:prstGeom>
          <a:noFill/>
          <a:ln/>
        </p:spPr>
        <p:txBody>
          <a:bodyPr wrap="square" lIns="0" tIns="102108" rIns="0" bIns="0" rtlCol="0" anchor="t">
            <a:spAutoFit/>
          </a:bodyPr>
          <a:lstStyle/>
          <a:p>
            <a:pPr algn="l" indent="0" marL="0">
              <a:lnSpc>
                <a:spcPct val="108000"/>
              </a:lnSpc>
              <a:buNone/>
            </a:pPr>
            <a:r>
              <a:rPr lang="en-US" sz="850" b="1" dirty="0">
                <a:solidFill>
                  <a:srgbClr val="0B8F5A"/>
                </a:solidFill>
                <a:latin typeface="Inter Bold" pitchFamily="34" charset="0"/>
                <a:ea typeface="Inter Bold" pitchFamily="34" charset="-122"/>
                <a:cs typeface="Inter Bold" pitchFamily="34" charset="-120"/>
              </a:rPr>
              <a:t>调研结论：</a:t>
            </a:r>
            <a:r>
              <a:rPr lang="en-US" sz="900" dirty="0">
                <a:solidFill>
                  <a:srgbClr val="102033"/>
                </a:solidFill>
                <a:latin typeface="Inter" pitchFamily="34" charset="0"/>
                <a:ea typeface="Inter" pitchFamily="34" charset="-122"/>
                <a:cs typeface="Inter" pitchFamily="34" charset="-120"/>
              </a:rPr>
              <a:t>截至本次调研，Anthropic 官方客户案例页与公开材料中未发现明确命名的供应链行业直接实施案例。可参考的近似方向是文档密集型运营、客</a:t>
            </a:r>
            <a:r>
              <a:rPr lang="en-US" sz="900" dirty="0">
                <a:solidFill>
                  <a:srgbClr val="102033"/>
                </a:solidFill>
                <a:latin typeface="Inter" pitchFamily="34" charset="0"/>
                <a:ea typeface="Inter" pitchFamily="34" charset="-122"/>
                <a:cs typeface="Inter" pitchFamily="34" charset="-120"/>
              </a:rPr>
              <a:t>服、法律合规、软件工程、研究分析和安全运营。</a:t>
            </a:r>
            <a:endParaRPr lang="en-US" sz="850" dirty="0"/>
          </a:p>
        </p:txBody>
      </p:sp>
      <p:sp>
        <p:nvSpPr>
          <p:cNvPr id="7" name="Text 4"/>
          <p:cNvSpPr/>
          <p:nvPr/>
        </p:nvSpPr>
        <p:spPr>
          <a:xfrm>
            <a:off x="428625" y="1699264"/>
            <a:ext cx="1214438" cy="207169"/>
          </a:xfrm>
          <a:prstGeom prst="rect">
            <a:avLst/>
          </a:prstGeom>
          <a:noFill/>
          <a:ln/>
        </p:spPr>
        <p:txBody>
          <a:bodyPr wrap="none" lIns="8509" tIns="8509" rIns="8509" bIns="8509" rtlCol="0" anchor="ctr">
            <a:spAutoFit/>
          </a:bodyPr>
          <a:lstStyle/>
          <a:p>
            <a:pPr algn="l" indent="0" marL="0">
              <a:buNone/>
            </a:pPr>
            <a:r>
              <a:rPr lang="en-US" sz="600" b="1" dirty="0">
                <a:solidFill>
                  <a:srgbClr val="0B8F5A"/>
                </a:solidFill>
                <a:latin typeface="Inter Bold" pitchFamily="34" charset="0"/>
                <a:ea typeface="Inter Bold" pitchFamily="34" charset="-122"/>
                <a:cs typeface="Inter Bold" pitchFamily="34" charset="-120"/>
              </a:rPr>
              <a:t>近似案例类型</a:t>
            </a:r>
            <a:endParaRPr lang="en-US" sz="600" dirty="0"/>
          </a:p>
        </p:txBody>
      </p:sp>
      <p:sp>
        <p:nvSpPr>
          <p:cNvPr id="8" name="Text 5"/>
          <p:cNvSpPr/>
          <p:nvPr/>
        </p:nvSpPr>
        <p:spPr>
          <a:xfrm>
            <a:off x="1643063" y="1699264"/>
            <a:ext cx="2890372" cy="207169"/>
          </a:xfrm>
          <a:prstGeom prst="rect">
            <a:avLst/>
          </a:prstGeom>
          <a:noFill/>
          <a:ln/>
        </p:spPr>
        <p:txBody>
          <a:bodyPr wrap="square" lIns="8509" tIns="8509" rIns="8509" bIns="8509" rtlCol="0" anchor="ctr">
            <a:spAutoFit/>
          </a:bodyPr>
          <a:lstStyle/>
          <a:p>
            <a:pPr algn="l" indent="0" marL="0">
              <a:buNone/>
            </a:pPr>
            <a:r>
              <a:rPr lang="en-US" sz="600" b="1" dirty="0">
                <a:solidFill>
                  <a:srgbClr val="0B8F5A"/>
                </a:solidFill>
                <a:latin typeface="Inter Bold" pitchFamily="34" charset="0"/>
                <a:ea typeface="Inter Bold" pitchFamily="34" charset="-122"/>
                <a:cs typeface="Inter Bold" pitchFamily="34" charset="-120"/>
              </a:rPr>
              <a:t>为何接近供应链</a:t>
            </a:r>
            <a:endParaRPr lang="en-US" sz="600" dirty="0"/>
          </a:p>
        </p:txBody>
      </p:sp>
      <p:sp>
        <p:nvSpPr>
          <p:cNvPr id="9" name="Text 6"/>
          <p:cNvSpPr/>
          <p:nvPr/>
        </p:nvSpPr>
        <p:spPr>
          <a:xfrm>
            <a:off x="4533435" y="1699264"/>
            <a:ext cx="1952504" cy="207169"/>
          </a:xfrm>
          <a:prstGeom prst="rect">
            <a:avLst/>
          </a:prstGeom>
          <a:noFill/>
          <a:ln/>
        </p:spPr>
        <p:txBody>
          <a:bodyPr wrap="square" lIns="8509" tIns="8509" rIns="8509" bIns="8509" rtlCol="0" anchor="ctr">
            <a:spAutoFit/>
          </a:bodyPr>
          <a:lstStyle/>
          <a:p>
            <a:pPr algn="l" indent="0" marL="0">
              <a:buNone/>
            </a:pPr>
            <a:r>
              <a:rPr lang="en-US" sz="600" b="1" dirty="0">
                <a:solidFill>
                  <a:srgbClr val="0B8F5A"/>
                </a:solidFill>
                <a:latin typeface="Inter Bold" pitchFamily="34" charset="0"/>
                <a:ea typeface="Inter Bold" pitchFamily="34" charset="-122"/>
                <a:cs typeface="Inter Bold" pitchFamily="34" charset="-120"/>
              </a:rPr>
              <a:t>可迁移产品</a:t>
            </a:r>
            <a:endParaRPr lang="en-US" sz="600" dirty="0"/>
          </a:p>
        </p:txBody>
      </p:sp>
      <p:sp>
        <p:nvSpPr>
          <p:cNvPr id="10" name="Text 7"/>
          <p:cNvSpPr/>
          <p:nvPr/>
        </p:nvSpPr>
        <p:spPr>
          <a:xfrm>
            <a:off x="6485939" y="1699264"/>
            <a:ext cx="2229436" cy="207169"/>
          </a:xfrm>
          <a:prstGeom prst="rect">
            <a:avLst/>
          </a:prstGeom>
          <a:noFill/>
          <a:ln/>
        </p:spPr>
        <p:txBody>
          <a:bodyPr wrap="square" lIns="8509" tIns="8509" rIns="8509" bIns="8509" rtlCol="0" anchor="ctr">
            <a:spAutoFit/>
          </a:bodyPr>
          <a:lstStyle/>
          <a:p>
            <a:pPr algn="l" indent="0" marL="0">
              <a:buNone/>
            </a:pPr>
            <a:r>
              <a:rPr lang="en-US" sz="600" b="1" dirty="0">
                <a:solidFill>
                  <a:srgbClr val="0B8F5A"/>
                </a:solidFill>
                <a:latin typeface="Inter Bold" pitchFamily="34" charset="0"/>
                <a:ea typeface="Inter Bold" pitchFamily="34" charset="-122"/>
                <a:cs typeface="Inter Bold" pitchFamily="34" charset="-120"/>
              </a:rPr>
              <a:t>落地限制</a:t>
            </a:r>
            <a:endParaRPr lang="en-US" sz="600" dirty="0"/>
          </a:p>
        </p:txBody>
      </p:sp>
      <p:sp>
        <p:nvSpPr>
          <p:cNvPr id="11" name="Text 8"/>
          <p:cNvSpPr/>
          <p:nvPr/>
        </p:nvSpPr>
        <p:spPr>
          <a:xfrm>
            <a:off x="428625" y="1906432"/>
            <a:ext cx="1214438" cy="342900"/>
          </a:xfrm>
          <a:prstGeom prst="rect">
            <a:avLst/>
          </a:prstGeom>
          <a:noFill/>
          <a:ln/>
        </p:spPr>
        <p:txBody>
          <a:bodyPr wrap="square" lIns="8509" tIns="59563" rIns="8509" bIns="8509" rtlCol="0" anchor="t">
            <a:spAutoFit/>
          </a:bodyPr>
          <a:lstStyle/>
          <a:p>
            <a:pPr algn="l" indent="0" marL="0">
              <a:lnSpc>
                <a:spcPct val="99200"/>
              </a:lnSpc>
              <a:buNone/>
            </a:pPr>
            <a:r>
              <a:rPr lang="en-US" sz="600" b="1" dirty="0">
                <a:solidFill>
                  <a:srgbClr val="102033"/>
                </a:solidFill>
                <a:latin typeface="Inter ExtraBold" pitchFamily="34" charset="0"/>
                <a:ea typeface="Inter ExtraBold" pitchFamily="34" charset="-122"/>
                <a:cs typeface="Inter ExtraBold" pitchFamily="34" charset="-120"/>
              </a:rPr>
              <a:t>文档与合规审查</a:t>
            </a:r>
            <a:endParaRPr lang="en-US" sz="600" dirty="0"/>
          </a:p>
        </p:txBody>
      </p:sp>
      <p:sp>
        <p:nvSpPr>
          <p:cNvPr id="12" name="Text 9"/>
          <p:cNvSpPr/>
          <p:nvPr/>
        </p:nvSpPr>
        <p:spPr>
          <a:xfrm>
            <a:off x="1643063" y="1906432"/>
            <a:ext cx="2890372" cy="342900"/>
          </a:xfrm>
          <a:prstGeom prst="rect">
            <a:avLst/>
          </a:prstGeom>
          <a:noFill/>
          <a:ln/>
        </p:spPr>
        <p:txBody>
          <a:bodyPr wrap="square" lIns="8509" tIns="59563" rIns="8509" bIns="8509" rtlCol="0" anchor="t">
            <a:spAutoFit/>
          </a:bodyPr>
          <a:lstStyle/>
          <a:p>
            <a:pPr algn="l" indent="0" marL="0">
              <a:lnSpc>
                <a:spcPct val="99200"/>
              </a:lnSpc>
              <a:buNone/>
            </a:pPr>
            <a:r>
              <a:rPr lang="en-US" sz="650" dirty="0">
                <a:solidFill>
                  <a:srgbClr val="4B5F73"/>
                </a:solidFill>
                <a:latin typeface="Inter" pitchFamily="34" charset="0"/>
                <a:ea typeface="Inter" pitchFamily="34" charset="-122"/>
                <a:cs typeface="Inter" pitchFamily="34" charset="-120"/>
              </a:rPr>
              <a:t>供应链合同、质量文件、认证材料、审计证据高度文档化。</a:t>
            </a:r>
            <a:endParaRPr lang="en-US" sz="650" dirty="0"/>
          </a:p>
        </p:txBody>
      </p:sp>
      <p:sp>
        <p:nvSpPr>
          <p:cNvPr id="13" name="Text 10"/>
          <p:cNvSpPr/>
          <p:nvPr/>
        </p:nvSpPr>
        <p:spPr>
          <a:xfrm>
            <a:off x="4533435" y="1906432"/>
            <a:ext cx="1952504" cy="342900"/>
          </a:xfrm>
          <a:prstGeom prst="rect">
            <a:avLst/>
          </a:prstGeom>
          <a:noFill/>
          <a:ln/>
        </p:spPr>
        <p:txBody>
          <a:bodyPr wrap="square" lIns="8509" tIns="59563" rIns="8509" bIns="8509" rtlCol="0" anchor="t">
            <a:spAutoFit/>
          </a:bodyPr>
          <a:lstStyle/>
          <a:p>
            <a:pPr algn="l" indent="0" marL="0">
              <a:lnSpc>
                <a:spcPct val="99200"/>
              </a:lnSpc>
              <a:buNone/>
            </a:pPr>
            <a:r>
              <a:rPr lang="en-US" sz="650" dirty="0">
                <a:solidFill>
                  <a:srgbClr val="4B5F73"/>
                </a:solidFill>
                <a:latin typeface="Inter" pitchFamily="34" charset="0"/>
                <a:ea typeface="Inter" pitchFamily="34" charset="-122"/>
                <a:cs typeface="Inter" pitchFamily="34" charset="-120"/>
              </a:rPr>
              <a:t>Claude Enterprise、Files、Projects、Skills。</a:t>
            </a:r>
            <a:endParaRPr lang="en-US" sz="650" dirty="0"/>
          </a:p>
        </p:txBody>
      </p:sp>
      <p:sp>
        <p:nvSpPr>
          <p:cNvPr id="14" name="Text 11"/>
          <p:cNvSpPr/>
          <p:nvPr/>
        </p:nvSpPr>
        <p:spPr>
          <a:xfrm>
            <a:off x="6485939" y="1906432"/>
            <a:ext cx="2229436" cy="342900"/>
          </a:xfrm>
          <a:prstGeom prst="rect">
            <a:avLst/>
          </a:prstGeom>
          <a:noFill/>
          <a:ln/>
        </p:spPr>
        <p:txBody>
          <a:bodyPr wrap="square" lIns="8509" tIns="59563" rIns="8509" bIns="8509" rtlCol="0" anchor="t">
            <a:spAutoFit/>
          </a:bodyPr>
          <a:lstStyle/>
          <a:p>
            <a:pPr algn="l" indent="0" marL="0">
              <a:lnSpc>
                <a:spcPct val="99200"/>
              </a:lnSpc>
              <a:buNone/>
            </a:pPr>
            <a:r>
              <a:rPr lang="en-US" sz="650" dirty="0">
                <a:solidFill>
                  <a:srgbClr val="4B5F73"/>
                </a:solidFill>
                <a:latin typeface="Inter" pitchFamily="34" charset="0"/>
                <a:ea typeface="Inter" pitchFamily="34" charset="-122"/>
                <a:cs typeface="Inter" pitchFamily="34" charset="-120"/>
              </a:rPr>
              <a:t>需要人工复核与权限隔离，不能直接替代合规判断。</a:t>
            </a:r>
            <a:endParaRPr lang="en-US" sz="650" dirty="0"/>
          </a:p>
        </p:txBody>
      </p:sp>
      <p:sp>
        <p:nvSpPr>
          <p:cNvPr id="15" name="Text 12"/>
          <p:cNvSpPr/>
          <p:nvPr/>
        </p:nvSpPr>
        <p:spPr>
          <a:xfrm>
            <a:off x="428625" y="2249332"/>
            <a:ext cx="1214438" cy="342900"/>
          </a:xfrm>
          <a:prstGeom prst="rect">
            <a:avLst/>
          </a:prstGeom>
          <a:noFill/>
          <a:ln/>
        </p:spPr>
        <p:txBody>
          <a:bodyPr wrap="square" lIns="8509" tIns="59563" rIns="8509" bIns="8509" rtlCol="0" anchor="t">
            <a:spAutoFit/>
          </a:bodyPr>
          <a:lstStyle/>
          <a:p>
            <a:pPr algn="l" indent="0" marL="0">
              <a:lnSpc>
                <a:spcPct val="99200"/>
              </a:lnSpc>
              <a:buNone/>
            </a:pPr>
            <a:r>
              <a:rPr lang="en-US" sz="600" b="1" dirty="0">
                <a:solidFill>
                  <a:srgbClr val="102033"/>
                </a:solidFill>
                <a:latin typeface="Inter ExtraBold" pitchFamily="34" charset="0"/>
                <a:ea typeface="Inter ExtraBold" pitchFamily="34" charset="-122"/>
                <a:cs typeface="Inter ExtraBold" pitchFamily="34" charset="-120"/>
              </a:rPr>
              <a:t>客户支持与运营</a:t>
            </a:r>
            <a:endParaRPr lang="en-US" sz="600" dirty="0"/>
          </a:p>
        </p:txBody>
      </p:sp>
      <p:sp>
        <p:nvSpPr>
          <p:cNvPr id="16" name="Text 13"/>
          <p:cNvSpPr/>
          <p:nvPr/>
        </p:nvSpPr>
        <p:spPr>
          <a:xfrm>
            <a:off x="1643063" y="2249332"/>
            <a:ext cx="2890372" cy="342900"/>
          </a:xfrm>
          <a:prstGeom prst="rect">
            <a:avLst/>
          </a:prstGeom>
          <a:noFill/>
          <a:ln/>
        </p:spPr>
        <p:txBody>
          <a:bodyPr wrap="square" lIns="8509" tIns="59563" rIns="8509" bIns="8509" rtlCol="0" anchor="t">
            <a:spAutoFit/>
          </a:bodyPr>
          <a:lstStyle/>
          <a:p>
            <a:pPr algn="l" indent="0" marL="0">
              <a:lnSpc>
                <a:spcPct val="99200"/>
              </a:lnSpc>
              <a:buNone/>
            </a:pPr>
            <a:r>
              <a:rPr lang="en-US" sz="650" dirty="0">
                <a:solidFill>
                  <a:srgbClr val="4B5F73"/>
                </a:solidFill>
                <a:latin typeface="Inter" pitchFamily="34" charset="0"/>
                <a:ea typeface="Inter" pitchFamily="34" charset="-122"/>
                <a:cs typeface="Inter" pitchFamily="34" charset="-120"/>
              </a:rPr>
              <a:t>物流异常、交付延误、售后问题都需要跨文档解释和沟通。</a:t>
            </a:r>
            <a:endParaRPr lang="en-US" sz="650" dirty="0"/>
          </a:p>
        </p:txBody>
      </p:sp>
      <p:sp>
        <p:nvSpPr>
          <p:cNvPr id="17" name="Text 14"/>
          <p:cNvSpPr/>
          <p:nvPr/>
        </p:nvSpPr>
        <p:spPr>
          <a:xfrm>
            <a:off x="4533435" y="2249332"/>
            <a:ext cx="1952504" cy="342900"/>
          </a:xfrm>
          <a:prstGeom prst="rect">
            <a:avLst/>
          </a:prstGeom>
          <a:noFill/>
          <a:ln/>
        </p:spPr>
        <p:txBody>
          <a:bodyPr wrap="square" lIns="8509" tIns="59563" rIns="8509" bIns="8509" rtlCol="0" anchor="t">
            <a:spAutoFit/>
          </a:bodyPr>
          <a:lstStyle/>
          <a:p>
            <a:pPr algn="l" indent="0" marL="0">
              <a:lnSpc>
                <a:spcPct val="99200"/>
              </a:lnSpc>
              <a:buNone/>
            </a:pPr>
            <a:r>
              <a:rPr lang="en-US" sz="650" dirty="0">
                <a:solidFill>
                  <a:srgbClr val="4B5F73"/>
                </a:solidFill>
                <a:latin typeface="Inter" pitchFamily="34" charset="0"/>
                <a:ea typeface="Inter" pitchFamily="34" charset="-122"/>
                <a:cs typeface="Inter" pitchFamily="34" charset="-120"/>
              </a:rPr>
              <a:t>Cowork、Enterprise、Connectors。</a:t>
            </a:r>
            <a:endParaRPr lang="en-US" sz="650" dirty="0"/>
          </a:p>
        </p:txBody>
      </p:sp>
      <p:sp>
        <p:nvSpPr>
          <p:cNvPr id="18" name="Text 15"/>
          <p:cNvSpPr/>
          <p:nvPr/>
        </p:nvSpPr>
        <p:spPr>
          <a:xfrm>
            <a:off x="6485939" y="2249332"/>
            <a:ext cx="2229436" cy="342900"/>
          </a:xfrm>
          <a:prstGeom prst="rect">
            <a:avLst/>
          </a:prstGeom>
          <a:noFill/>
          <a:ln/>
        </p:spPr>
        <p:txBody>
          <a:bodyPr wrap="square" lIns="8509" tIns="59563" rIns="8509" bIns="8509" rtlCol="0" anchor="t">
            <a:spAutoFit/>
          </a:bodyPr>
          <a:lstStyle/>
          <a:p>
            <a:pPr algn="l" indent="0" marL="0">
              <a:lnSpc>
                <a:spcPct val="99200"/>
              </a:lnSpc>
              <a:buNone/>
            </a:pPr>
            <a:r>
              <a:rPr lang="en-US" sz="650" dirty="0">
                <a:solidFill>
                  <a:srgbClr val="4B5F73"/>
                </a:solidFill>
                <a:latin typeface="Inter" pitchFamily="34" charset="0"/>
                <a:ea typeface="Inter" pitchFamily="34" charset="-122"/>
                <a:cs typeface="Inter" pitchFamily="34" charset="-120"/>
              </a:rPr>
              <a:t>外发沟通和赔付决策需人类确认。</a:t>
            </a:r>
            <a:endParaRPr lang="en-US" sz="650" dirty="0"/>
          </a:p>
        </p:txBody>
      </p:sp>
      <p:sp>
        <p:nvSpPr>
          <p:cNvPr id="19" name="Text 16"/>
          <p:cNvSpPr/>
          <p:nvPr/>
        </p:nvSpPr>
        <p:spPr>
          <a:xfrm>
            <a:off x="428625" y="2592232"/>
            <a:ext cx="1214438" cy="342900"/>
          </a:xfrm>
          <a:prstGeom prst="rect">
            <a:avLst/>
          </a:prstGeom>
          <a:noFill/>
          <a:ln/>
        </p:spPr>
        <p:txBody>
          <a:bodyPr wrap="square" lIns="8509" tIns="59563" rIns="8509" bIns="8509" rtlCol="0" anchor="t">
            <a:spAutoFit/>
          </a:bodyPr>
          <a:lstStyle/>
          <a:p>
            <a:pPr algn="l" indent="0" marL="0">
              <a:lnSpc>
                <a:spcPct val="99200"/>
              </a:lnSpc>
              <a:buNone/>
            </a:pPr>
            <a:r>
              <a:rPr lang="en-US" sz="600" b="1" dirty="0">
                <a:solidFill>
                  <a:srgbClr val="102033"/>
                </a:solidFill>
                <a:latin typeface="Inter ExtraBold" pitchFamily="34" charset="0"/>
                <a:ea typeface="Inter ExtraBold" pitchFamily="34" charset="-122"/>
                <a:cs typeface="Inter ExtraBold" pitchFamily="34" charset="-120"/>
              </a:rPr>
              <a:t>软件工程现代化</a:t>
            </a:r>
            <a:endParaRPr lang="en-US" sz="600" dirty="0"/>
          </a:p>
        </p:txBody>
      </p:sp>
      <p:sp>
        <p:nvSpPr>
          <p:cNvPr id="20" name="Text 17"/>
          <p:cNvSpPr/>
          <p:nvPr/>
        </p:nvSpPr>
        <p:spPr>
          <a:xfrm>
            <a:off x="1643063" y="2592232"/>
            <a:ext cx="2890372" cy="342900"/>
          </a:xfrm>
          <a:prstGeom prst="rect">
            <a:avLst/>
          </a:prstGeom>
          <a:noFill/>
          <a:ln/>
        </p:spPr>
        <p:txBody>
          <a:bodyPr wrap="square" lIns="8509" tIns="59563" rIns="8509" bIns="8509" rtlCol="0" anchor="t">
            <a:spAutoFit/>
          </a:bodyPr>
          <a:lstStyle/>
          <a:p>
            <a:pPr algn="l" indent="0" marL="0">
              <a:lnSpc>
                <a:spcPct val="99200"/>
              </a:lnSpc>
              <a:buNone/>
            </a:pPr>
            <a:r>
              <a:rPr lang="en-US" sz="650" dirty="0">
                <a:solidFill>
                  <a:srgbClr val="4B5F73"/>
                </a:solidFill>
                <a:latin typeface="Inter" pitchFamily="34" charset="0"/>
                <a:ea typeface="Inter" pitchFamily="34" charset="-122"/>
                <a:cs typeface="Inter" pitchFamily="34" charset="-120"/>
              </a:rPr>
              <a:t>供应链企业通常有大量 ERP、WMS、TMS、EDI 接口和遗留系统。</a:t>
            </a:r>
            <a:endParaRPr lang="en-US" sz="650" dirty="0"/>
          </a:p>
        </p:txBody>
      </p:sp>
      <p:sp>
        <p:nvSpPr>
          <p:cNvPr id="21" name="Text 18"/>
          <p:cNvSpPr/>
          <p:nvPr/>
        </p:nvSpPr>
        <p:spPr>
          <a:xfrm>
            <a:off x="4533435" y="2592232"/>
            <a:ext cx="1952504" cy="342900"/>
          </a:xfrm>
          <a:prstGeom prst="rect">
            <a:avLst/>
          </a:prstGeom>
          <a:noFill/>
          <a:ln/>
        </p:spPr>
        <p:txBody>
          <a:bodyPr wrap="square" lIns="8509" tIns="59563" rIns="8509" bIns="8509" rtlCol="0" anchor="t">
            <a:spAutoFit/>
          </a:bodyPr>
          <a:lstStyle/>
          <a:p>
            <a:pPr algn="l" indent="0" marL="0">
              <a:lnSpc>
                <a:spcPct val="99200"/>
              </a:lnSpc>
              <a:buNone/>
            </a:pPr>
            <a:r>
              <a:rPr lang="en-US" sz="650" dirty="0">
                <a:solidFill>
                  <a:srgbClr val="4B5F73"/>
                </a:solidFill>
                <a:latin typeface="Inter" pitchFamily="34" charset="0"/>
                <a:ea typeface="Inter" pitchFamily="34" charset="-122"/>
                <a:cs typeface="Inter" pitchFamily="34" charset="-120"/>
              </a:rPr>
              <a:t>Claude Code、Claude Platform。</a:t>
            </a:r>
            <a:endParaRPr lang="en-US" sz="650" dirty="0"/>
          </a:p>
        </p:txBody>
      </p:sp>
      <p:sp>
        <p:nvSpPr>
          <p:cNvPr id="22" name="Text 19"/>
          <p:cNvSpPr/>
          <p:nvPr/>
        </p:nvSpPr>
        <p:spPr>
          <a:xfrm>
            <a:off x="6485939" y="2592232"/>
            <a:ext cx="2229436" cy="342900"/>
          </a:xfrm>
          <a:prstGeom prst="rect">
            <a:avLst/>
          </a:prstGeom>
          <a:noFill/>
          <a:ln/>
        </p:spPr>
        <p:txBody>
          <a:bodyPr wrap="square" lIns="8509" tIns="59563" rIns="8509" bIns="8509" rtlCol="0" anchor="t">
            <a:spAutoFit/>
          </a:bodyPr>
          <a:lstStyle/>
          <a:p>
            <a:pPr algn="l" indent="0" marL="0">
              <a:lnSpc>
                <a:spcPct val="99200"/>
              </a:lnSpc>
              <a:buNone/>
            </a:pPr>
            <a:r>
              <a:rPr lang="en-US" sz="650" dirty="0">
                <a:solidFill>
                  <a:srgbClr val="4B5F73"/>
                </a:solidFill>
                <a:latin typeface="Inter" pitchFamily="34" charset="0"/>
                <a:ea typeface="Inter" pitchFamily="34" charset="-122"/>
                <a:cs typeface="Inter" pitchFamily="34" charset="-120"/>
              </a:rPr>
              <a:t>需接入代码库、测试环境与安全审批。</a:t>
            </a:r>
            <a:endParaRPr lang="en-US" sz="650" dirty="0"/>
          </a:p>
        </p:txBody>
      </p:sp>
      <p:sp>
        <p:nvSpPr>
          <p:cNvPr id="23" name="Text 20"/>
          <p:cNvSpPr/>
          <p:nvPr/>
        </p:nvSpPr>
        <p:spPr>
          <a:xfrm>
            <a:off x="428625" y="2935132"/>
            <a:ext cx="1214438" cy="342900"/>
          </a:xfrm>
          <a:prstGeom prst="rect">
            <a:avLst/>
          </a:prstGeom>
          <a:noFill/>
          <a:ln/>
        </p:spPr>
        <p:txBody>
          <a:bodyPr wrap="square" lIns="8509" tIns="59563" rIns="8509" bIns="8509" rtlCol="0" anchor="t">
            <a:spAutoFit/>
          </a:bodyPr>
          <a:lstStyle/>
          <a:p>
            <a:pPr algn="l" indent="0" marL="0">
              <a:lnSpc>
                <a:spcPct val="99200"/>
              </a:lnSpc>
              <a:buNone/>
            </a:pPr>
            <a:r>
              <a:rPr lang="en-US" sz="600" b="1" dirty="0">
                <a:solidFill>
                  <a:srgbClr val="102033"/>
                </a:solidFill>
                <a:latin typeface="Inter ExtraBold" pitchFamily="34" charset="0"/>
                <a:ea typeface="Inter ExtraBold" pitchFamily="34" charset="-122"/>
                <a:cs typeface="Inter ExtraBold" pitchFamily="34" charset="-120"/>
              </a:rPr>
              <a:t>数据报告与分析解释</a:t>
            </a:r>
            <a:endParaRPr lang="en-US" sz="600" dirty="0"/>
          </a:p>
        </p:txBody>
      </p:sp>
      <p:sp>
        <p:nvSpPr>
          <p:cNvPr id="24" name="Text 21"/>
          <p:cNvSpPr/>
          <p:nvPr/>
        </p:nvSpPr>
        <p:spPr>
          <a:xfrm>
            <a:off x="1643063" y="2935132"/>
            <a:ext cx="2890372" cy="342900"/>
          </a:xfrm>
          <a:prstGeom prst="rect">
            <a:avLst/>
          </a:prstGeom>
          <a:noFill/>
          <a:ln/>
        </p:spPr>
        <p:txBody>
          <a:bodyPr wrap="square" lIns="8509" tIns="59563" rIns="8509" bIns="8509" rtlCol="0" anchor="t">
            <a:spAutoFit/>
          </a:bodyPr>
          <a:lstStyle/>
          <a:p>
            <a:pPr algn="l" indent="0" marL="0">
              <a:lnSpc>
                <a:spcPct val="99200"/>
              </a:lnSpc>
              <a:buNone/>
            </a:pPr>
            <a:r>
              <a:rPr lang="en-US" sz="650" dirty="0">
                <a:solidFill>
                  <a:srgbClr val="4B5F73"/>
                </a:solidFill>
                <a:latin typeface="Inter" pitchFamily="34" charset="0"/>
                <a:ea typeface="Inter" pitchFamily="34" charset="-122"/>
                <a:cs typeface="Inter" pitchFamily="34" charset="-120"/>
              </a:rPr>
              <a:t>库存、需求、采购和运输数据需要生成解释性报告。</a:t>
            </a:r>
            <a:endParaRPr lang="en-US" sz="650" dirty="0"/>
          </a:p>
        </p:txBody>
      </p:sp>
      <p:sp>
        <p:nvSpPr>
          <p:cNvPr id="25" name="Text 22"/>
          <p:cNvSpPr/>
          <p:nvPr/>
        </p:nvSpPr>
        <p:spPr>
          <a:xfrm>
            <a:off x="4533435" y="2935132"/>
            <a:ext cx="1952504" cy="342900"/>
          </a:xfrm>
          <a:prstGeom prst="rect">
            <a:avLst/>
          </a:prstGeom>
          <a:noFill/>
          <a:ln/>
        </p:spPr>
        <p:txBody>
          <a:bodyPr wrap="square" lIns="8509" tIns="59563" rIns="8509" bIns="8509" rtlCol="0" anchor="t">
            <a:spAutoFit/>
          </a:bodyPr>
          <a:lstStyle/>
          <a:p>
            <a:pPr algn="l" indent="0" marL="0">
              <a:lnSpc>
                <a:spcPct val="99200"/>
              </a:lnSpc>
              <a:buNone/>
            </a:pPr>
            <a:r>
              <a:rPr lang="en-US" sz="650" dirty="0">
                <a:solidFill>
                  <a:srgbClr val="4B5F73"/>
                </a:solidFill>
                <a:latin typeface="Inter" pitchFamily="34" charset="0"/>
                <a:ea typeface="Inter" pitchFamily="34" charset="-122"/>
                <a:cs typeface="Inter" pitchFamily="34" charset="-120"/>
              </a:rPr>
              <a:t>Platform、Batch、Files、Tool Use。</a:t>
            </a:r>
            <a:endParaRPr lang="en-US" sz="650" dirty="0"/>
          </a:p>
        </p:txBody>
      </p:sp>
      <p:sp>
        <p:nvSpPr>
          <p:cNvPr id="26" name="Text 23"/>
          <p:cNvSpPr/>
          <p:nvPr/>
        </p:nvSpPr>
        <p:spPr>
          <a:xfrm>
            <a:off x="6485939" y="2935132"/>
            <a:ext cx="2229436" cy="342900"/>
          </a:xfrm>
          <a:prstGeom prst="rect">
            <a:avLst/>
          </a:prstGeom>
          <a:noFill/>
          <a:ln/>
        </p:spPr>
        <p:txBody>
          <a:bodyPr wrap="square" lIns="8509" tIns="59563" rIns="8509" bIns="8509" rtlCol="0" anchor="t">
            <a:spAutoFit/>
          </a:bodyPr>
          <a:lstStyle/>
          <a:p>
            <a:pPr algn="l" indent="0" marL="0">
              <a:lnSpc>
                <a:spcPct val="99200"/>
              </a:lnSpc>
              <a:buNone/>
            </a:pPr>
            <a:r>
              <a:rPr lang="en-US" sz="650" dirty="0">
                <a:solidFill>
                  <a:srgbClr val="4B5F73"/>
                </a:solidFill>
                <a:latin typeface="Inter" pitchFamily="34" charset="0"/>
                <a:ea typeface="Inter" pitchFamily="34" charset="-122"/>
                <a:cs typeface="Inter" pitchFamily="34" charset="-120"/>
              </a:rPr>
              <a:t>模型是解释层，不应替代核心预测与优化算法。</a:t>
            </a:r>
            <a:endParaRPr lang="en-US" sz="650" dirty="0"/>
          </a:p>
        </p:txBody>
      </p:sp>
      <p:sp>
        <p:nvSpPr>
          <p:cNvPr id="27" name="Text 24"/>
          <p:cNvSpPr/>
          <p:nvPr/>
        </p:nvSpPr>
        <p:spPr>
          <a:xfrm>
            <a:off x="428625" y="3278032"/>
            <a:ext cx="1214438" cy="342900"/>
          </a:xfrm>
          <a:prstGeom prst="rect">
            <a:avLst/>
          </a:prstGeom>
          <a:noFill/>
          <a:ln/>
        </p:spPr>
        <p:txBody>
          <a:bodyPr wrap="square" lIns="8509" tIns="59563" rIns="8509" bIns="8509" rtlCol="0" anchor="t">
            <a:spAutoFit/>
          </a:bodyPr>
          <a:lstStyle/>
          <a:p>
            <a:pPr algn="l" indent="0" marL="0">
              <a:lnSpc>
                <a:spcPct val="99200"/>
              </a:lnSpc>
              <a:buNone/>
            </a:pPr>
            <a:r>
              <a:rPr lang="en-US" sz="600" b="1" dirty="0">
                <a:solidFill>
                  <a:srgbClr val="102033"/>
                </a:solidFill>
                <a:latin typeface="Inter ExtraBold" pitchFamily="34" charset="0"/>
                <a:ea typeface="Inter ExtraBold" pitchFamily="34" charset="-122"/>
                <a:cs typeface="Inter ExtraBold" pitchFamily="34" charset="-120"/>
              </a:rPr>
              <a:t>安全运营</a:t>
            </a:r>
            <a:endParaRPr lang="en-US" sz="600" dirty="0"/>
          </a:p>
        </p:txBody>
      </p:sp>
      <p:sp>
        <p:nvSpPr>
          <p:cNvPr id="28" name="Text 25"/>
          <p:cNvSpPr/>
          <p:nvPr/>
        </p:nvSpPr>
        <p:spPr>
          <a:xfrm>
            <a:off x="1643063" y="3278032"/>
            <a:ext cx="2890372" cy="342900"/>
          </a:xfrm>
          <a:prstGeom prst="rect">
            <a:avLst/>
          </a:prstGeom>
          <a:noFill/>
          <a:ln/>
        </p:spPr>
        <p:txBody>
          <a:bodyPr wrap="square" lIns="8509" tIns="59563" rIns="8509" bIns="8509" rtlCol="0" anchor="t">
            <a:spAutoFit/>
          </a:bodyPr>
          <a:lstStyle/>
          <a:p>
            <a:pPr algn="l" indent="0" marL="0">
              <a:lnSpc>
                <a:spcPct val="99200"/>
              </a:lnSpc>
              <a:buNone/>
            </a:pPr>
            <a:r>
              <a:rPr lang="en-US" sz="650" dirty="0">
                <a:solidFill>
                  <a:srgbClr val="4B5F73"/>
                </a:solidFill>
                <a:latin typeface="Inter" pitchFamily="34" charset="0"/>
                <a:ea typeface="Inter" pitchFamily="34" charset="-122"/>
                <a:cs typeface="Inter" pitchFamily="34" charset="-120"/>
              </a:rPr>
              <a:t>供应链数字化扩大攻击面，第三方系统与接口风险增加。</a:t>
            </a:r>
            <a:endParaRPr lang="en-US" sz="650" dirty="0"/>
          </a:p>
        </p:txBody>
      </p:sp>
      <p:sp>
        <p:nvSpPr>
          <p:cNvPr id="29" name="Text 26"/>
          <p:cNvSpPr/>
          <p:nvPr/>
        </p:nvSpPr>
        <p:spPr>
          <a:xfrm>
            <a:off x="4533435" y="3278032"/>
            <a:ext cx="1952504" cy="342900"/>
          </a:xfrm>
          <a:prstGeom prst="rect">
            <a:avLst/>
          </a:prstGeom>
          <a:noFill/>
          <a:ln/>
        </p:spPr>
        <p:txBody>
          <a:bodyPr wrap="square" lIns="8509" tIns="59563" rIns="8509" bIns="8509" rtlCol="0" anchor="t">
            <a:spAutoFit/>
          </a:bodyPr>
          <a:lstStyle/>
          <a:p>
            <a:pPr algn="l" indent="0" marL="0">
              <a:lnSpc>
                <a:spcPct val="99200"/>
              </a:lnSpc>
              <a:buNone/>
            </a:pPr>
            <a:r>
              <a:rPr lang="en-US" sz="650" dirty="0">
                <a:solidFill>
                  <a:srgbClr val="4B5F73"/>
                </a:solidFill>
                <a:latin typeface="Inter" pitchFamily="34" charset="0"/>
                <a:ea typeface="Inter" pitchFamily="34" charset="-122"/>
                <a:cs typeface="Inter" pitchFamily="34" charset="-120"/>
              </a:rPr>
              <a:t>Claude Security、Platform。</a:t>
            </a:r>
            <a:endParaRPr lang="en-US" sz="650" dirty="0"/>
          </a:p>
        </p:txBody>
      </p:sp>
      <p:sp>
        <p:nvSpPr>
          <p:cNvPr id="30" name="Text 27"/>
          <p:cNvSpPr/>
          <p:nvPr/>
        </p:nvSpPr>
        <p:spPr>
          <a:xfrm>
            <a:off x="6485939" y="3278032"/>
            <a:ext cx="2229436" cy="342900"/>
          </a:xfrm>
          <a:prstGeom prst="rect">
            <a:avLst/>
          </a:prstGeom>
          <a:noFill/>
          <a:ln/>
        </p:spPr>
        <p:txBody>
          <a:bodyPr wrap="square" lIns="8509" tIns="59563" rIns="8509" bIns="8509" rtlCol="0" anchor="t">
            <a:spAutoFit/>
          </a:bodyPr>
          <a:lstStyle/>
          <a:p>
            <a:pPr algn="l" indent="0" marL="0">
              <a:lnSpc>
                <a:spcPct val="99200"/>
              </a:lnSpc>
              <a:buNone/>
            </a:pPr>
            <a:r>
              <a:rPr lang="en-US" sz="650" dirty="0">
                <a:solidFill>
                  <a:srgbClr val="4B5F73"/>
                </a:solidFill>
                <a:latin typeface="Inter" pitchFamily="34" charset="0"/>
                <a:ea typeface="Inter" pitchFamily="34" charset="-122"/>
                <a:cs typeface="Inter" pitchFamily="34" charset="-120"/>
              </a:rPr>
              <a:t>需与 SIEM、SOAR、漏洞管理系统集成。</a:t>
            </a:r>
            <a:endParaRPr lang="en-US" sz="650" dirty="0"/>
          </a:p>
        </p:txBody>
      </p:sp>
      <p:sp>
        <p:nvSpPr>
          <p:cNvPr id="31" name="Text 28"/>
          <p:cNvSpPr/>
          <p:nvPr/>
        </p:nvSpPr>
        <p:spPr>
          <a:xfrm>
            <a:off x="428625" y="3724517"/>
            <a:ext cx="8286750" cy="202118"/>
          </a:xfrm>
          <a:prstGeom prst="rect">
            <a:avLst/>
          </a:prstGeom>
          <a:noFill/>
          <a:ln/>
        </p:spPr>
        <p:txBody>
          <a:bodyPr wrap="square" lIns="0" tIns="85090" rIns="0" bIns="0" rtlCol="0" anchor="t">
            <a:spAutoFit/>
          </a:bodyPr>
          <a:lstStyle/>
          <a:p>
            <a:pPr algn="l" indent="0" marL="0">
              <a:lnSpc>
                <a:spcPct val="105600"/>
              </a:lnSpc>
              <a:buNone/>
            </a:pPr>
            <a:r>
              <a:rPr lang="en-US" sz="650" b="1" dirty="0">
                <a:solidFill>
                  <a:srgbClr val="0B8F5A"/>
                </a:solidFill>
                <a:latin typeface="Inter Bold" pitchFamily="34" charset="0"/>
                <a:ea typeface="Inter Bold" pitchFamily="34" charset="-122"/>
                <a:cs typeface="Inter Bold" pitchFamily="34" charset="-120"/>
              </a:rPr>
              <a:t>建议：</a:t>
            </a:r>
            <a:r>
              <a:rPr lang="en-US" sz="700" dirty="0">
                <a:solidFill>
                  <a:srgbClr val="4B5F73"/>
                </a:solidFill>
                <a:latin typeface="Inter" pitchFamily="34" charset="0"/>
                <a:ea typeface="Inter" pitchFamily="34" charset="-122"/>
                <a:cs typeface="Inter" pitchFamily="34" charset="-120"/>
              </a:rPr>
              <a:t>若为供应链企业评估 Anthropic，最稳妥的 POC 是“只读文档分析 + 只读系统查询 + 人工确认输出”，再逐步进入半自动化流程。</a:t>
            </a:r>
            <a:endParaRPr lang="en-US" sz="650" dirty="0"/>
          </a:p>
        </p:txBody>
      </p:sp>
      <p:sp>
        <p:nvSpPr>
          <p:cNvPr id="32" name="Text 29"/>
          <p:cNvSpPr/>
          <p:nvPr/>
        </p:nvSpPr>
        <p:spPr>
          <a:xfrm>
            <a:off x="428625" y="4012360"/>
            <a:ext cx="8286750" cy="132857"/>
          </a:xfrm>
          <a:prstGeom prst="rect">
            <a:avLst/>
          </a:prstGeom>
          <a:noFill/>
          <a:ln/>
        </p:spPr>
        <p:txBody>
          <a:bodyPr wrap="none" lIns="0" tIns="42545" rIns="0" bIns="0" rtlCol="0" anchor="t">
            <a:spAutoFit/>
          </a:bodyPr>
          <a:lstStyle/>
          <a:p>
            <a:pPr algn="l" indent="0" marL="0">
              <a:lnSpc>
                <a:spcPct val="96000"/>
              </a:lnSpc>
              <a:buNone/>
            </a:pPr>
            <a:r>
              <a:rPr lang="en-US" sz="550" dirty="0">
                <a:solidFill>
                  <a:srgbClr val="6B7A8A"/>
                </a:solidFill>
                <a:latin typeface="Inter" pitchFamily="34" charset="0"/>
                <a:ea typeface="Inter" pitchFamily="34" charset="-122"/>
                <a:cs typeface="Inter" pitchFamily="34" charset="-120"/>
              </a:rPr>
              <a:t>来源：Anthropic Customers；Claude Enterprise / Platform / Code / Cowork / Security official pages；未发现直接供应链案例的结论基于公开材料检索。</a:t>
            </a:r>
            <a:endParaRPr lang="en-US" sz="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385763"/>
            <a:ext cx="8286750" cy="98227"/>
          </a:xfrm>
          <a:prstGeom prst="rect">
            <a:avLst/>
          </a:prstGeom>
          <a:noFill/>
          <a:ln/>
        </p:spPr>
        <p:txBody>
          <a:bodyPr wrap="square" lIns="0" tIns="0" rIns="0" bIns="0" rtlCol="0" anchor="t">
            <a:spAutoFit/>
          </a:bodyPr>
          <a:lstStyle/>
          <a:p>
            <a:pPr algn="l" indent="0" marL="0">
              <a:buNone/>
            </a:pPr>
            <a:r>
              <a:rPr lang="en-US" sz="600" b="1" spc="2" kern="0" dirty="0">
                <a:solidFill>
                  <a:srgbClr val="0B8F5A"/>
                </a:solidFill>
                <a:latin typeface="Inter ExtraBold" pitchFamily="34" charset="0"/>
                <a:ea typeface="Inter ExtraBold" pitchFamily="34" charset="-122"/>
                <a:cs typeface="Inter ExtraBold" pitchFamily="34" charset="-120"/>
              </a:rPr>
              <a:t>CONCLUSION &amp; SOURCES</a:t>
            </a:r>
            <a:endParaRPr lang="en-US" sz="600" dirty="0"/>
          </a:p>
        </p:txBody>
      </p:sp>
      <p:sp>
        <p:nvSpPr>
          <p:cNvPr id="4" name="Text 1"/>
          <p:cNvSpPr/>
          <p:nvPr/>
        </p:nvSpPr>
        <p:spPr>
          <a:xfrm>
            <a:off x="428625" y="569714"/>
            <a:ext cx="8286750" cy="308604"/>
          </a:xfrm>
          <a:prstGeom prst="rect">
            <a:avLst/>
          </a:prstGeom>
          <a:noFill/>
          <a:ln/>
        </p:spPr>
        <p:txBody>
          <a:bodyPr wrap="none" lIns="0" tIns="0" rIns="0" bIns="0" rtlCol="0" anchor="t">
            <a:spAutoFit/>
          </a:bodyPr>
          <a:lstStyle/>
          <a:p>
            <a:pPr algn="l" indent="0" marL="0">
              <a:lnSpc>
                <a:spcPct val="86400"/>
              </a:lnSpc>
              <a:buNone/>
            </a:pPr>
            <a:r>
              <a:rPr lang="en-US" sz="2000" b="1" dirty="0">
                <a:solidFill>
                  <a:srgbClr val="102033"/>
                </a:solidFill>
                <a:latin typeface="Inter Bold" pitchFamily="34" charset="0"/>
                <a:ea typeface="Inter Bold" pitchFamily="34" charset="-122"/>
                <a:cs typeface="Inter Bold" pitchFamily="34" charset="-120"/>
              </a:rPr>
              <a:t>结论：Anthropic 正从模型公司转向企业 AI 平台</a:t>
            </a:r>
            <a:endParaRPr lang="en-US" sz="2000" dirty="0"/>
          </a:p>
        </p:txBody>
      </p:sp>
      <p:sp>
        <p:nvSpPr>
          <p:cNvPr id="5" name="Text 2"/>
          <p:cNvSpPr/>
          <p:nvPr/>
        </p:nvSpPr>
        <p:spPr>
          <a:xfrm>
            <a:off x="428625" y="1249793"/>
            <a:ext cx="3950494" cy="216098"/>
          </a:xfrm>
          <a:prstGeom prst="rect">
            <a:avLst/>
          </a:prstGeom>
          <a:noFill/>
          <a:ln/>
        </p:spPr>
        <p:txBody>
          <a:bodyPr wrap="square" lIns="0" tIns="0" rIns="0" bIns="0" rtlCol="0" anchor="t">
            <a:spAutoFit/>
          </a:bodyPr>
          <a:lstStyle/>
          <a:p>
            <a:pPr algn="l" indent="0" marL="0">
              <a:buNone/>
            </a:pPr>
            <a:r>
              <a:rPr lang="en-US" sz="1050" b="1" dirty="0">
                <a:solidFill>
                  <a:srgbClr val="1E63FF"/>
                </a:solidFill>
                <a:latin typeface="Inter Bold" pitchFamily="34" charset="0"/>
                <a:ea typeface="Inter Bold" pitchFamily="34" charset="-122"/>
                <a:cs typeface="Inter Bold" pitchFamily="34" charset="-120"/>
              </a:rPr>
              <a:t>1. 产品战略</a:t>
            </a:r>
            <a:endParaRPr lang="en-US" sz="1050" dirty="0"/>
          </a:p>
        </p:txBody>
      </p:sp>
      <p:sp>
        <p:nvSpPr>
          <p:cNvPr id="6" name="Text 3"/>
          <p:cNvSpPr/>
          <p:nvPr/>
        </p:nvSpPr>
        <p:spPr>
          <a:xfrm>
            <a:off x="428625" y="1523042"/>
            <a:ext cx="3950494" cy="272076"/>
          </a:xfrm>
          <a:prstGeom prst="rect">
            <a:avLst/>
          </a:prstGeom>
          <a:noFill/>
          <a:ln/>
        </p:spPr>
        <p:txBody>
          <a:bodyPr wrap="square" lIns="0" tIns="0" rIns="0" bIns="0" rtlCol="0" anchor="t">
            <a:spAutoFit/>
          </a:bodyPr>
          <a:lstStyle/>
          <a:p>
            <a:pPr algn="l" indent="0" marL="0">
              <a:lnSpc>
                <a:spcPct val="110400"/>
              </a:lnSpc>
              <a:buNone/>
            </a:pPr>
            <a:r>
              <a:rPr lang="en-US" sz="700" dirty="0">
                <a:solidFill>
                  <a:srgbClr val="4B5F73"/>
                </a:solidFill>
                <a:latin typeface="Inter" pitchFamily="34" charset="0"/>
                <a:ea typeface="Inter" pitchFamily="34" charset="-122"/>
                <a:cs typeface="Inter" pitchFamily="34" charset="-120"/>
              </a:rPr>
              <a:t>Anthropic 的核心不再只是 Claude 模型，而是围绕 Enterprise、Platform、Code、Cowork、Connectors、Skills 和云渠道构建企业产品体系。</a:t>
            </a:r>
            <a:endParaRPr lang="en-US" sz="700" dirty="0"/>
          </a:p>
        </p:txBody>
      </p:sp>
      <p:sp>
        <p:nvSpPr>
          <p:cNvPr id="7" name="Text 4"/>
          <p:cNvSpPr/>
          <p:nvPr/>
        </p:nvSpPr>
        <p:spPr>
          <a:xfrm>
            <a:off x="428625" y="2092756"/>
            <a:ext cx="3950494" cy="216098"/>
          </a:xfrm>
          <a:prstGeom prst="rect">
            <a:avLst/>
          </a:prstGeom>
          <a:noFill/>
          <a:ln/>
        </p:spPr>
        <p:txBody>
          <a:bodyPr wrap="square" lIns="0" tIns="0" rIns="0" bIns="0" rtlCol="0" anchor="t">
            <a:spAutoFit/>
          </a:bodyPr>
          <a:lstStyle/>
          <a:p>
            <a:pPr algn="l" indent="0" marL="0">
              <a:buNone/>
            </a:pPr>
            <a:r>
              <a:rPr lang="en-US" sz="1050" b="1" dirty="0">
                <a:solidFill>
                  <a:srgbClr val="1E63FF"/>
                </a:solidFill>
                <a:latin typeface="Inter Bold" pitchFamily="34" charset="0"/>
                <a:ea typeface="Inter Bold" pitchFamily="34" charset="-122"/>
                <a:cs typeface="Inter Bold" pitchFamily="34" charset="-120"/>
              </a:rPr>
              <a:t>2. To B 逻辑</a:t>
            </a:r>
            <a:endParaRPr lang="en-US" sz="1050" dirty="0"/>
          </a:p>
        </p:txBody>
      </p:sp>
      <p:sp>
        <p:nvSpPr>
          <p:cNvPr id="8" name="Text 5"/>
          <p:cNvSpPr/>
          <p:nvPr/>
        </p:nvSpPr>
        <p:spPr>
          <a:xfrm>
            <a:off x="428625" y="2366004"/>
            <a:ext cx="3950494" cy="272076"/>
          </a:xfrm>
          <a:prstGeom prst="rect">
            <a:avLst/>
          </a:prstGeom>
          <a:noFill/>
          <a:ln/>
        </p:spPr>
        <p:txBody>
          <a:bodyPr wrap="square" lIns="0" tIns="0" rIns="0" bIns="0" rtlCol="0" anchor="t">
            <a:spAutoFit/>
          </a:bodyPr>
          <a:lstStyle/>
          <a:p>
            <a:pPr algn="l" indent="0" marL="0">
              <a:lnSpc>
                <a:spcPct val="110400"/>
              </a:lnSpc>
              <a:buNone/>
            </a:pPr>
            <a:r>
              <a:rPr lang="en-US" sz="700" dirty="0">
                <a:solidFill>
                  <a:srgbClr val="4B5F73"/>
                </a:solidFill>
                <a:latin typeface="Inter" pitchFamily="34" charset="0"/>
                <a:ea typeface="Inter" pitchFamily="34" charset="-122"/>
                <a:cs typeface="Inter" pitchFamily="34" charset="-120"/>
              </a:rPr>
              <a:t>员工工作台与开发者平台并行推进，前者提升组织渗透率，后者推动行业方案、系统集成和智能体落地。</a:t>
            </a:r>
            <a:endParaRPr lang="en-US" sz="700" dirty="0"/>
          </a:p>
        </p:txBody>
      </p:sp>
      <p:sp>
        <p:nvSpPr>
          <p:cNvPr id="9" name="Text 6"/>
          <p:cNvSpPr/>
          <p:nvPr/>
        </p:nvSpPr>
        <p:spPr>
          <a:xfrm>
            <a:off x="428625" y="2935718"/>
            <a:ext cx="3950494" cy="216098"/>
          </a:xfrm>
          <a:prstGeom prst="rect">
            <a:avLst/>
          </a:prstGeom>
          <a:noFill/>
          <a:ln/>
        </p:spPr>
        <p:txBody>
          <a:bodyPr wrap="square" lIns="0" tIns="0" rIns="0" bIns="0" rtlCol="0" anchor="t">
            <a:spAutoFit/>
          </a:bodyPr>
          <a:lstStyle/>
          <a:p>
            <a:pPr algn="l" indent="0" marL="0">
              <a:buNone/>
            </a:pPr>
            <a:r>
              <a:rPr lang="en-US" sz="1050" b="1" dirty="0">
                <a:solidFill>
                  <a:srgbClr val="1E63FF"/>
                </a:solidFill>
                <a:latin typeface="Inter Bold" pitchFamily="34" charset="0"/>
                <a:ea typeface="Inter Bold" pitchFamily="34" charset="-122"/>
                <a:cs typeface="Inter Bold" pitchFamily="34" charset="-120"/>
              </a:rPr>
              <a:t>3. 供应链判断</a:t>
            </a:r>
            <a:endParaRPr lang="en-US" sz="1050" dirty="0"/>
          </a:p>
        </p:txBody>
      </p:sp>
      <p:sp>
        <p:nvSpPr>
          <p:cNvPr id="10" name="Text 7"/>
          <p:cNvSpPr/>
          <p:nvPr/>
        </p:nvSpPr>
        <p:spPr>
          <a:xfrm>
            <a:off x="428625" y="3208967"/>
            <a:ext cx="3950494" cy="272076"/>
          </a:xfrm>
          <a:prstGeom prst="rect">
            <a:avLst/>
          </a:prstGeom>
          <a:noFill/>
          <a:ln/>
        </p:spPr>
        <p:txBody>
          <a:bodyPr wrap="square" lIns="0" tIns="0" rIns="0" bIns="0" rtlCol="0" anchor="t">
            <a:spAutoFit/>
          </a:bodyPr>
          <a:lstStyle/>
          <a:p>
            <a:pPr algn="l" indent="0" marL="0">
              <a:lnSpc>
                <a:spcPct val="110400"/>
              </a:lnSpc>
              <a:buNone/>
            </a:pPr>
            <a:r>
              <a:rPr lang="en-US" sz="700" dirty="0">
                <a:solidFill>
                  <a:srgbClr val="4B5F73"/>
                </a:solidFill>
                <a:latin typeface="Inter" pitchFamily="34" charset="0"/>
                <a:ea typeface="Inter" pitchFamily="34" charset="-122"/>
                <a:cs typeface="Inter" pitchFamily="34" charset="-120"/>
              </a:rPr>
              <a:t>公开材料尚未发现供应链直接实施案例；但文档合规、采购研究、异常解释、IT 现代化和运营支持具备可迁移性。</a:t>
            </a:r>
            <a:endParaRPr lang="en-US" sz="700" dirty="0"/>
          </a:p>
        </p:txBody>
      </p:sp>
      <p:sp>
        <p:nvSpPr>
          <p:cNvPr id="11" name="Text 8"/>
          <p:cNvSpPr/>
          <p:nvPr/>
        </p:nvSpPr>
        <p:spPr>
          <a:xfrm>
            <a:off x="4764881" y="1156925"/>
            <a:ext cx="3950494" cy="233790"/>
          </a:xfrm>
          <a:prstGeom prst="rect">
            <a:avLst/>
          </a:prstGeom>
          <a:noFill/>
          <a:ln/>
        </p:spPr>
        <p:txBody>
          <a:bodyPr wrap="square" lIns="0" tIns="0" rIns="0" bIns="0" rtlCol="0" anchor="t">
            <a:spAutoFit/>
          </a:bodyPr>
          <a:lstStyle/>
          <a:p>
            <a:pPr algn="l" indent="0" marL="0">
              <a:lnSpc>
                <a:spcPct val="105600"/>
              </a:lnSpc>
              <a:buNone/>
            </a:pPr>
            <a:r>
              <a:rPr lang="en-US" sz="600" b="1" dirty="0">
                <a:solidFill>
                  <a:srgbClr val="0B8F5A"/>
                </a:solidFill>
                <a:latin typeface="Inter Bold" pitchFamily="34" charset="0"/>
                <a:ea typeface="Inter Bold" pitchFamily="34" charset="-122"/>
                <a:cs typeface="Inter Bold" pitchFamily="34" charset="-120"/>
              </a:rPr>
              <a:t>主要官方来源：</a:t>
            </a:r>
            <a:r>
              <a:rPr lang="en-US" sz="650" dirty="0">
                <a:solidFill>
                  <a:srgbClr val="4B5F73"/>
                </a:solidFill>
                <a:latin typeface="Inter" pitchFamily="34" charset="0"/>
                <a:ea typeface="Inter" pitchFamily="34" charset="-122"/>
                <a:cs typeface="Inter" pitchFamily="34" charset="-120"/>
              </a:rPr>
              <a:t>Anthropic Company、Mission、Governance、Research、Product、News、</a:t>
            </a:r>
            <a:r>
              <a:rPr lang="en-US" sz="650" dirty="0">
                <a:solidFill>
                  <a:srgbClr val="4B5F73"/>
                </a:solidFill>
                <a:latin typeface="Inter" pitchFamily="34" charset="0"/>
                <a:ea typeface="Inter" pitchFamily="34" charset="-122"/>
                <a:cs typeface="Inter" pitchFamily="34" charset="-120"/>
              </a:rPr>
              <a:t>Customers、Trust 与 Claude 产品页。</a:t>
            </a:r>
            <a:endParaRPr lang="en-US" sz="600" dirty="0"/>
          </a:p>
        </p:txBody>
      </p:sp>
      <p:sp>
        <p:nvSpPr>
          <p:cNvPr id="12" name="Text 9"/>
          <p:cNvSpPr/>
          <p:nvPr/>
        </p:nvSpPr>
        <p:spPr>
          <a:xfrm>
            <a:off x="4764881" y="1462153"/>
            <a:ext cx="3950494" cy="233790"/>
          </a:xfrm>
          <a:prstGeom prst="rect">
            <a:avLst/>
          </a:prstGeom>
          <a:noFill/>
          <a:ln/>
        </p:spPr>
        <p:txBody>
          <a:bodyPr wrap="square" lIns="0" tIns="0" rIns="0" bIns="0" rtlCol="0" anchor="t">
            <a:spAutoFit/>
          </a:bodyPr>
          <a:lstStyle/>
          <a:p>
            <a:pPr algn="l" indent="0" marL="0">
              <a:lnSpc>
                <a:spcPct val="105600"/>
              </a:lnSpc>
              <a:buNone/>
            </a:pPr>
            <a:r>
              <a:rPr lang="en-US" sz="600" b="1" dirty="0">
                <a:solidFill>
                  <a:srgbClr val="0B8F5A"/>
                </a:solidFill>
                <a:latin typeface="Inter Bold" pitchFamily="34" charset="0"/>
                <a:ea typeface="Inter Bold" pitchFamily="34" charset="-122"/>
                <a:cs typeface="Inter Bold" pitchFamily="34" charset="-120"/>
              </a:rPr>
              <a:t>产品来源：</a:t>
            </a:r>
            <a:r>
              <a:rPr lang="en-US" sz="650" dirty="0">
                <a:solidFill>
                  <a:srgbClr val="4B5F73"/>
                </a:solidFill>
                <a:latin typeface="Inter" pitchFamily="34" charset="0"/>
                <a:ea typeface="Inter" pitchFamily="34" charset="-122"/>
                <a:cs typeface="Inter" pitchFamily="34" charset="-120"/>
              </a:rPr>
              <a:t>Claude overview、Enterprise、Team、Pricing、Code、Code Enterprise、Cowork、</a:t>
            </a:r>
            <a:r>
              <a:rPr lang="en-US" sz="650" dirty="0">
                <a:solidFill>
                  <a:srgbClr val="4B5F73"/>
                </a:solidFill>
                <a:latin typeface="Inter" pitchFamily="34" charset="0"/>
                <a:ea typeface="Inter" pitchFamily="34" charset="-122"/>
                <a:cs typeface="Inter" pitchFamily="34" charset="-120"/>
              </a:rPr>
              <a:t>Security、Connectors、Skills、Chrome、Slack、Microsoft 365 页面。</a:t>
            </a:r>
            <a:endParaRPr lang="en-US" sz="600" dirty="0"/>
          </a:p>
        </p:txBody>
      </p:sp>
      <p:sp>
        <p:nvSpPr>
          <p:cNvPr id="13" name="Text 10"/>
          <p:cNvSpPr/>
          <p:nvPr/>
        </p:nvSpPr>
        <p:spPr>
          <a:xfrm>
            <a:off x="4764881" y="1767380"/>
            <a:ext cx="3950494" cy="233790"/>
          </a:xfrm>
          <a:prstGeom prst="rect">
            <a:avLst/>
          </a:prstGeom>
          <a:noFill/>
          <a:ln/>
        </p:spPr>
        <p:txBody>
          <a:bodyPr wrap="square" lIns="0" tIns="0" rIns="0" bIns="0" rtlCol="0" anchor="t">
            <a:spAutoFit/>
          </a:bodyPr>
          <a:lstStyle/>
          <a:p>
            <a:pPr algn="l" indent="0" marL="0">
              <a:lnSpc>
                <a:spcPct val="105600"/>
              </a:lnSpc>
              <a:buNone/>
            </a:pPr>
            <a:r>
              <a:rPr lang="en-US" sz="600" b="1" dirty="0">
                <a:solidFill>
                  <a:srgbClr val="0B8F5A"/>
                </a:solidFill>
                <a:latin typeface="Inter Bold" pitchFamily="34" charset="0"/>
                <a:ea typeface="Inter Bold" pitchFamily="34" charset="-122"/>
                <a:cs typeface="Inter Bold" pitchFamily="34" charset="-120"/>
              </a:rPr>
              <a:t>平台来源：</a:t>
            </a:r>
            <a:r>
              <a:rPr lang="en-US" sz="650" dirty="0">
                <a:solidFill>
                  <a:srgbClr val="4B5F73"/>
                </a:solidFill>
                <a:latin typeface="Inter" pitchFamily="34" charset="0"/>
                <a:ea typeface="Inter" pitchFamily="34" charset="-122"/>
                <a:cs typeface="Inter" pitchFamily="34" charset="-120"/>
              </a:rPr>
              <a:t>Anthropic API documentation，包括 Messages、Batches、Files、Tool Use、Agents、</a:t>
            </a:r>
            <a:r>
              <a:rPr lang="en-US" sz="650" dirty="0">
                <a:solidFill>
                  <a:srgbClr val="4B5F73"/>
                </a:solidFill>
                <a:latin typeface="Inter" pitchFamily="34" charset="0"/>
                <a:ea typeface="Inter" pitchFamily="34" charset="-122"/>
                <a:cs typeface="Inter" pitchFamily="34" charset="-120"/>
              </a:rPr>
              <a:t>Sessions、Environments、Console 与模型文档。</a:t>
            </a:r>
            <a:endParaRPr lang="en-US" sz="600" dirty="0"/>
          </a:p>
        </p:txBody>
      </p:sp>
      <p:sp>
        <p:nvSpPr>
          <p:cNvPr id="14" name="Text 11"/>
          <p:cNvSpPr/>
          <p:nvPr/>
        </p:nvSpPr>
        <p:spPr>
          <a:xfrm>
            <a:off x="4764881" y="2072608"/>
            <a:ext cx="3950494" cy="233790"/>
          </a:xfrm>
          <a:prstGeom prst="rect">
            <a:avLst/>
          </a:prstGeom>
          <a:noFill/>
          <a:ln/>
        </p:spPr>
        <p:txBody>
          <a:bodyPr wrap="square" lIns="0" tIns="0" rIns="0" bIns="0" rtlCol="0" anchor="t">
            <a:spAutoFit/>
          </a:bodyPr>
          <a:lstStyle/>
          <a:p>
            <a:pPr algn="l" indent="0" marL="0">
              <a:lnSpc>
                <a:spcPct val="105600"/>
              </a:lnSpc>
              <a:buNone/>
            </a:pPr>
            <a:r>
              <a:rPr lang="en-US" sz="600" b="1" dirty="0">
                <a:solidFill>
                  <a:srgbClr val="0B8F5A"/>
                </a:solidFill>
                <a:latin typeface="Inter Bold" pitchFamily="34" charset="0"/>
                <a:ea typeface="Inter Bold" pitchFamily="34" charset="-122"/>
                <a:cs typeface="Inter Bold" pitchFamily="34" charset="-120"/>
              </a:rPr>
              <a:t>商业来源：</a:t>
            </a:r>
            <a:r>
              <a:rPr lang="en-US" sz="650" dirty="0">
                <a:solidFill>
                  <a:srgbClr val="4B5F73"/>
                </a:solidFill>
                <a:latin typeface="Inter" pitchFamily="34" charset="0"/>
                <a:ea typeface="Inter" pitchFamily="34" charset="-122"/>
                <a:cs typeface="Inter" pitchFamily="34" charset="-120"/>
              </a:rPr>
              <a:t>Anthropic 融资新闻、Amazon/Google/Microsoft 云合作新闻、Claude cloud partner </a:t>
            </a:r>
            <a:r>
              <a:rPr lang="en-US" sz="650" dirty="0">
                <a:solidFill>
                  <a:srgbClr val="4B5F73"/>
                </a:solidFill>
                <a:latin typeface="Inter" pitchFamily="34" charset="0"/>
                <a:ea typeface="Inter" pitchFamily="34" charset="-122"/>
                <a:cs typeface="Inter" pitchFamily="34" charset="-120"/>
              </a:rPr>
              <a:t>pages、AWS/GCP/Microsoft 相关渠道页面。</a:t>
            </a:r>
            <a:endParaRPr lang="en-US" sz="600" dirty="0"/>
          </a:p>
        </p:txBody>
      </p:sp>
      <p:sp>
        <p:nvSpPr>
          <p:cNvPr id="15" name="Text 12"/>
          <p:cNvSpPr/>
          <p:nvPr/>
        </p:nvSpPr>
        <p:spPr>
          <a:xfrm>
            <a:off x="4764881" y="2377836"/>
            <a:ext cx="3950494" cy="233790"/>
          </a:xfrm>
          <a:prstGeom prst="rect">
            <a:avLst/>
          </a:prstGeom>
          <a:noFill/>
          <a:ln/>
        </p:spPr>
        <p:txBody>
          <a:bodyPr wrap="square" lIns="0" tIns="0" rIns="0" bIns="0" rtlCol="0" anchor="t">
            <a:spAutoFit/>
          </a:bodyPr>
          <a:lstStyle/>
          <a:p>
            <a:pPr algn="l" indent="0" marL="0">
              <a:lnSpc>
                <a:spcPct val="105600"/>
              </a:lnSpc>
              <a:buNone/>
            </a:pPr>
            <a:r>
              <a:rPr lang="en-US" sz="600" b="1" dirty="0">
                <a:solidFill>
                  <a:srgbClr val="0B8F5A"/>
                </a:solidFill>
                <a:latin typeface="Inter Bold" pitchFamily="34" charset="0"/>
                <a:ea typeface="Inter Bold" pitchFamily="34" charset="-122"/>
                <a:cs typeface="Inter Bold" pitchFamily="34" charset="-120"/>
              </a:rPr>
              <a:t>第三方来源：</a:t>
            </a:r>
            <a:r>
              <a:rPr lang="en-US" sz="650" dirty="0">
                <a:solidFill>
                  <a:srgbClr val="4B5F73"/>
                </a:solidFill>
                <a:latin typeface="Inter" pitchFamily="34" charset="0"/>
                <a:ea typeface="Inter" pitchFamily="34" charset="-122"/>
                <a:cs typeface="Inter" pitchFamily="34" charset="-120"/>
              </a:rPr>
              <a:t>CNBC Disruptor 50、投资方/媒体关于公司背景和创始团队的资料，仅用于交叉核验公</a:t>
            </a:r>
            <a:r>
              <a:rPr lang="en-US" sz="650" dirty="0">
                <a:solidFill>
                  <a:srgbClr val="4B5F73"/>
                </a:solidFill>
                <a:latin typeface="Inter" pitchFamily="34" charset="0"/>
                <a:ea typeface="Inter" pitchFamily="34" charset="-122"/>
                <a:cs typeface="Inter" pitchFamily="34" charset="-120"/>
              </a:rPr>
              <a:t>开事实。</a:t>
            </a:r>
            <a:endParaRPr lang="en-US" sz="600" dirty="0"/>
          </a:p>
        </p:txBody>
      </p:sp>
      <p:sp>
        <p:nvSpPr>
          <p:cNvPr id="16" name="Text 13"/>
          <p:cNvSpPr/>
          <p:nvPr/>
        </p:nvSpPr>
        <p:spPr>
          <a:xfrm>
            <a:off x="428625" y="3885837"/>
            <a:ext cx="8286750" cy="247157"/>
          </a:xfrm>
          <a:prstGeom prst="rect">
            <a:avLst/>
          </a:prstGeom>
          <a:noFill/>
          <a:ln/>
        </p:spPr>
        <p:txBody>
          <a:bodyPr wrap="square" lIns="0" tIns="119126" rIns="0" bIns="0" rtlCol="0" anchor="t">
            <a:spAutoFit/>
          </a:bodyPr>
          <a:lstStyle/>
          <a:p>
            <a:pPr algn="l" indent="0" marL="0">
              <a:lnSpc>
                <a:spcPct val="112000"/>
              </a:lnSpc>
              <a:buNone/>
            </a:pPr>
            <a:r>
              <a:rPr lang="en-US" sz="700" b="1" dirty="0">
                <a:solidFill>
                  <a:srgbClr val="0B8F5A"/>
                </a:solidFill>
                <a:latin typeface="Inter Bold" pitchFamily="34" charset="0"/>
                <a:ea typeface="Inter Bold" pitchFamily="34" charset="-122"/>
                <a:cs typeface="Inter Bold" pitchFamily="34" charset="-120"/>
              </a:rPr>
              <a:t>证据原则：</a:t>
            </a:r>
            <a:r>
              <a:rPr lang="en-US" sz="750" dirty="0">
                <a:solidFill>
                  <a:srgbClr val="4B5F73"/>
                </a:solidFill>
                <a:latin typeface="Inter" pitchFamily="34" charset="0"/>
                <a:ea typeface="Inter" pitchFamily="34" charset="-122"/>
                <a:cs typeface="Inter" pitchFamily="34" charset="-120"/>
              </a:rPr>
              <a:t>所有确定性表述均基于公开可核验资料；对未公开客户、真实收入、未披露组织结构和未披露供应链案例，不进行编造或确定性推断。</a:t>
            </a:r>
            <a:endParaRPr lang="en-US" sz="700" dirty="0"/>
          </a:p>
        </p:txBody>
      </p:sp>
      <p:sp>
        <p:nvSpPr>
          <p:cNvPr id="17" name="Text 14"/>
          <p:cNvSpPr/>
          <p:nvPr/>
        </p:nvSpPr>
        <p:spPr>
          <a:xfrm>
            <a:off x="428625" y="4275869"/>
            <a:ext cx="8286750" cy="146447"/>
          </a:xfrm>
          <a:prstGeom prst="rect">
            <a:avLst/>
          </a:prstGeom>
          <a:noFill/>
          <a:ln/>
        </p:spPr>
        <p:txBody>
          <a:bodyPr wrap="square" lIns="0" tIns="51054" rIns="0" bIns="0" rtlCol="0" anchor="t">
            <a:spAutoFit/>
          </a:bodyPr>
          <a:lstStyle/>
          <a:p>
            <a:pPr algn="l" indent="0" marL="0">
              <a:lnSpc>
                <a:spcPct val="100000"/>
              </a:lnSpc>
              <a:buNone/>
            </a:pPr>
            <a:r>
              <a:rPr lang="en-US" sz="550" dirty="0">
                <a:solidFill>
                  <a:srgbClr val="6B7A8A"/>
                </a:solidFill>
                <a:latin typeface="Inter" pitchFamily="34" charset="0"/>
                <a:ea typeface="Inter" pitchFamily="34" charset="-122"/>
                <a:cs typeface="Inter" pitchFamily="34" charset="-120"/>
              </a:rPr>
              <a:t>本 PPT 使用公开资料整理，适用于战略研究和产品分析，不构成投资或采购建议。</a:t>
            </a:r>
            <a:endParaRPr lang="en-US" sz="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2026-06-10T16:36:08Z</dcterms:created>
  <dcterms:modified xsi:type="dcterms:W3CDTF">2026-06-10T16:36:08Z</dcterms:modified>
</cp:coreProperties>
</file>